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73" r:id="rId4"/>
    <p:sldId id="258" r:id="rId5"/>
    <p:sldId id="262" r:id="rId6"/>
    <p:sldId id="263" r:id="rId7"/>
    <p:sldId id="264" r:id="rId8"/>
    <p:sldId id="265" r:id="rId9"/>
    <p:sldId id="272" r:id="rId10"/>
    <p:sldId id="266" r:id="rId11"/>
    <p:sldId id="267" r:id="rId12"/>
    <p:sldId id="268" r:id="rId13"/>
    <p:sldId id="269" r:id="rId14"/>
    <p:sldId id="271" r:id="rId15"/>
    <p:sldId id="270" r:id="rId16"/>
  </p:sldIdLst>
  <p:sldSz cx="18288000" cy="10287000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Canva Sans Bold" panose="020B0604020202020204" charset="0"/>
      <p:regular r:id="rId21"/>
    </p:embeddedFont>
    <p:embeddedFont>
      <p:font typeface="Mokoto" panose="020B0604020202020204" charset="0"/>
      <p:regular r:id="rId22"/>
    </p:embeddedFont>
    <p:embeddedFont>
      <p:font typeface="Sniglet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6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9.xml"/><Relationship Id="rId4" Type="http://schemas.openxmlformats.org/officeDocument/2006/relationships/image" Target="../media/image9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2.xml"/><Relationship Id="rId4" Type="http://schemas.openxmlformats.org/officeDocument/2006/relationships/image" Target="../media/image9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3.xml"/><Relationship Id="rId5" Type="http://schemas.openxmlformats.org/officeDocument/2006/relationships/hyperlink" Target="https://youtu.be/4KFCXEBQXVo" TargetMode="External"/><Relationship Id="rId4" Type="http://schemas.openxmlformats.org/officeDocument/2006/relationships/image" Target="../media/image9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49784" y="-2480424"/>
            <a:ext cx="10553945" cy="12955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3"/>
              </a:lnSpc>
            </a:pPr>
            <a:endParaRPr dirty="0"/>
          </a:p>
          <a:p>
            <a:pPr algn="ctr">
              <a:lnSpc>
                <a:spcPts val="4943"/>
              </a:lnSpc>
            </a:pPr>
            <a:endParaRPr dirty="0"/>
          </a:p>
          <a:p>
            <a:pPr algn="ctr">
              <a:lnSpc>
                <a:spcPts val="4943"/>
              </a:lnSpc>
            </a:pPr>
            <a:endParaRPr dirty="0"/>
          </a:p>
          <a:p>
            <a:pPr algn="ctr">
              <a:lnSpc>
                <a:spcPts val="4943"/>
              </a:lnSpc>
            </a:pPr>
            <a:endParaRPr dirty="0"/>
          </a:p>
          <a:p>
            <a:pPr algn="ctr">
              <a:lnSpc>
                <a:spcPts val="4943"/>
              </a:lnSpc>
            </a:pPr>
            <a:endParaRPr dirty="0"/>
          </a:p>
          <a:p>
            <a:pPr algn="ctr">
              <a:lnSpc>
                <a:spcPts val="4943"/>
              </a:lnSpc>
            </a:pPr>
            <a:r>
              <a:rPr lang="en-US" sz="2942" b="1" dirty="0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UNIVERSIDAD ESTATAL A DISTANCIA</a:t>
            </a:r>
          </a:p>
          <a:p>
            <a:pPr algn="ctr">
              <a:lnSpc>
                <a:spcPts val="4943"/>
              </a:lnSpc>
            </a:pPr>
            <a:r>
              <a:rPr lang="en-US" sz="2942" b="1" dirty="0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VICERRECTORÍA ACADÉMICA</a:t>
            </a:r>
          </a:p>
          <a:p>
            <a:pPr algn="ctr">
              <a:lnSpc>
                <a:spcPts val="4943"/>
              </a:lnSpc>
            </a:pPr>
            <a:r>
              <a:rPr lang="en-US" sz="2942" b="1" dirty="0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ESCUELA DE CIENCIAS EXACTAS Y NATURALES</a:t>
            </a:r>
          </a:p>
          <a:p>
            <a:pPr algn="ctr">
              <a:lnSpc>
                <a:spcPts val="4943"/>
              </a:lnSpc>
            </a:pPr>
            <a:r>
              <a:rPr lang="en-US" sz="2942" b="1" dirty="0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CÁTEDRA TIC E INGENIERÍA</a:t>
            </a:r>
          </a:p>
          <a:p>
            <a:pPr algn="ctr">
              <a:lnSpc>
                <a:spcPts val="4943"/>
              </a:lnSpc>
            </a:pPr>
            <a:r>
              <a:rPr lang="en-US" sz="2942" b="1" dirty="0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PROYECTO NO. 2</a:t>
            </a:r>
          </a:p>
          <a:p>
            <a:pPr algn="ctr">
              <a:lnSpc>
                <a:spcPts val="4943"/>
              </a:lnSpc>
            </a:pPr>
            <a:r>
              <a:rPr lang="en-US" sz="2942" b="1" dirty="0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03308</a:t>
            </a:r>
          </a:p>
          <a:p>
            <a:pPr algn="ctr">
              <a:lnSpc>
                <a:spcPts val="4943"/>
              </a:lnSpc>
            </a:pPr>
            <a:r>
              <a:rPr lang="en-US" sz="2942" b="1" dirty="0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SOPORTE TÉCNICO</a:t>
            </a:r>
          </a:p>
          <a:p>
            <a:pPr algn="ctr">
              <a:lnSpc>
                <a:spcPts val="4943"/>
              </a:lnSpc>
            </a:pPr>
            <a:r>
              <a:rPr lang="en-US" sz="2942" b="1" dirty="0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VALOR: 10 %</a:t>
            </a:r>
          </a:p>
          <a:p>
            <a:pPr algn="ctr">
              <a:lnSpc>
                <a:spcPts val="4943"/>
              </a:lnSpc>
            </a:pPr>
            <a:r>
              <a:rPr lang="en-US" sz="2942" b="1" dirty="0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ESTUDIANTE: FRANCISO CAMPOS SANDI</a:t>
            </a:r>
          </a:p>
          <a:p>
            <a:pPr algn="ctr">
              <a:lnSpc>
                <a:spcPts val="4943"/>
              </a:lnSpc>
            </a:pPr>
            <a:r>
              <a:rPr lang="en-US" sz="2942" b="1" dirty="0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IDENTIFICACIÓN: 114750560</a:t>
            </a:r>
          </a:p>
          <a:p>
            <a:pPr algn="ctr">
              <a:lnSpc>
                <a:spcPts val="4943"/>
              </a:lnSpc>
            </a:pPr>
            <a:r>
              <a:rPr lang="en-US" sz="2942" b="1" dirty="0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TUTOR: DAGOBERTO MATARRITA PORRAS</a:t>
            </a:r>
          </a:p>
          <a:p>
            <a:pPr algn="ctr">
              <a:lnSpc>
                <a:spcPts val="4943"/>
              </a:lnSpc>
            </a:pPr>
            <a:r>
              <a:rPr lang="en-US" sz="2942" b="1" dirty="0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GRUPO 02</a:t>
            </a:r>
          </a:p>
          <a:p>
            <a:pPr algn="ctr">
              <a:lnSpc>
                <a:spcPts val="4943"/>
              </a:lnSpc>
            </a:pPr>
            <a:r>
              <a:rPr lang="en-US" sz="2942" b="1" dirty="0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CENTRO UNIVERSITARIO:</a:t>
            </a:r>
          </a:p>
          <a:p>
            <a:pPr algn="ctr">
              <a:lnSpc>
                <a:spcPts val="4943"/>
              </a:lnSpc>
            </a:pPr>
            <a:r>
              <a:rPr lang="en-US" sz="2942" b="1" dirty="0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SAN VITO</a:t>
            </a:r>
          </a:p>
          <a:p>
            <a:pPr algn="ctr">
              <a:lnSpc>
                <a:spcPts val="4943"/>
              </a:lnSpc>
            </a:pPr>
            <a:r>
              <a:rPr lang="en-US" sz="2942" b="1" dirty="0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II CUATRIMESTRE, 2025</a:t>
            </a:r>
          </a:p>
          <a:p>
            <a:pPr marL="0" lvl="0" indent="0" algn="ctr">
              <a:lnSpc>
                <a:spcPts val="4943"/>
              </a:lnSpc>
            </a:pPr>
            <a:endParaRPr lang="en-US" sz="2942" b="1" dirty="0">
              <a:solidFill>
                <a:srgbClr val="05061C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4353643" y="515835"/>
            <a:ext cx="906539" cy="1173168"/>
          </a:xfrm>
          <a:custGeom>
            <a:avLst/>
            <a:gdLst/>
            <a:ahLst/>
            <a:cxnLst/>
            <a:rect l="l" t="t" r="r" b="b"/>
            <a:pathLst>
              <a:path w="906539" h="1173168">
                <a:moveTo>
                  <a:pt x="0" y="0"/>
                </a:moveTo>
                <a:lnTo>
                  <a:pt x="906539" y="0"/>
                </a:lnTo>
                <a:lnTo>
                  <a:pt x="906539" y="1173168"/>
                </a:lnTo>
                <a:lnTo>
                  <a:pt x="0" y="11731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006104" y="325087"/>
            <a:ext cx="920861" cy="1363916"/>
          </a:xfrm>
          <a:custGeom>
            <a:avLst/>
            <a:gdLst/>
            <a:ahLst/>
            <a:cxnLst/>
            <a:rect l="l" t="t" r="r" b="b"/>
            <a:pathLst>
              <a:path w="920861" h="1363916">
                <a:moveTo>
                  <a:pt x="0" y="0"/>
                </a:moveTo>
                <a:lnTo>
                  <a:pt x="920861" y="0"/>
                </a:lnTo>
                <a:lnTo>
                  <a:pt x="920861" y="1363916"/>
                </a:lnTo>
                <a:lnTo>
                  <a:pt x="0" y="13639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80758" y="1498918"/>
            <a:ext cx="20835606" cy="2134733"/>
            <a:chOff x="0" y="0"/>
            <a:chExt cx="5487567" cy="5622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487567" cy="562234"/>
            </a:xfrm>
            <a:custGeom>
              <a:avLst/>
              <a:gdLst/>
              <a:ahLst/>
              <a:cxnLst/>
              <a:rect l="l" t="t" r="r" b="b"/>
              <a:pathLst>
                <a:path w="5487567" h="562234">
                  <a:moveTo>
                    <a:pt x="0" y="0"/>
                  </a:moveTo>
                  <a:lnTo>
                    <a:pt x="5487567" y="0"/>
                  </a:lnTo>
                  <a:lnTo>
                    <a:pt x="5487567" y="562234"/>
                  </a:lnTo>
                  <a:lnTo>
                    <a:pt x="0" y="562234"/>
                  </a:lnTo>
                  <a:close/>
                </a:path>
              </a:pathLst>
            </a:custGeom>
            <a:solidFill>
              <a:srgbClr val="4E767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487567" cy="6098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74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92914" y="1961744"/>
            <a:ext cx="15400337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120"/>
              </a:lnSpc>
              <a:spcBef>
                <a:spcPct val="0"/>
              </a:spcBef>
            </a:pPr>
            <a:r>
              <a:rPr lang="en-US" sz="10100" spc="-606">
                <a:solidFill>
                  <a:srgbClr val="F0F6F5"/>
                </a:solidFill>
                <a:latin typeface="Mokoto"/>
                <a:ea typeface="Mokoto"/>
                <a:cs typeface="Mokoto"/>
                <a:sym typeface="Mokoto"/>
              </a:rPr>
              <a:t>Introducción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2914" y="3855567"/>
            <a:ext cx="17042757" cy="6083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61"/>
              </a:lnSpc>
            </a:pP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En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un</a:t>
            </a:r>
            <a:r>
              <a:rPr lang="en-US" sz="23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mundo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donde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la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tecnología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avanza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a pasos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acelerados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y las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empresas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buscan</a:t>
            </a:r>
            <a:r>
              <a:rPr lang="en-US" sz="23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soluciones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eficientes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seguras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y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económicas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elegir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el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sistema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operativo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adecuado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para sus</a:t>
            </a:r>
            <a:r>
              <a:rPr lang="en-US" sz="23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servidores se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vuelve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una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decisión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clave. Este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proyecto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parte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de una idea central: Ubuntu Server es una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alternativa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poderosa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y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accesible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que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responde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a</a:t>
            </a:r>
            <a:r>
              <a:rPr lang="en-US" sz="23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las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necesidades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actuales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de las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organizaciones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especialmente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en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entornos</a:t>
            </a:r>
            <a:r>
              <a:rPr lang="en-US" sz="23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empresariales que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apuestan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por la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innovación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y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el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ahorro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.</a:t>
            </a:r>
          </a:p>
          <a:p>
            <a:pPr algn="just">
              <a:lnSpc>
                <a:spcPts val="4761"/>
              </a:lnSpc>
            </a:pP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 lo largo de la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presentación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se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analizarán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tres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aspectos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fundamentales:</a:t>
            </a:r>
            <a:r>
              <a:rPr lang="en-US" sz="23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primero, las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ventajas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principales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de Ubuntu Server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frente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a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otros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sistemas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operativos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incluyendo</a:t>
            </a:r>
            <a:r>
              <a:rPr lang="en-US" sz="23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su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estabilidad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seguridad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y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facilidad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de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uso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;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segundo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se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explicará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cómo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su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carácter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gratuito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y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su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compatibilidad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con la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nube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lo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convierten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en</a:t>
            </a:r>
            <a:r>
              <a:rPr lang="en-US" sz="23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una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opción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estratégica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para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empresas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modernas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; y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tercero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se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compartirán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conclusiones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y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recomendaciones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basadas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en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la</a:t>
            </a:r>
            <a:r>
              <a:rPr lang="en-US" sz="23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experiencia de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aprendizaje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con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el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fin de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ofrecer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una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visión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clara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útil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y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aplicable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para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quienes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consideren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adoptarlo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en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sus</a:t>
            </a:r>
            <a:r>
              <a:rPr lang="en-US" sz="23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proyectos </a:t>
            </a:r>
            <a:r>
              <a:rPr lang="en-US" sz="2300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tecnológicos</a:t>
            </a:r>
            <a:r>
              <a:rPr lang="en-US" sz="23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.</a:t>
            </a:r>
          </a:p>
          <a:p>
            <a:pPr algn="just">
              <a:lnSpc>
                <a:spcPts val="4761"/>
              </a:lnSpc>
            </a:pPr>
            <a:endParaRPr lang="en-US" sz="2300" dirty="0">
              <a:solidFill>
                <a:srgbClr val="000000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7" name="Freeform 7"/>
          <p:cNvSpPr/>
          <p:nvPr/>
        </p:nvSpPr>
        <p:spPr>
          <a:xfrm flipH="1">
            <a:off x="-3508757" y="-1064553"/>
            <a:ext cx="9751946" cy="2563471"/>
          </a:xfrm>
          <a:custGeom>
            <a:avLst/>
            <a:gdLst/>
            <a:ahLst/>
            <a:cxnLst/>
            <a:rect l="l" t="t" r="r" b="b"/>
            <a:pathLst>
              <a:path w="9751946" h="2563471">
                <a:moveTo>
                  <a:pt x="9751946" y="0"/>
                </a:moveTo>
                <a:lnTo>
                  <a:pt x="0" y="0"/>
                </a:lnTo>
                <a:lnTo>
                  <a:pt x="0" y="2563471"/>
                </a:lnTo>
                <a:lnTo>
                  <a:pt x="9751946" y="2563471"/>
                </a:lnTo>
                <a:lnTo>
                  <a:pt x="9751946" y="0"/>
                </a:lnTo>
                <a:close/>
              </a:path>
            </a:pathLst>
          </a:custGeom>
          <a:blipFill>
            <a:blip r:embed="rId3">
              <a:alphaModFix amt="3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14994293" y="8520479"/>
            <a:ext cx="9751946" cy="2563471"/>
          </a:xfrm>
          <a:custGeom>
            <a:avLst/>
            <a:gdLst/>
            <a:ahLst/>
            <a:cxnLst/>
            <a:rect l="l" t="t" r="r" b="b"/>
            <a:pathLst>
              <a:path w="9751946" h="2563471">
                <a:moveTo>
                  <a:pt x="9751945" y="0"/>
                </a:moveTo>
                <a:lnTo>
                  <a:pt x="0" y="0"/>
                </a:lnTo>
                <a:lnTo>
                  <a:pt x="0" y="2563471"/>
                </a:lnTo>
                <a:lnTo>
                  <a:pt x="9751945" y="2563471"/>
                </a:lnTo>
                <a:lnTo>
                  <a:pt x="9751945" y="0"/>
                </a:lnTo>
                <a:close/>
              </a:path>
            </a:pathLst>
          </a:custGeom>
          <a:blipFill>
            <a:blip r:embed="rId3">
              <a:alphaModFix amt="3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7108" y="308266"/>
            <a:ext cx="16953783" cy="1450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44"/>
              </a:lnSpc>
            </a:pPr>
            <a:r>
              <a:rPr lang="en-US" sz="4908" dirty="0">
                <a:solidFill>
                  <a:srgbClr val="000000"/>
                </a:solidFill>
                <a:latin typeface="Mokoto"/>
                <a:ea typeface="Mokoto"/>
                <a:cs typeface="Mokoto"/>
                <a:sym typeface="Mokoto"/>
              </a:rPr>
              <a:t>INSTALACIÓN DE UBUNTU SERVER 24.04 LTS</a:t>
            </a:r>
          </a:p>
        </p:txBody>
      </p:sp>
      <p:sp>
        <p:nvSpPr>
          <p:cNvPr id="3" name="Freeform 3"/>
          <p:cNvSpPr/>
          <p:nvPr/>
        </p:nvSpPr>
        <p:spPr>
          <a:xfrm rot="-10800000">
            <a:off x="-5964072" y="-217567"/>
            <a:ext cx="8288984" cy="2178906"/>
          </a:xfrm>
          <a:custGeom>
            <a:avLst/>
            <a:gdLst/>
            <a:ahLst/>
            <a:cxnLst/>
            <a:rect l="l" t="t" r="r" b="b"/>
            <a:pathLst>
              <a:path w="8288984" h="2178906">
                <a:moveTo>
                  <a:pt x="0" y="0"/>
                </a:moveTo>
                <a:lnTo>
                  <a:pt x="8288984" y="0"/>
                </a:lnTo>
                <a:lnTo>
                  <a:pt x="8288984" y="2178905"/>
                </a:lnTo>
                <a:lnTo>
                  <a:pt x="0" y="21789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16604917" y="-217567"/>
            <a:ext cx="8288984" cy="2178906"/>
          </a:xfrm>
          <a:custGeom>
            <a:avLst/>
            <a:gdLst/>
            <a:ahLst/>
            <a:cxnLst/>
            <a:rect l="l" t="t" r="r" b="b"/>
            <a:pathLst>
              <a:path w="8288984" h="2178906">
                <a:moveTo>
                  <a:pt x="0" y="0"/>
                </a:moveTo>
                <a:lnTo>
                  <a:pt x="8288985" y="0"/>
                </a:lnTo>
                <a:lnTo>
                  <a:pt x="8288985" y="2178905"/>
                </a:lnTo>
                <a:lnTo>
                  <a:pt x="0" y="21789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324912" y="2933700"/>
            <a:ext cx="10668000" cy="4953000"/>
          </a:xfrm>
          <a:custGeom>
            <a:avLst/>
            <a:gdLst/>
            <a:ahLst/>
            <a:cxnLst/>
            <a:rect l="l" t="t" r="r" b="b"/>
            <a:pathLst>
              <a:path w="5176569" h="2810630">
                <a:moveTo>
                  <a:pt x="0" y="0"/>
                </a:moveTo>
                <a:lnTo>
                  <a:pt x="5176569" y="0"/>
                </a:lnTo>
                <a:lnTo>
                  <a:pt x="5176569" y="2810630"/>
                </a:lnTo>
                <a:lnTo>
                  <a:pt x="0" y="28106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76" r="-3906"/>
            </a:stretch>
          </a:blipFill>
        </p:spPr>
      </p:sp>
    </p:spTree>
    <p:extLst>
      <p:ext uri="{BB962C8B-B14F-4D97-AF65-F5344CB8AC3E}">
        <p14:creationId xmlns:p14="http://schemas.microsoft.com/office/powerpoint/2010/main" val="17910776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7108" y="308266"/>
            <a:ext cx="16953783" cy="1450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44"/>
              </a:lnSpc>
            </a:pPr>
            <a:r>
              <a:rPr lang="en-US" sz="4908" dirty="0">
                <a:solidFill>
                  <a:srgbClr val="000000"/>
                </a:solidFill>
                <a:latin typeface="Mokoto"/>
                <a:ea typeface="Mokoto"/>
                <a:cs typeface="Mokoto"/>
                <a:sym typeface="Mokoto"/>
              </a:rPr>
              <a:t>INSTALACIÓN DE UBUNTU SERVER 24.04 LTS</a:t>
            </a:r>
          </a:p>
        </p:txBody>
      </p:sp>
      <p:sp>
        <p:nvSpPr>
          <p:cNvPr id="3" name="Freeform 3"/>
          <p:cNvSpPr/>
          <p:nvPr/>
        </p:nvSpPr>
        <p:spPr>
          <a:xfrm rot="-10800000">
            <a:off x="-5964072" y="-217567"/>
            <a:ext cx="8288984" cy="2178906"/>
          </a:xfrm>
          <a:custGeom>
            <a:avLst/>
            <a:gdLst/>
            <a:ahLst/>
            <a:cxnLst/>
            <a:rect l="l" t="t" r="r" b="b"/>
            <a:pathLst>
              <a:path w="8288984" h="2178906">
                <a:moveTo>
                  <a:pt x="0" y="0"/>
                </a:moveTo>
                <a:lnTo>
                  <a:pt x="8288984" y="0"/>
                </a:lnTo>
                <a:lnTo>
                  <a:pt x="8288984" y="2178905"/>
                </a:lnTo>
                <a:lnTo>
                  <a:pt x="0" y="21789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16604917" y="-217567"/>
            <a:ext cx="8288984" cy="2178906"/>
          </a:xfrm>
          <a:custGeom>
            <a:avLst/>
            <a:gdLst/>
            <a:ahLst/>
            <a:cxnLst/>
            <a:rect l="l" t="t" r="r" b="b"/>
            <a:pathLst>
              <a:path w="8288984" h="2178906">
                <a:moveTo>
                  <a:pt x="0" y="0"/>
                </a:moveTo>
                <a:lnTo>
                  <a:pt x="8288985" y="0"/>
                </a:lnTo>
                <a:lnTo>
                  <a:pt x="8288985" y="2178905"/>
                </a:lnTo>
                <a:lnTo>
                  <a:pt x="0" y="21789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801600" y="1961340"/>
            <a:ext cx="5176569" cy="2810630"/>
          </a:xfrm>
          <a:custGeom>
            <a:avLst/>
            <a:gdLst/>
            <a:ahLst/>
            <a:cxnLst/>
            <a:rect l="l" t="t" r="r" b="b"/>
            <a:pathLst>
              <a:path w="5176569" h="2810630">
                <a:moveTo>
                  <a:pt x="0" y="0"/>
                </a:moveTo>
                <a:lnTo>
                  <a:pt x="5176569" y="0"/>
                </a:lnTo>
                <a:lnTo>
                  <a:pt x="5176569" y="2810630"/>
                </a:lnTo>
                <a:lnTo>
                  <a:pt x="0" y="28106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76" r="-3906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66862" y="2108362"/>
            <a:ext cx="10977460" cy="60100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323"/>
              </a:lnSpc>
            </a:pP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Antes de iniciar</a:t>
            </a:r>
            <a:r>
              <a:rPr lang="en-US" sz="23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con la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instalación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es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importante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tener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en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cuenta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que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el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proceso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eliminara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todo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lo que se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tenga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en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el</a:t>
            </a:r>
            <a:r>
              <a:rPr lang="en-US" sz="23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disco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duro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por lo que se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recomienda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usar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maquinas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virtuales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en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este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caso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se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usará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VirtualBox</a:t>
            </a:r>
          </a:p>
          <a:p>
            <a:pPr algn="just">
              <a:lnSpc>
                <a:spcPts val="4323"/>
              </a:lnSpc>
            </a:pPr>
            <a:endParaRPr lang="en-US" sz="2299" dirty="0">
              <a:solidFill>
                <a:srgbClr val="000000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marL="496569" lvl="1" indent="-248284" algn="just">
              <a:lnSpc>
                <a:spcPts val="4323"/>
              </a:lnSpc>
              <a:buFont typeface="Arial"/>
              <a:buChar char="•"/>
            </a:pPr>
            <a:endParaRPr lang="en-US" sz="2299" dirty="0">
              <a:solidFill>
                <a:srgbClr val="000000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marL="496569" lvl="1" indent="-248284" algn="just">
              <a:lnSpc>
                <a:spcPts val="4323"/>
              </a:lnSpc>
              <a:buFont typeface="Arial"/>
              <a:buChar char="•"/>
            </a:pP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Crear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una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maquina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virtual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nueva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colocarle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nombre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: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UbuntoServer</a:t>
            </a:r>
            <a:endParaRPr lang="en-US" sz="2299" dirty="0">
              <a:solidFill>
                <a:srgbClr val="000000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marL="496569" lvl="1" indent="-248284" algn="just">
              <a:lnSpc>
                <a:spcPts val="4323"/>
              </a:lnSpc>
              <a:buFont typeface="Arial"/>
              <a:buChar char="•"/>
            </a:pP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Seleccionar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la Imagen ISO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descargada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de</a:t>
            </a:r>
            <a:r>
              <a:rPr lang="en-US" sz="23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UBUNTO server 24.04 LTS y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seguir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con la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instalación</a:t>
            </a:r>
            <a:endParaRPr lang="en-US" sz="2299" dirty="0">
              <a:solidFill>
                <a:srgbClr val="000000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marL="496569" lvl="1" indent="-248284" algn="just">
              <a:lnSpc>
                <a:spcPts val="4323"/>
              </a:lnSpc>
              <a:buFont typeface="Arial"/>
              <a:buChar char="•"/>
            </a:pP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Iniciar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o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arrancar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la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maquina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virtual</a:t>
            </a:r>
          </a:p>
          <a:p>
            <a:pPr marL="496569" lvl="1" indent="-248284" algn="just">
              <a:lnSpc>
                <a:spcPts val="4323"/>
              </a:lnSpc>
              <a:buFont typeface="Arial"/>
              <a:buChar char="•"/>
            </a:pP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Seguir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los pasos que se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detalla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en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el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video para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este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proyecto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</a:p>
          <a:p>
            <a:pPr algn="just">
              <a:lnSpc>
                <a:spcPts val="4323"/>
              </a:lnSpc>
            </a:pPr>
            <a:endParaRPr lang="en-US" sz="2299" dirty="0">
              <a:solidFill>
                <a:srgbClr val="000000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2805621" y="8942007"/>
            <a:ext cx="8288984" cy="2178906"/>
          </a:xfrm>
          <a:custGeom>
            <a:avLst/>
            <a:gdLst/>
            <a:ahLst/>
            <a:cxnLst/>
            <a:rect l="l" t="t" r="r" b="b"/>
            <a:pathLst>
              <a:path w="8288984" h="2178906">
                <a:moveTo>
                  <a:pt x="0" y="0"/>
                </a:moveTo>
                <a:lnTo>
                  <a:pt x="8288985" y="0"/>
                </a:lnTo>
                <a:lnTo>
                  <a:pt x="8288985" y="2178906"/>
                </a:lnTo>
                <a:lnTo>
                  <a:pt x="0" y="21789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15098928" y="-845750"/>
            <a:ext cx="7130775" cy="1874450"/>
          </a:xfrm>
          <a:custGeom>
            <a:avLst/>
            <a:gdLst/>
            <a:ahLst/>
            <a:cxnLst/>
            <a:rect l="l" t="t" r="r" b="b"/>
            <a:pathLst>
              <a:path w="7130775" h="1874450">
                <a:moveTo>
                  <a:pt x="0" y="0"/>
                </a:moveTo>
                <a:lnTo>
                  <a:pt x="7130775" y="0"/>
                </a:lnTo>
                <a:lnTo>
                  <a:pt x="7130775" y="1874450"/>
                </a:lnTo>
                <a:lnTo>
                  <a:pt x="0" y="18744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79838" y="2707734"/>
            <a:ext cx="17069962" cy="51315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96569" lvl="1" indent="-248284" algn="just">
              <a:lnSpc>
                <a:spcPts val="4530"/>
              </a:lnSpc>
              <a:buFont typeface="Arial"/>
              <a:buChar char="•"/>
            </a:pP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Se debe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colocar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el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nombre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</a:p>
          <a:p>
            <a:pPr marL="496569" lvl="1" indent="-248284" algn="just">
              <a:lnSpc>
                <a:spcPts val="4530"/>
              </a:lnSpc>
              <a:buFont typeface="Arial"/>
              <a:buChar char="•"/>
            </a:pP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El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nombre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del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servidor</a:t>
            </a:r>
            <a:endParaRPr lang="en-US" sz="2299" dirty="0">
              <a:solidFill>
                <a:srgbClr val="000000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marL="496569" lvl="1" indent="-248284" algn="just">
              <a:lnSpc>
                <a:spcPts val="4530"/>
              </a:lnSpc>
              <a:buFont typeface="Arial"/>
              <a:buChar char="•"/>
            </a:pP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Nombre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de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usuario</a:t>
            </a:r>
            <a:endParaRPr lang="en-US" sz="2299" dirty="0">
              <a:solidFill>
                <a:srgbClr val="000000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marL="496569" lvl="1" indent="-248284" algn="just">
              <a:lnSpc>
                <a:spcPts val="4530"/>
              </a:lnSpc>
              <a:buFont typeface="Arial"/>
              <a:buChar char="•"/>
            </a:pP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Contraseña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(es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importante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anotarla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para no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olvidarla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)  </a:t>
            </a:r>
          </a:p>
          <a:p>
            <a:pPr marL="496569" lvl="1" indent="-248284" algn="just">
              <a:lnSpc>
                <a:spcPts val="4530"/>
              </a:lnSpc>
              <a:buFont typeface="Arial"/>
              <a:buChar char="•"/>
            </a:pP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Y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Confirmación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de</a:t>
            </a:r>
            <a:r>
              <a:rPr lang="en-US" sz="23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contraseña y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dar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clink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en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continuar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</a:p>
          <a:p>
            <a:pPr marL="496569" lvl="1" indent="-248284" algn="just">
              <a:lnSpc>
                <a:spcPts val="4530"/>
              </a:lnSpc>
              <a:buFont typeface="Arial"/>
              <a:buChar char="•"/>
            </a:pP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Si no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quieres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colocar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la contraseña</a:t>
            </a:r>
            <a:r>
              <a:rPr lang="en-US" sz="23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siempre al acceder se debe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desmarcar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la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casilla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“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solicitar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mi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contraseña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para acceder” y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dar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click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en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“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siguiente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”</a:t>
            </a:r>
          </a:p>
          <a:p>
            <a:pPr marL="496569" lvl="1" indent="-248284" algn="just">
              <a:lnSpc>
                <a:spcPts val="4530"/>
              </a:lnSpc>
              <a:buFont typeface="Arial"/>
              <a:buChar char="•"/>
            </a:pP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Configurar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la zona</a:t>
            </a:r>
            <a:r>
              <a:rPr lang="en-US" sz="23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horaria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si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consideras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necesario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 y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dar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click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en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“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siguiente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”</a:t>
            </a:r>
          </a:p>
          <a:p>
            <a:pPr marL="496569" lvl="1" indent="-248284" algn="just">
              <a:lnSpc>
                <a:spcPts val="4530"/>
              </a:lnSpc>
              <a:buFont typeface="Arial"/>
              <a:buChar char="•"/>
            </a:pP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Revisar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todas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las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opciones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que</a:t>
            </a:r>
            <a:r>
              <a:rPr lang="en-US" sz="23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anteriormente se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han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elegido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y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dar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en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instalar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05517" y="308266"/>
            <a:ext cx="10759611" cy="2164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44"/>
              </a:lnSpc>
            </a:pPr>
            <a:r>
              <a:rPr lang="en-US" sz="4908" dirty="0">
                <a:solidFill>
                  <a:srgbClr val="000000"/>
                </a:solidFill>
                <a:latin typeface="Mokoto"/>
                <a:ea typeface="Mokoto"/>
                <a:cs typeface="Mokoto"/>
                <a:sym typeface="Mokoto"/>
              </a:rPr>
              <a:t>INSTALACIÓN DE UBUNTU SERVER 24.04 LTS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2805621" y="8942007"/>
            <a:ext cx="8288984" cy="2178906"/>
          </a:xfrm>
          <a:custGeom>
            <a:avLst/>
            <a:gdLst/>
            <a:ahLst/>
            <a:cxnLst/>
            <a:rect l="l" t="t" r="r" b="b"/>
            <a:pathLst>
              <a:path w="8288984" h="2178906">
                <a:moveTo>
                  <a:pt x="0" y="0"/>
                </a:moveTo>
                <a:lnTo>
                  <a:pt x="8288985" y="0"/>
                </a:lnTo>
                <a:lnTo>
                  <a:pt x="8288985" y="2178906"/>
                </a:lnTo>
                <a:lnTo>
                  <a:pt x="0" y="21789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15098928" y="-845750"/>
            <a:ext cx="7130775" cy="1874450"/>
          </a:xfrm>
          <a:custGeom>
            <a:avLst/>
            <a:gdLst/>
            <a:ahLst/>
            <a:cxnLst/>
            <a:rect l="l" t="t" r="r" b="b"/>
            <a:pathLst>
              <a:path w="7130775" h="1874450">
                <a:moveTo>
                  <a:pt x="0" y="0"/>
                </a:moveTo>
                <a:lnTo>
                  <a:pt x="7130775" y="0"/>
                </a:lnTo>
                <a:lnTo>
                  <a:pt x="7130775" y="1874450"/>
                </a:lnTo>
                <a:lnTo>
                  <a:pt x="0" y="18744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79838" y="2707734"/>
            <a:ext cx="9031205" cy="1092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9" lvl="1" indent="-248284" algn="just">
              <a:lnSpc>
                <a:spcPts val="4530"/>
              </a:lnSpc>
              <a:buFont typeface="Arial"/>
              <a:buChar char="•"/>
            </a:pP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Dar click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en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“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reiniciar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”</a:t>
            </a:r>
          </a:p>
          <a:p>
            <a:pPr marL="496569" lvl="1" indent="-248284" algn="just">
              <a:lnSpc>
                <a:spcPts val="4530"/>
              </a:lnSpc>
              <a:buFont typeface="Arial"/>
              <a:buChar char="•"/>
            </a:pP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Se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elige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el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usuario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se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coloca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la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contraseña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y se da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inicio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23923" y="308266"/>
            <a:ext cx="10148034" cy="2164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44"/>
              </a:lnSpc>
            </a:pPr>
            <a:r>
              <a:rPr lang="en-US" sz="4908">
                <a:solidFill>
                  <a:srgbClr val="000000"/>
                </a:solidFill>
                <a:latin typeface="Mokoto"/>
                <a:ea typeface="Mokoto"/>
                <a:cs typeface="Mokoto"/>
                <a:sym typeface="Mokoto"/>
              </a:rPr>
              <a:t>INSTALACIÓN DE UBUNTU SERVER 24.04 LTS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2805621" y="8942007"/>
            <a:ext cx="8288984" cy="2178906"/>
          </a:xfrm>
          <a:custGeom>
            <a:avLst/>
            <a:gdLst/>
            <a:ahLst/>
            <a:cxnLst/>
            <a:rect l="l" t="t" r="r" b="b"/>
            <a:pathLst>
              <a:path w="8288984" h="2178906">
                <a:moveTo>
                  <a:pt x="0" y="0"/>
                </a:moveTo>
                <a:lnTo>
                  <a:pt x="8288985" y="0"/>
                </a:lnTo>
                <a:lnTo>
                  <a:pt x="8288985" y="2178906"/>
                </a:lnTo>
                <a:lnTo>
                  <a:pt x="0" y="21789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1404611" y="-718231"/>
            <a:ext cx="8817711" cy="1165160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174"/>
              </a:lnSpc>
            </a:pPr>
            <a:endParaRPr/>
          </a:p>
        </p:txBody>
      </p:sp>
      <p:sp>
        <p:nvSpPr>
          <p:cNvPr id="6" name="Freeform 6"/>
          <p:cNvSpPr/>
          <p:nvPr/>
        </p:nvSpPr>
        <p:spPr>
          <a:xfrm rot="-10800000">
            <a:off x="15098928" y="-845750"/>
            <a:ext cx="7130775" cy="1874450"/>
          </a:xfrm>
          <a:custGeom>
            <a:avLst/>
            <a:gdLst/>
            <a:ahLst/>
            <a:cxnLst/>
            <a:rect l="l" t="t" r="r" b="b"/>
            <a:pathLst>
              <a:path w="7130775" h="1874450">
                <a:moveTo>
                  <a:pt x="0" y="0"/>
                </a:moveTo>
                <a:lnTo>
                  <a:pt x="7130775" y="0"/>
                </a:lnTo>
                <a:lnTo>
                  <a:pt x="7130775" y="1874450"/>
                </a:lnTo>
                <a:lnTo>
                  <a:pt x="0" y="18744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79838" y="483145"/>
            <a:ext cx="10925953" cy="1713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59"/>
              </a:lnSpc>
            </a:pPr>
            <a:r>
              <a:rPr lang="en-US" sz="4899">
                <a:solidFill>
                  <a:srgbClr val="05061C"/>
                </a:solidFill>
                <a:latin typeface="Mokoto"/>
                <a:ea typeface="Mokoto"/>
                <a:cs typeface="Mokoto"/>
                <a:sym typeface="Mokoto"/>
              </a:rPr>
              <a:t>¿Cómo crear usuarios en Ubuntu Server?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79838" y="2707734"/>
            <a:ext cx="17146162" cy="34003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96569" lvl="1" indent="-248284" algn="just">
              <a:lnSpc>
                <a:spcPts val="4530"/>
              </a:lnSpc>
              <a:buFont typeface="Arial"/>
              <a:buChar char="•"/>
            </a:pP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Digitar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el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comando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b="1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sudo</a:t>
            </a:r>
            <a:r>
              <a:rPr lang="en-US" sz="2299" b="1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b="1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adduser_Nombre_Apellido</a:t>
            </a:r>
            <a:r>
              <a:rPr lang="en-US" sz="2299" b="1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</a:p>
          <a:p>
            <a:pPr marL="496569" lvl="1" indent="-248284" algn="just">
              <a:lnSpc>
                <a:spcPts val="4530"/>
              </a:lnSpc>
              <a:buFont typeface="Arial"/>
              <a:buChar char="•"/>
            </a:pP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Después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se</a:t>
            </a:r>
            <a:r>
              <a:rPr lang="en-US" sz="23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solicitarán una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serie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de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datos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personales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para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identificación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del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usuario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</a:p>
          <a:p>
            <a:pPr marL="496569" lvl="1" indent="-248284" algn="just">
              <a:lnSpc>
                <a:spcPts val="4530"/>
              </a:lnSpc>
              <a:buFont typeface="Arial"/>
              <a:buChar char="•"/>
            </a:pP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Una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vez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creado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se</a:t>
            </a:r>
            <a:r>
              <a:rPr lang="en-US" sz="23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puede comprobar</a:t>
            </a:r>
            <a:r>
              <a:rPr lang="en-US" sz="23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que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el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sistema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haya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creado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una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carpeta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para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dicho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usuario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digitando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“/home/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nombre_Apellido</a:t>
            </a:r>
            <a:endParaRPr lang="en-US" sz="2299" dirty="0">
              <a:solidFill>
                <a:srgbClr val="000000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marL="496569" lvl="1" indent="-248284" algn="just">
              <a:lnSpc>
                <a:spcPts val="4530"/>
              </a:lnSpc>
              <a:buFont typeface="Arial"/>
              <a:buChar char="•"/>
            </a:pP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Y para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comprobar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que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el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usuario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haya</a:t>
            </a:r>
            <a:r>
              <a:rPr lang="en-US" sz="23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sido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creado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de forma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correcta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el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mismo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se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puede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utilizar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para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hacer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login por SSH.</a:t>
            </a:r>
          </a:p>
          <a:p>
            <a:pPr marL="496569" lvl="1" indent="-248284" algn="just">
              <a:lnSpc>
                <a:spcPts val="4530"/>
              </a:lnSpc>
              <a:buFont typeface="Arial"/>
              <a:buChar char="•"/>
            </a:pP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Y una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vez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creado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el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usuario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se le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pueden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empezar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a asignar</a:t>
            </a:r>
            <a:r>
              <a:rPr lang="en-US" sz="23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permisos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administrativos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al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mismo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28705" y="284512"/>
            <a:ext cx="14761065" cy="1147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62"/>
              </a:lnSpc>
            </a:pPr>
            <a:r>
              <a:rPr lang="en-US" sz="3709" spc="-81">
                <a:solidFill>
                  <a:srgbClr val="05061C"/>
                </a:solidFill>
                <a:latin typeface="Mokoto"/>
                <a:ea typeface="Mokoto"/>
                <a:cs typeface="Mokoto"/>
                <a:sym typeface="Mokoto"/>
              </a:rPr>
              <a:t> beneficios de utilizar una distribución de Linux como Ubuntu Server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91130" y="1966086"/>
            <a:ext cx="17514549" cy="3887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8872" lvl="1" indent="-239436" algn="just">
              <a:lnSpc>
                <a:spcPts val="4369"/>
              </a:lnSpc>
              <a:buFont typeface="Arial"/>
              <a:buChar char="•"/>
            </a:pP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Una de las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ventajas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más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importantes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de usar Ubuntu Server en</a:t>
            </a:r>
            <a:r>
              <a:rPr lang="en-US" sz="20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una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empresa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es que no hay que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pagar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licencias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lo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cual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ya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representa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un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ahorro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bastante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significativo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sobre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todo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si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se compara</a:t>
            </a:r>
            <a:r>
              <a:rPr lang="en-US" sz="20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con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otros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sistemas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que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sí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cobran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por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cada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servidor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que se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instala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además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al ser de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código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abierto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se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puede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modificar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según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las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necesidades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del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negocio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lo que permite</a:t>
            </a:r>
            <a:r>
              <a:rPr lang="en-US" sz="20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adaptarlo a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distintos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procesos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automatizar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tareas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o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mejorar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la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seguridad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sin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tener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que</a:t>
            </a:r>
            <a:r>
              <a:rPr lang="en-US" sz="20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depender de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proveedores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externos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por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eso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se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destaca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que es “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Gratuito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y de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código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abierto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: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puedes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usar y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modificar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Ubuntu Server sin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costos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de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licencia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reduciendo</a:t>
            </a:r>
            <a:r>
              <a:rPr lang="en-US" sz="20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gastos de TI.”(Carter, 2024, p.01), lo que no solo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ayuda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a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reducir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los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costos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sino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que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también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da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libertad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para</a:t>
            </a:r>
            <a:r>
              <a:rPr lang="en-US" sz="20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experimentar,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aprender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y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mejorar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el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sistema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según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lo que se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necesite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en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cada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momento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.</a:t>
            </a:r>
          </a:p>
          <a:p>
            <a:pPr marL="239436" lvl="1" algn="just">
              <a:lnSpc>
                <a:spcPts val="4369"/>
              </a:lnSpc>
            </a:pPr>
            <a:endParaRPr lang="en-US" sz="2218" dirty="0">
              <a:solidFill>
                <a:srgbClr val="000000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28705" y="284512"/>
            <a:ext cx="14761065" cy="1147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62"/>
              </a:lnSpc>
            </a:pPr>
            <a:r>
              <a:rPr lang="en-US" sz="3709" spc="-81">
                <a:solidFill>
                  <a:srgbClr val="05061C"/>
                </a:solidFill>
                <a:latin typeface="Mokoto"/>
                <a:ea typeface="Mokoto"/>
                <a:cs typeface="Mokoto"/>
                <a:sym typeface="Mokoto"/>
              </a:rPr>
              <a:t> beneficios de utilizar una distribución de Linux como Ubuntu Server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91130" y="1966086"/>
            <a:ext cx="17514549" cy="3323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8872" lvl="1" indent="-239436" algn="just">
              <a:lnSpc>
                <a:spcPts val="4369"/>
              </a:lnSpc>
              <a:buFont typeface="Arial"/>
              <a:buChar char="•"/>
            </a:pP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Otra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ventaja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que llama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mucho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la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atención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es que Ubuntu Server está</a:t>
            </a:r>
            <a:r>
              <a:rPr lang="en-US" sz="20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preparado para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funcionar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en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la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nube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lo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cual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es clave hoy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en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día,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porque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muchas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empresas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ya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no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tienen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sus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servidores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en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oficinas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físicas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sino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que los</a:t>
            </a:r>
            <a:r>
              <a:rPr lang="en-US" sz="20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alojan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en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plataformas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como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AWS, Azure o Google Cloud,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esto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permite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que los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servicios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estén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disponibles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desde</a:t>
            </a:r>
            <a:r>
              <a:rPr lang="en-US" sz="20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cualquier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parte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del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mundo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que se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puedan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escalar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fácilmente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y que se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mantenga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una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alta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disponibilidad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sin</a:t>
            </a:r>
            <a:r>
              <a:rPr lang="en-US" sz="20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necesidad de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invertir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en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infraestructura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local, por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eso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se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afirma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que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está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“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Listo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para la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nube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: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despliega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fácilmente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Ubuntu Server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en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entornos</a:t>
            </a:r>
            <a:r>
              <a:rPr lang="en-US" sz="20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cloud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como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AWS, Azure o Google Cloud Platform.”(Carter, 2024, p.01), lo que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demuestra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que es una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opción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moderna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flexible y pensada</a:t>
            </a:r>
            <a:r>
              <a:rPr lang="en-US" sz="20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para los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retos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actuales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de las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empresas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que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quieren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crecer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sin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complicarse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18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demasiado</a:t>
            </a:r>
            <a:r>
              <a:rPr lang="en-US" sz="2218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873713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59506" y="-583628"/>
            <a:ext cx="20835606" cy="2477413"/>
            <a:chOff x="0" y="0"/>
            <a:chExt cx="5487567" cy="6524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487567" cy="652487"/>
            </a:xfrm>
            <a:custGeom>
              <a:avLst/>
              <a:gdLst/>
              <a:ahLst/>
              <a:cxnLst/>
              <a:rect l="l" t="t" r="r" b="b"/>
              <a:pathLst>
                <a:path w="5487567" h="652487">
                  <a:moveTo>
                    <a:pt x="0" y="0"/>
                  </a:moveTo>
                  <a:lnTo>
                    <a:pt x="5487567" y="0"/>
                  </a:lnTo>
                  <a:lnTo>
                    <a:pt x="5487567" y="652487"/>
                  </a:lnTo>
                  <a:lnTo>
                    <a:pt x="0" y="652487"/>
                  </a:lnTo>
                  <a:close/>
                </a:path>
              </a:pathLst>
            </a:custGeom>
            <a:solidFill>
              <a:srgbClr val="4E767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487567" cy="7001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74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436418" y="105719"/>
            <a:ext cx="14138155" cy="1583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273"/>
              </a:lnSpc>
            </a:pPr>
            <a:r>
              <a:rPr lang="en-US" sz="4789">
                <a:solidFill>
                  <a:srgbClr val="F0F6F5"/>
                </a:solidFill>
                <a:latin typeface="Mokoto"/>
                <a:ea typeface="Mokoto"/>
                <a:cs typeface="Mokoto"/>
                <a:sym typeface="Mokoto"/>
              </a:rPr>
              <a:t>estabilidad, seguridad y facilidad de uso</a:t>
            </a:r>
          </a:p>
        </p:txBody>
      </p:sp>
      <p:sp>
        <p:nvSpPr>
          <p:cNvPr id="8" name="Freeform 8"/>
          <p:cNvSpPr/>
          <p:nvPr/>
        </p:nvSpPr>
        <p:spPr>
          <a:xfrm>
            <a:off x="14844881" y="0"/>
            <a:ext cx="8619924" cy="2265899"/>
          </a:xfrm>
          <a:custGeom>
            <a:avLst/>
            <a:gdLst/>
            <a:ahLst/>
            <a:cxnLst/>
            <a:rect l="l" t="t" r="r" b="b"/>
            <a:pathLst>
              <a:path w="8619924" h="2265899">
                <a:moveTo>
                  <a:pt x="0" y="0"/>
                </a:moveTo>
                <a:lnTo>
                  <a:pt x="8619924" y="0"/>
                </a:lnTo>
                <a:lnTo>
                  <a:pt x="8619924" y="2265899"/>
                </a:lnTo>
                <a:lnTo>
                  <a:pt x="0" y="22658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6473972" y="-372114"/>
            <a:ext cx="8619924" cy="2265899"/>
          </a:xfrm>
          <a:custGeom>
            <a:avLst/>
            <a:gdLst/>
            <a:ahLst/>
            <a:cxnLst/>
            <a:rect l="l" t="t" r="r" b="b"/>
            <a:pathLst>
              <a:path w="8619924" h="2265899">
                <a:moveTo>
                  <a:pt x="0" y="0"/>
                </a:moveTo>
                <a:lnTo>
                  <a:pt x="8619924" y="0"/>
                </a:lnTo>
                <a:lnTo>
                  <a:pt x="8619924" y="2265899"/>
                </a:lnTo>
                <a:lnTo>
                  <a:pt x="0" y="22658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79838" y="2707734"/>
            <a:ext cx="17069962" cy="34003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530"/>
              </a:lnSpc>
            </a:pP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Ubuntu Server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destaca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por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su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estabilidad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ya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que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funciona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bien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incluso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con</a:t>
            </a:r>
            <a:r>
              <a:rPr lang="en-US" sz="23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mucho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tráfico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o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procesos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pesados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sin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caerse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ni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dar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errores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constantes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a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diferencia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de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otros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sistemas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que a</a:t>
            </a:r>
            <a:r>
              <a:rPr lang="en-US" sz="23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veces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requieren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reinicios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o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mantenimiento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más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seguido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.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En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seguridad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es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bastante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confiable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porque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se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actualiza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seguido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y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tiene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una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comunidad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activa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que</a:t>
            </a:r>
            <a:r>
              <a:rPr lang="en-US" sz="23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detecta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fallos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rápido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además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permite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configurar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protecciones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según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lo que se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necesite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cosa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que en</a:t>
            </a:r>
            <a:r>
              <a:rPr lang="en-US" sz="23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otros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sistemas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puede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ser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más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limitada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o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depender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de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licencias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. Y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aunque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al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inicio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puede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parecer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más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técnico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su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facilidad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de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uso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mejora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con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práctica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y</a:t>
            </a:r>
            <a:r>
              <a:rPr lang="en-US" sz="23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tiene tantos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recursos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disponibles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que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aprender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a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manejarlo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se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vuelve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cada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vez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más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sencillo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mientras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que</a:t>
            </a:r>
            <a:r>
              <a:rPr lang="en-US" sz="23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otros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sistemas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pueden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ser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más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visuales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pero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menos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flexibles.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40322" y="230629"/>
            <a:ext cx="20835606" cy="1926330"/>
            <a:chOff x="0" y="0"/>
            <a:chExt cx="5487567" cy="5073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487567" cy="507346"/>
            </a:xfrm>
            <a:custGeom>
              <a:avLst/>
              <a:gdLst/>
              <a:ahLst/>
              <a:cxnLst/>
              <a:rect l="l" t="t" r="r" b="b"/>
              <a:pathLst>
                <a:path w="5487567" h="507346">
                  <a:moveTo>
                    <a:pt x="0" y="0"/>
                  </a:moveTo>
                  <a:lnTo>
                    <a:pt x="5487567" y="0"/>
                  </a:lnTo>
                  <a:lnTo>
                    <a:pt x="5487567" y="507346"/>
                  </a:lnTo>
                  <a:lnTo>
                    <a:pt x="0" y="507346"/>
                  </a:lnTo>
                  <a:close/>
                </a:path>
              </a:pathLst>
            </a:custGeom>
            <a:solidFill>
              <a:srgbClr val="4E767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487567" cy="554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74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59276" y="727829"/>
            <a:ext cx="16300024" cy="118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261"/>
              </a:lnSpc>
              <a:spcBef>
                <a:spcPct val="0"/>
              </a:spcBef>
            </a:pPr>
            <a:r>
              <a:rPr lang="en-US" sz="7718" spc="-393">
                <a:solidFill>
                  <a:srgbClr val="F0F6F5"/>
                </a:solidFill>
                <a:latin typeface="Mokoto"/>
                <a:ea typeface="Mokoto"/>
                <a:cs typeface="Mokoto"/>
                <a:sym typeface="Mokoto"/>
              </a:rPr>
              <a:t>Conclusiones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95520" y="2409786"/>
            <a:ext cx="17154195" cy="7385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30"/>
              </a:lnSpc>
            </a:pP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En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conclusión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a lo largo del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proyecto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se logró</a:t>
            </a:r>
            <a:r>
              <a:rPr lang="en-US" sz="23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comprender que Ubuntu Server no solo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representa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una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alternativa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económica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sino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también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una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herramienta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potente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y adaptable para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entornos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empresariales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modernos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.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Esta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idea</a:t>
            </a:r>
            <a:r>
              <a:rPr lang="en-US" sz="23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principal se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fue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reforzando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en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cada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etapa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del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análisis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al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evidenciar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cómo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su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código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abierto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su</a:t>
            </a:r>
            <a:r>
              <a:rPr lang="en-US" sz="23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estabilidad y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su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compatibilidad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con la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nube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lo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convierten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en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una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opción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estratégica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para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organizaciones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que</a:t>
            </a:r>
            <a:r>
              <a:rPr lang="en-US" sz="23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buscan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eficiencia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sin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depender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de software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propietario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.</a:t>
            </a:r>
          </a:p>
          <a:p>
            <a:pPr algn="just">
              <a:lnSpc>
                <a:spcPts val="4530"/>
              </a:lnSpc>
            </a:pP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Además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el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proceso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permitió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adquirir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conocimientos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técnicos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y prácticos</a:t>
            </a:r>
            <a:r>
              <a:rPr lang="en-US" sz="23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sobre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sistemas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operativos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de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servidor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lo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cual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fue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un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reto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al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inicio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pero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terminó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siendo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una experiencia</a:t>
            </a:r>
            <a:r>
              <a:rPr lang="en-US" sz="23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enriquecedora,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especialmente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al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comparar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funciones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explorar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comandos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y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entender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cómo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se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gestiona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la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seguridad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en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entornos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reales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.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Esa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parte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del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aprendizaje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dejó</a:t>
            </a:r>
            <a:r>
              <a:rPr lang="en-US" sz="23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claro que,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aunque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la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curva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de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uso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puede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parecer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compleja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con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práctica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y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apoyo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se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vuelve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manejable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y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útil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.</a:t>
            </a:r>
          </a:p>
          <a:p>
            <a:pPr algn="just">
              <a:lnSpc>
                <a:spcPts val="4530"/>
              </a:lnSpc>
            </a:pP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Finalmente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se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reconoció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el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valor de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investigar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con</a:t>
            </a:r>
            <a:r>
              <a:rPr lang="en-US" sz="23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sentido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crítico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conectando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teoría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con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aplicaciones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concretas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lo que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ayudó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a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tomar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conciencia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sobre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cómo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las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decisiones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tecnológicas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impactan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directamente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en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los</a:t>
            </a:r>
            <a:r>
              <a:rPr lang="en-US" sz="23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costos, la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seguridad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y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el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crecimiento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de una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empresa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. Este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enfoque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permitió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cerrar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el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proyecto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con</a:t>
            </a:r>
            <a:r>
              <a:rPr lang="en-US" sz="23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una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visión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más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clara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más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reflexiva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y con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herramientas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que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pueden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aplicarse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en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futuros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contextos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académicos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o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laborales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.</a:t>
            </a:r>
          </a:p>
          <a:p>
            <a:pPr algn="just">
              <a:lnSpc>
                <a:spcPts val="4530"/>
              </a:lnSpc>
            </a:pPr>
            <a:endParaRPr lang="en-US" sz="2299" dirty="0">
              <a:solidFill>
                <a:srgbClr val="000000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8281" y="130013"/>
            <a:ext cx="15601768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026"/>
              </a:lnSpc>
              <a:spcBef>
                <a:spcPct val="0"/>
              </a:spcBef>
            </a:pPr>
            <a:r>
              <a:rPr lang="en-US" sz="8355" spc="-292">
                <a:solidFill>
                  <a:srgbClr val="05061C"/>
                </a:solidFill>
                <a:latin typeface="Mokoto"/>
                <a:ea typeface="Mokoto"/>
                <a:cs typeface="Mokoto"/>
                <a:sym typeface="Mokoto"/>
              </a:rPr>
              <a:t>Recomendaciones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0" y="1766847"/>
            <a:ext cx="17754600" cy="56710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96569" lvl="1" indent="-248284" algn="just">
              <a:lnSpc>
                <a:spcPts val="4530"/>
              </a:lnSpc>
              <a:buFont typeface="Arial"/>
              <a:buChar char="•"/>
            </a:pP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Se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recomienda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en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primer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lugar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implementar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Ubuntu</a:t>
            </a:r>
            <a:r>
              <a:rPr lang="en-US" sz="23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Server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en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pequeñas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y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medianas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empresas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que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buscan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reducir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costos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sin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sacrificar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rendimiento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ya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que al ser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gratuito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y de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código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abierto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permite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ahorrar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en</a:t>
            </a:r>
            <a:r>
              <a:rPr lang="en-US" sz="23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licencias y al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mismo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tiempo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adaptar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el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sistema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a las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necesidades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específicas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de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cada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organización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lo</a:t>
            </a:r>
            <a:r>
              <a:rPr lang="en-US" sz="23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cualpuede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mejorar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laeficiencia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operativa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desde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el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primer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momento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.</a:t>
            </a:r>
          </a:p>
          <a:p>
            <a:pPr marL="496569" lvl="1" indent="-248284" algn="just">
              <a:lnSpc>
                <a:spcPts val="4530"/>
              </a:lnSpc>
              <a:buFont typeface="Arial"/>
              <a:buChar char="•"/>
            </a:pP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su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vez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es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importante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capacitar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al personal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técnico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en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el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uso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de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comandos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básicos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y</a:t>
            </a:r>
            <a:r>
              <a:rPr lang="en-US" sz="23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herramientas de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administración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de Ubuntu Server,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porque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aunque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al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inicio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puede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parecer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complejo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</a:t>
            </a:r>
            <a:r>
              <a:rPr lang="en-US" sz="23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 0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dominar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su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entorno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permite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aprovechar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al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máximo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sus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funciones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fortalecer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la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seguridad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del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sistema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y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evitar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errores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que</a:t>
            </a:r>
            <a:r>
              <a:rPr lang="en-US" sz="23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podrían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afectar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el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servicio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además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existen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recursos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gratuitos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y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comunidades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activas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que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facilitan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ese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aprendizaje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.</a:t>
            </a:r>
          </a:p>
          <a:p>
            <a:pPr marL="496569" lvl="1" indent="-248284" algn="just">
              <a:lnSpc>
                <a:spcPts val="4530"/>
              </a:lnSpc>
              <a:buFont typeface="Arial"/>
              <a:buChar char="•"/>
            </a:pP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Por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último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se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recomienda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considerar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Ubuntu Server</a:t>
            </a:r>
            <a:r>
              <a:rPr lang="en-US" sz="23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como una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opción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prioritaria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al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migrar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servicios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a la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nube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especialmente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en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plataformas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como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AWS o Azure,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ya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que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su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compatibilidad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con estos</a:t>
            </a:r>
            <a:r>
              <a:rPr lang="en-US" sz="23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entornos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permite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una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transición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más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fluida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segura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y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escalable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lo que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puede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traducirse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en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mayor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disponibilidad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,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menor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tiempo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de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inactividad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y</a:t>
            </a:r>
            <a:r>
              <a:rPr lang="en-US" sz="2300" dirty="0">
                <a:solidFill>
                  <a:schemeClr val="bg1"/>
                </a:solidFill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mejores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resultados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a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nivel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técnico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y </a:t>
            </a:r>
            <a:r>
              <a:rPr lang="en-US" sz="2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financiero</a:t>
            </a:r>
            <a:endParaRPr lang="en-US" sz="2299" dirty="0">
              <a:solidFill>
                <a:srgbClr val="000000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1072270" y="9150009"/>
            <a:ext cx="8288984" cy="2178906"/>
          </a:xfrm>
          <a:custGeom>
            <a:avLst/>
            <a:gdLst/>
            <a:ahLst/>
            <a:cxnLst/>
            <a:rect l="l" t="t" r="r" b="b"/>
            <a:pathLst>
              <a:path w="8288984" h="2178906">
                <a:moveTo>
                  <a:pt x="0" y="0"/>
                </a:moveTo>
                <a:lnTo>
                  <a:pt x="8288984" y="0"/>
                </a:lnTo>
                <a:lnTo>
                  <a:pt x="8288984" y="2178906"/>
                </a:lnTo>
                <a:lnTo>
                  <a:pt x="0" y="21789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460832" y="431398"/>
            <a:ext cx="10164471" cy="125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12"/>
              </a:lnSpc>
            </a:pPr>
            <a:r>
              <a:rPr lang="en-US" sz="7294">
                <a:solidFill>
                  <a:srgbClr val="05061C"/>
                </a:solidFill>
                <a:latin typeface="Mokoto"/>
                <a:ea typeface="Mokoto"/>
                <a:cs typeface="Mokoto"/>
                <a:sym typeface="Mokoto"/>
              </a:rPr>
              <a:t>Bibliografía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473" y="1939438"/>
            <a:ext cx="16801055" cy="4528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30"/>
              </a:lnSpc>
            </a:pPr>
            <a:r>
              <a:rPr lang="en-US" sz="2299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Carter, C. (2024). Guía del sistema operativo ubuntu server: Configuración y beneficios. Contabo GmbH. https://contabo.com/blog/es/ubuntu-server-instalacion-configuracion-y-beneficios/</a:t>
            </a:r>
          </a:p>
          <a:p>
            <a:pPr algn="just">
              <a:lnSpc>
                <a:spcPts val="4530"/>
              </a:lnSpc>
            </a:pPr>
            <a:r>
              <a:rPr lang="en-US" sz="2299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Hablemos de informática. (2024, 18 de noviembre). Instalar UBUNTU 24.04 | UBUNTU 24 04 | Cómo instalar Ubuntu 24.04 en equipo físico [Video]. YouTube. https://www.youtube.com/watch?v=Pk9M4u-T_SA</a:t>
            </a:r>
          </a:p>
          <a:p>
            <a:pPr algn="just">
              <a:lnSpc>
                <a:spcPts val="4530"/>
              </a:lnSpc>
            </a:pPr>
            <a:r>
              <a:rPr lang="en-US" sz="2299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León, M. (2024). Crear nuevo usuario ubuntu: ¿cómo hacerlo? | blog de arsys. Arsys. https://www.arsys.es/blog/crear-nuevo-usuario-ubuntu</a:t>
            </a:r>
          </a:p>
          <a:p>
            <a:pPr algn="just">
              <a:lnSpc>
                <a:spcPts val="4530"/>
              </a:lnSpc>
            </a:pPr>
            <a:r>
              <a:rPr lang="en-US" sz="2299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MashiXplore. (2024, 7 de octubre). Cómo instalar ubuntu server 24.04 LTS paso a paso | guía completa [Video]. YouTube. https://www.youtube.com/watch?v=AiyDVfoefwY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1072270" y="9150009"/>
            <a:ext cx="8288984" cy="2178906"/>
          </a:xfrm>
          <a:custGeom>
            <a:avLst/>
            <a:gdLst/>
            <a:ahLst/>
            <a:cxnLst/>
            <a:rect l="l" t="t" r="r" b="b"/>
            <a:pathLst>
              <a:path w="8288984" h="2178906">
                <a:moveTo>
                  <a:pt x="0" y="0"/>
                </a:moveTo>
                <a:lnTo>
                  <a:pt x="8288984" y="0"/>
                </a:lnTo>
                <a:lnTo>
                  <a:pt x="8288984" y="2178906"/>
                </a:lnTo>
                <a:lnTo>
                  <a:pt x="0" y="21789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460832" y="431398"/>
            <a:ext cx="13760368" cy="981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212"/>
              </a:lnSpc>
            </a:pPr>
            <a:r>
              <a:rPr lang="en-US" sz="7294" dirty="0">
                <a:solidFill>
                  <a:srgbClr val="05061C"/>
                </a:solidFill>
                <a:latin typeface="Mokoto"/>
                <a:ea typeface="Mokoto"/>
                <a:cs typeface="Mokoto"/>
                <a:sym typeface="Mokoto"/>
              </a:rPr>
              <a:t>VIDEO PROYECTO2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473" y="1939438"/>
            <a:ext cx="16801055" cy="561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30"/>
              </a:lnSpc>
            </a:pPr>
            <a:r>
              <a:rPr lang="en-US" sz="32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LINK VIDEO</a:t>
            </a:r>
            <a:r>
              <a:rPr lang="en-US" sz="2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: </a:t>
            </a:r>
            <a:r>
              <a:rPr lang="en-US" sz="36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  <a:hlinkClick r:id="rId5"/>
              </a:rPr>
              <a:t>https://youtu.be/4KFCXEBQXVo</a:t>
            </a:r>
            <a:r>
              <a:rPr lang="en-US" sz="3600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endParaRPr lang="en-US" sz="2299" dirty="0">
              <a:solidFill>
                <a:srgbClr val="000000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</p:spTree>
    <p:extLst>
      <p:ext uri="{BB962C8B-B14F-4D97-AF65-F5344CB8AC3E}">
        <p14:creationId xmlns:p14="http://schemas.microsoft.com/office/powerpoint/2010/main" val="41506389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90230" y="3121434"/>
            <a:ext cx="13389049" cy="4025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802"/>
              </a:lnSpc>
            </a:pPr>
            <a:r>
              <a:rPr lang="en-US" sz="13168" spc="-697">
                <a:solidFill>
                  <a:srgbClr val="000000"/>
                </a:solidFill>
                <a:latin typeface="Mokoto"/>
                <a:ea typeface="Mokoto"/>
                <a:cs typeface="Mokoto"/>
                <a:sym typeface="Mokoto"/>
              </a:rPr>
              <a:t>MUCHAS GRACIAS</a:t>
            </a:r>
          </a:p>
        </p:txBody>
      </p:sp>
      <p:sp>
        <p:nvSpPr>
          <p:cNvPr id="3" name="Freeform 3"/>
          <p:cNvSpPr/>
          <p:nvPr/>
        </p:nvSpPr>
        <p:spPr>
          <a:xfrm>
            <a:off x="-6802679" y="446691"/>
            <a:ext cx="10471816" cy="1523173"/>
          </a:xfrm>
          <a:custGeom>
            <a:avLst/>
            <a:gdLst/>
            <a:ahLst/>
            <a:cxnLst/>
            <a:rect l="l" t="t" r="r" b="b"/>
            <a:pathLst>
              <a:path w="10471816" h="1523173">
                <a:moveTo>
                  <a:pt x="0" y="0"/>
                </a:moveTo>
                <a:lnTo>
                  <a:pt x="10471817" y="0"/>
                </a:lnTo>
                <a:lnTo>
                  <a:pt x="10471817" y="1523173"/>
                </a:lnTo>
                <a:lnTo>
                  <a:pt x="0" y="15231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900081" y="1931764"/>
            <a:ext cx="10569348" cy="48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3"/>
              </a:lnSpc>
            </a:pPr>
            <a:r>
              <a:rPr lang="en-US" sz="2942" b="1">
                <a:solidFill>
                  <a:srgbClr val="FBFEF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www.unsitiogenial.es</a:t>
            </a:r>
          </a:p>
        </p:txBody>
      </p:sp>
      <p:sp>
        <p:nvSpPr>
          <p:cNvPr id="5" name="Freeform 5"/>
          <p:cNvSpPr/>
          <p:nvPr/>
        </p:nvSpPr>
        <p:spPr>
          <a:xfrm>
            <a:off x="-888213" y="7868825"/>
            <a:ext cx="9453842" cy="3919047"/>
          </a:xfrm>
          <a:custGeom>
            <a:avLst/>
            <a:gdLst/>
            <a:ahLst/>
            <a:cxnLst/>
            <a:rect l="l" t="t" r="r" b="b"/>
            <a:pathLst>
              <a:path w="9453842" h="3919047">
                <a:moveTo>
                  <a:pt x="0" y="0"/>
                </a:moveTo>
                <a:lnTo>
                  <a:pt x="9453843" y="0"/>
                </a:lnTo>
                <a:lnTo>
                  <a:pt x="9453843" y="3919047"/>
                </a:lnTo>
                <a:lnTo>
                  <a:pt x="0" y="39190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440611" y="7734306"/>
            <a:ext cx="2487716" cy="5105388"/>
          </a:xfrm>
          <a:custGeom>
            <a:avLst/>
            <a:gdLst/>
            <a:ahLst/>
            <a:cxnLst/>
            <a:rect l="l" t="t" r="r" b="b"/>
            <a:pathLst>
              <a:path w="2487716" h="5105388">
                <a:moveTo>
                  <a:pt x="0" y="0"/>
                </a:moveTo>
                <a:lnTo>
                  <a:pt x="2487716" y="0"/>
                </a:lnTo>
                <a:lnTo>
                  <a:pt x="2487716" y="5105388"/>
                </a:lnTo>
                <a:lnTo>
                  <a:pt x="0" y="51053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184755" y="7734306"/>
            <a:ext cx="2633170" cy="3368008"/>
          </a:xfrm>
          <a:custGeom>
            <a:avLst/>
            <a:gdLst/>
            <a:ahLst/>
            <a:cxnLst/>
            <a:rect l="l" t="t" r="r" b="b"/>
            <a:pathLst>
              <a:path w="2633170" h="3368008">
                <a:moveTo>
                  <a:pt x="0" y="0"/>
                </a:moveTo>
                <a:lnTo>
                  <a:pt x="2633170" y="0"/>
                </a:lnTo>
                <a:lnTo>
                  <a:pt x="2633170" y="3368008"/>
                </a:lnTo>
                <a:lnTo>
                  <a:pt x="0" y="33680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2212810" y="7868825"/>
            <a:ext cx="2608676" cy="3368008"/>
          </a:xfrm>
          <a:custGeom>
            <a:avLst/>
            <a:gdLst/>
            <a:ahLst/>
            <a:cxnLst/>
            <a:rect l="l" t="t" r="r" b="b"/>
            <a:pathLst>
              <a:path w="2608676" h="3368008">
                <a:moveTo>
                  <a:pt x="0" y="0"/>
                </a:moveTo>
                <a:lnTo>
                  <a:pt x="2608676" y="0"/>
                </a:lnTo>
                <a:lnTo>
                  <a:pt x="2608676" y="3368008"/>
                </a:lnTo>
                <a:lnTo>
                  <a:pt x="0" y="33680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517148" y="0"/>
            <a:ext cx="10471816" cy="1523173"/>
          </a:xfrm>
          <a:custGeom>
            <a:avLst/>
            <a:gdLst/>
            <a:ahLst/>
            <a:cxnLst/>
            <a:rect l="l" t="t" r="r" b="b"/>
            <a:pathLst>
              <a:path w="10471816" h="1523173">
                <a:moveTo>
                  <a:pt x="0" y="0"/>
                </a:moveTo>
                <a:lnTo>
                  <a:pt x="10471817" y="0"/>
                </a:lnTo>
                <a:lnTo>
                  <a:pt x="10471817" y="1523173"/>
                </a:lnTo>
                <a:lnTo>
                  <a:pt x="0" y="15231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258</TotalTime>
  <Words>1525</Words>
  <Application>Microsoft Office PowerPoint</Application>
  <PresentationFormat>Personalizado</PresentationFormat>
  <Paragraphs>73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1" baseType="lpstr">
      <vt:lpstr>Arial</vt:lpstr>
      <vt:lpstr>Canva Sans Bold</vt:lpstr>
      <vt:lpstr>Sniglet</vt:lpstr>
      <vt:lpstr>Calibri</vt:lpstr>
      <vt:lpstr>Mokoto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FranciscoCampos_Proyecto2</dc:title>
  <dc:creator>antonio</dc:creator>
  <cp:lastModifiedBy>ANTONIO</cp:lastModifiedBy>
  <cp:revision>10</cp:revision>
  <dcterms:created xsi:type="dcterms:W3CDTF">2006-08-16T00:00:00Z</dcterms:created>
  <dcterms:modified xsi:type="dcterms:W3CDTF">2025-08-07T15:06:54Z</dcterms:modified>
  <dc:identifier>DAGvUxuoAeA</dc:identifier>
</cp:coreProperties>
</file>