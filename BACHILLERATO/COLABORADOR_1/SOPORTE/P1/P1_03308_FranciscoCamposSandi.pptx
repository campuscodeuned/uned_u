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Montserrat Bold" panose="00000800000000000000" charset="0"/>
      <p:regular r:id="rId31"/>
    </p:embeddedFont>
    <p:embeddedFont>
      <p:font typeface="Poppins" panose="00000500000000000000" pitchFamily="2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ZEsPeBfxck-Si0qGlJcuMd3VQPYT6uAr/view" TargetMode="External"/><Relationship Id="rId2" Type="http://schemas.openxmlformats.org/officeDocument/2006/relationships/hyperlink" Target="https://drive.google.com/file/d/1ZEsPeBfxck-Si0qGlJcuMd3VQPYT6uAr/view?usp=sharing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youtu.be/03ZkUvHsmL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20234" y="-1717598"/>
            <a:ext cx="3735531" cy="373553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7857" y="-643475"/>
            <a:ext cx="1286950" cy="12869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929195" y="8389571"/>
            <a:ext cx="3735531" cy="373553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61163" y="-383021"/>
            <a:ext cx="16398137" cy="1091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8"/>
              </a:lnSpc>
            </a:pPr>
            <a:endParaRPr dirty="0"/>
          </a:p>
          <a:p>
            <a:pPr algn="ctr">
              <a:lnSpc>
                <a:spcPts val="4488"/>
              </a:lnSpc>
            </a:pP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Universidad </a:t>
            </a: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Estatal</a:t>
            </a: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Distancia</a:t>
            </a:r>
            <a:endParaRPr lang="en-US" sz="2753" spc="-55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488"/>
              </a:lnSpc>
            </a:pP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Vicerrectoría</a:t>
            </a: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Académica</a:t>
            </a:r>
            <a:endParaRPr lang="en-US" sz="2753" spc="-55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488"/>
              </a:lnSpc>
            </a:pP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Escuela de </a:t>
            </a: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Ciencias</a:t>
            </a: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Exactas y Naturales</a:t>
            </a:r>
          </a:p>
          <a:p>
            <a:pPr algn="ctr">
              <a:lnSpc>
                <a:spcPts val="4488"/>
              </a:lnSpc>
            </a:pP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Cátedra</a:t>
            </a: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TIC e </a:t>
            </a: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Ingeniería</a:t>
            </a:r>
            <a:endParaRPr lang="en-US" sz="2753" spc="-55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488"/>
              </a:lnSpc>
            </a:pP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Proyecto No. 1</a:t>
            </a:r>
          </a:p>
          <a:p>
            <a:pPr algn="ctr">
              <a:lnSpc>
                <a:spcPts val="4488"/>
              </a:lnSpc>
            </a:pP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Tema</a:t>
            </a: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: Sistema </a:t>
            </a: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operativo</a:t>
            </a: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vs </a:t>
            </a: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instalación</a:t>
            </a: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local. </a:t>
            </a: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Nuevos</a:t>
            </a: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retos</a:t>
            </a: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4488"/>
              </a:lnSpc>
            </a:pP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soporte</a:t>
            </a: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técnico</a:t>
            </a: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53" spc="-55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la era digital</a:t>
            </a:r>
          </a:p>
          <a:p>
            <a:pPr algn="ctr">
              <a:lnSpc>
                <a:spcPts val="4488"/>
              </a:lnSpc>
            </a:pP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03308</a:t>
            </a:r>
          </a:p>
          <a:p>
            <a:pPr algn="ctr">
              <a:lnSpc>
                <a:spcPts val="4488"/>
              </a:lnSpc>
            </a:pP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SOPORTE TÉCNICO</a:t>
            </a:r>
          </a:p>
          <a:p>
            <a:pPr algn="ctr">
              <a:lnSpc>
                <a:spcPts val="4488"/>
              </a:lnSpc>
            </a:pP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VALOR: 30 %</a:t>
            </a:r>
          </a:p>
          <a:p>
            <a:pPr algn="ctr">
              <a:lnSpc>
                <a:spcPts val="4488"/>
              </a:lnSpc>
            </a:pP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ESTUDIANTE: FRANCISO CAMPOS SANDI</a:t>
            </a:r>
          </a:p>
          <a:p>
            <a:pPr algn="ctr">
              <a:lnSpc>
                <a:spcPts val="4488"/>
              </a:lnSpc>
            </a:pP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IDENTIFICACIÓN: 114750560</a:t>
            </a:r>
          </a:p>
          <a:p>
            <a:pPr algn="ctr">
              <a:lnSpc>
                <a:spcPts val="4488"/>
              </a:lnSpc>
            </a:pP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TUTOR: DAGOBERTO MATARRITA PORRAS</a:t>
            </a:r>
          </a:p>
          <a:p>
            <a:pPr algn="ctr">
              <a:lnSpc>
                <a:spcPts val="4488"/>
              </a:lnSpc>
            </a:pP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GRUPO 02</a:t>
            </a:r>
          </a:p>
          <a:p>
            <a:pPr algn="ctr">
              <a:lnSpc>
                <a:spcPts val="4488"/>
              </a:lnSpc>
            </a:pP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CENTRO UNIVERSITARIO:</a:t>
            </a:r>
          </a:p>
          <a:p>
            <a:pPr algn="ctr">
              <a:lnSpc>
                <a:spcPts val="4488"/>
              </a:lnSpc>
            </a:pP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SAN VITO</a:t>
            </a:r>
          </a:p>
          <a:p>
            <a:pPr algn="ctr">
              <a:lnSpc>
                <a:spcPts val="4488"/>
              </a:lnSpc>
            </a:pPr>
            <a:r>
              <a:rPr lang="en-US" sz="2753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II CUATRIMESTRE, 2025</a:t>
            </a:r>
          </a:p>
          <a:p>
            <a:pPr algn="ctr">
              <a:lnSpc>
                <a:spcPts val="4488"/>
              </a:lnSpc>
            </a:pPr>
            <a:endParaRPr lang="en-US" sz="2753" spc="-55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6572634" y="-1565198"/>
            <a:ext cx="3735531" cy="373553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015041" y="8389571"/>
            <a:ext cx="3735531" cy="373553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8217" y="9258300"/>
            <a:ext cx="18476217" cy="1028700"/>
            <a:chOff x="0" y="0"/>
            <a:chExt cx="4866164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66164" cy="270933"/>
            </a:xfrm>
            <a:custGeom>
              <a:avLst/>
              <a:gdLst/>
              <a:ahLst/>
              <a:cxnLst/>
              <a:rect l="l" t="t" r="r" b="b"/>
              <a:pathLst>
                <a:path w="4866164" h="270933">
                  <a:moveTo>
                    <a:pt x="0" y="0"/>
                  </a:moveTo>
                  <a:lnTo>
                    <a:pt x="4866164" y="0"/>
                  </a:lnTo>
                  <a:lnTo>
                    <a:pt x="486616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6616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490725" y="732432"/>
            <a:ext cx="5748323" cy="1003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95"/>
              </a:lnSpc>
              <a:spcBef>
                <a:spcPct val="0"/>
              </a:spcBef>
            </a:pPr>
            <a:r>
              <a:rPr lang="en-US" sz="5854" dirty="0" err="1">
                <a:latin typeface="Montserrat Bold"/>
                <a:ea typeface="Montserrat Bold"/>
                <a:cs typeface="Montserrat Bold"/>
                <a:sym typeface="Montserrat Bold"/>
              </a:rPr>
              <a:t>Introducción</a:t>
            </a:r>
            <a:endParaRPr lang="en-US" sz="5854" dirty="0"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857311" y="2248486"/>
            <a:ext cx="10494490" cy="3364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88"/>
              </a:lnSpc>
              <a:spcBef>
                <a:spcPct val="0"/>
              </a:spcBef>
            </a:pP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Los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operativos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han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evolucionado</a:t>
            </a:r>
            <a:r>
              <a:rPr lang="en-US" sz="2348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muchísimo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los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últimos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años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pasando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estar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instalados</a:t>
            </a:r>
            <a:r>
              <a:rPr lang="en-US" sz="2348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únicamente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los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dispositivos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físicos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, a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existir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también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la</a:t>
            </a:r>
            <a:r>
              <a:rPr lang="en-US" sz="2348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nube,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esto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ha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traído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ventajas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desafíos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nuevas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formas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de trabajo</a:t>
            </a:r>
            <a:r>
              <a:rPr lang="en-US" sz="2348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tanto para los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usuarios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personal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técnico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, por lo que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esta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presentación</a:t>
            </a:r>
            <a:r>
              <a:rPr lang="en-US" sz="2348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se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explica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son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estos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operativos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cómo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funcionan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348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cuáles son sus pros y contras,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habilidades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necesitan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para</a:t>
            </a:r>
            <a:r>
              <a:rPr lang="en-US" sz="2348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manejarlos y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cómo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están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transformando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 mundo</a:t>
            </a:r>
            <a:r>
              <a:rPr lang="en-US" sz="2348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de la </a:t>
            </a:r>
            <a:r>
              <a:rPr lang="en-US" sz="2348" spc="-46" dirty="0" err="1">
                <a:latin typeface="Poppins"/>
                <a:ea typeface="Poppins"/>
                <a:cs typeface="Poppins"/>
                <a:sym typeface="Poppins"/>
              </a:rPr>
              <a:t>informática</a:t>
            </a:r>
            <a:r>
              <a:rPr lang="en-US" sz="2348" spc="-46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865435" y="-2660162"/>
            <a:ext cx="4693046" cy="469304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931064" y="3666422"/>
            <a:ext cx="5328236" cy="8012666"/>
            <a:chOff x="0" y="0"/>
            <a:chExt cx="660400" cy="9931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993118"/>
            </a:xfrm>
            <a:custGeom>
              <a:avLst/>
              <a:gdLst/>
              <a:ahLst/>
              <a:cxnLst/>
              <a:rect l="l" t="t" r="r" b="b"/>
              <a:pathLst>
                <a:path w="660400" h="993118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507"/>
                  </a:cubicBezTo>
                  <a:lnTo>
                    <a:pt x="660400" y="993118"/>
                  </a:lnTo>
                  <a:lnTo>
                    <a:pt x="0" y="993118"/>
                  </a:lnTo>
                  <a:lnTo>
                    <a:pt x="0" y="33299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88900"/>
              <a:ext cx="660400" cy="904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2558822" y="5108812"/>
            <a:ext cx="4072720" cy="4072720"/>
            <a:chOff x="0" y="0"/>
            <a:chExt cx="8916670" cy="8916670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8903970" cy="8903970"/>
            </a:xfrm>
            <a:custGeom>
              <a:avLst/>
              <a:gdLst/>
              <a:ahLst/>
              <a:cxnLst/>
              <a:rect l="l" t="t" r="r" b="b"/>
              <a:pathLst>
                <a:path w="8903970" h="8903970">
                  <a:moveTo>
                    <a:pt x="4451350" y="8903970"/>
                  </a:moveTo>
                  <a:cubicBezTo>
                    <a:pt x="1997710" y="8903970"/>
                    <a:pt x="0" y="6906260"/>
                    <a:pt x="0" y="4451350"/>
                  </a:cubicBezTo>
                  <a:cubicBezTo>
                    <a:pt x="0" y="1996440"/>
                    <a:pt x="1997710" y="0"/>
                    <a:pt x="4451350" y="0"/>
                  </a:cubicBezTo>
                  <a:cubicBezTo>
                    <a:pt x="6904990" y="0"/>
                    <a:pt x="8903970" y="1997710"/>
                    <a:pt x="8903970" y="4451350"/>
                  </a:cubicBezTo>
                  <a:cubicBezTo>
                    <a:pt x="8903970" y="6904990"/>
                    <a:pt x="6906260" y="8903970"/>
                    <a:pt x="4451350" y="8903970"/>
                  </a:cubicBezTo>
                  <a:close/>
                  <a:moveTo>
                    <a:pt x="4451350" y="19050"/>
                  </a:moveTo>
                  <a:cubicBezTo>
                    <a:pt x="2007870" y="19050"/>
                    <a:pt x="19050" y="2007870"/>
                    <a:pt x="19050" y="4451350"/>
                  </a:cubicBezTo>
                  <a:cubicBezTo>
                    <a:pt x="19050" y="6894830"/>
                    <a:pt x="2007870" y="8883650"/>
                    <a:pt x="4451350" y="8883650"/>
                  </a:cubicBezTo>
                  <a:cubicBezTo>
                    <a:pt x="6894830" y="8883650"/>
                    <a:pt x="8883650" y="6894830"/>
                    <a:pt x="8883650" y="4451350"/>
                  </a:cubicBezTo>
                  <a:cubicBezTo>
                    <a:pt x="8883650" y="2007870"/>
                    <a:pt x="6896100" y="19050"/>
                    <a:pt x="4451350" y="190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54940" y="154940"/>
              <a:ext cx="8605520" cy="8605520"/>
            </a:xfrm>
            <a:custGeom>
              <a:avLst/>
              <a:gdLst/>
              <a:ahLst/>
              <a:cxnLst/>
              <a:rect l="l" t="t" r="r" b="b"/>
              <a:pathLst>
                <a:path w="8605520" h="8605520">
                  <a:moveTo>
                    <a:pt x="8605520" y="4302760"/>
                  </a:moveTo>
                  <a:cubicBezTo>
                    <a:pt x="8605520" y="6678930"/>
                    <a:pt x="6678930" y="8605520"/>
                    <a:pt x="4302760" y="8605520"/>
                  </a:cubicBezTo>
                  <a:cubicBezTo>
                    <a:pt x="1926590" y="8605520"/>
                    <a:pt x="0" y="6680200"/>
                    <a:pt x="0" y="4302760"/>
                  </a:cubicBezTo>
                  <a:cubicBezTo>
                    <a:pt x="0" y="1925320"/>
                    <a:pt x="1926590" y="0"/>
                    <a:pt x="4302760" y="0"/>
                  </a:cubicBezTo>
                  <a:cubicBezTo>
                    <a:pt x="6678930" y="0"/>
                    <a:pt x="8605520" y="1926590"/>
                    <a:pt x="8605520" y="4302760"/>
                  </a:cubicBezTo>
                  <a:close/>
                </a:path>
              </a:pathLst>
            </a:custGeom>
            <a:blipFill>
              <a:blip r:embed="rId2"/>
              <a:stretch>
                <a:fillRect l="-24906" r="-24906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123905" y="3340632"/>
            <a:ext cx="8162330" cy="429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43"/>
              </a:lnSpc>
              <a:spcBef>
                <a:spcPct val="0"/>
              </a:spcBef>
            </a:pPr>
            <a:r>
              <a:rPr lang="en-US" sz="2030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Un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sistema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operativo</a:t>
            </a:r>
            <a:r>
              <a:rPr lang="en-US" sz="2000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 la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es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tener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una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computadora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 vive</a:t>
            </a:r>
            <a:r>
              <a:rPr lang="en-US" sz="2000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 Internet, se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puede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acceder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desde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cualquier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dispositivo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conexión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sin</a:t>
            </a:r>
            <a:r>
              <a:rPr lang="en-US" sz="2000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importar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es una laptop, tablet o hasta un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teléfono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este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tipo</a:t>
            </a:r>
            <a:r>
              <a:rPr lang="en-US" sz="2000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sistema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permite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usuario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trabaje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desde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cualquier</a:t>
            </a:r>
            <a:r>
              <a:rPr lang="en-US" sz="2000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parte y que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información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esté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siempre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actualizada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además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"un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sistema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operativo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gestiona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funcionamiento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00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la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ejecución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y los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procesos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 las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máquinas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virtuales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los</a:t>
            </a:r>
            <a:r>
              <a:rPr lang="en-US" sz="2000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servidores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virtuales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y la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infraestructura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virtual,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así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los</a:t>
            </a:r>
            <a:r>
              <a:rPr lang="en-US" sz="2000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recursos de hardware y software de back-end" (Rouse, 2024, párr.02), lo que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significa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</a:t>
            </a:r>
            <a:r>
              <a:rPr lang="en-US" sz="2000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no solo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sirve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abrir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documentos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sino</a:t>
            </a:r>
            <a:r>
              <a:rPr lang="en-US" sz="2000" spc="-4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que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controla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toda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la base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tecnológica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está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detrás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3905" y="2057603"/>
            <a:ext cx="12044560" cy="768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¿Qué es un sistema operativo en la nube?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66830" y="0"/>
            <a:ext cx="5021170" cy="10287000"/>
            <a:chOff x="0" y="0"/>
            <a:chExt cx="132244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2448" cy="2709333"/>
            </a:xfrm>
            <a:custGeom>
              <a:avLst/>
              <a:gdLst/>
              <a:ahLst/>
              <a:cxnLst/>
              <a:rect l="l" t="t" r="r" b="b"/>
              <a:pathLst>
                <a:path w="1322448" h="2709333">
                  <a:moveTo>
                    <a:pt x="0" y="0"/>
                  </a:moveTo>
                  <a:lnTo>
                    <a:pt x="1322448" y="0"/>
                  </a:lnTo>
                  <a:lnTo>
                    <a:pt x="13224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2244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09132" y="1222804"/>
            <a:ext cx="11339147" cy="1571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¿Cómo funciona un sistema ope</a:t>
            </a:r>
            <a:r>
              <a:rPr lang="en-US" sz="4500" b="1" u="none" strike="noStrik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rativo en la nube?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1595820" y="-1782102"/>
            <a:ext cx="3564204" cy="356420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09132" y="3420420"/>
            <a:ext cx="9006427" cy="2855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43"/>
              </a:lnSpc>
              <a:spcBef>
                <a:spcPct val="0"/>
              </a:spcBef>
            </a:pPr>
            <a:r>
              <a:rPr lang="en-US" sz="2030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Funci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ona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por medio de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servidores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remotos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que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hacen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trabajo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pesado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desde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centros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datos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mientras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el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usuario solo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necesita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una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conexión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estable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para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acceder a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todo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a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vez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"los sistemas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operativos en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la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funcionan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mediante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uso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servidores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remotos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donde los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usuarios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pueden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acceder a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estos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través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 una conexión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 Internet" (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TecnoDigital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2024, p.01), y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esto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hace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 los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procesos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sean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rápidos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seguros</a:t>
            </a:r>
            <a:r>
              <a:rPr lang="en-US" sz="2030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y flexibles.</a:t>
            </a:r>
          </a:p>
          <a:p>
            <a:pPr marL="0" lvl="0" indent="0" algn="just">
              <a:lnSpc>
                <a:spcPts val="2843"/>
              </a:lnSpc>
              <a:spcBef>
                <a:spcPct val="0"/>
              </a:spcBef>
            </a:pPr>
            <a:endParaRPr lang="en-US" sz="2030" u="none" strike="noStrike" spc="-40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4700679" y="7074186"/>
            <a:ext cx="5946973" cy="594697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36624" y="2938745"/>
            <a:ext cx="11402164" cy="711357"/>
          </a:xfrm>
          <a:custGeom>
            <a:avLst/>
            <a:gdLst/>
            <a:ahLst/>
            <a:cxnLst/>
            <a:rect l="l" t="t" r="r" b="b"/>
            <a:pathLst>
              <a:path w="11402164" h="711357">
                <a:moveTo>
                  <a:pt x="0" y="0"/>
                </a:moveTo>
                <a:lnTo>
                  <a:pt x="11402164" y="0"/>
                </a:lnTo>
                <a:lnTo>
                  <a:pt x="11402164" y="711357"/>
                </a:lnTo>
                <a:lnTo>
                  <a:pt x="0" y="711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6567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689588" y="5643420"/>
            <a:ext cx="2661498" cy="2367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34"/>
              </a:lnSpc>
              <a:spcBef>
                <a:spcPct val="0"/>
              </a:spcBef>
            </a:pPr>
            <a:r>
              <a:rPr lang="en-US" sz="1667" u="none" strike="noStrike" spc="-33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elit. Nullam laoreet risus fringilla, egestas elit a, consequat augue. Phasellus sollicitudin felis mi, quis egestas ex ornare sed.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2204" y="7686324"/>
            <a:ext cx="5841799" cy="1153755"/>
          </a:xfrm>
          <a:custGeom>
            <a:avLst/>
            <a:gdLst/>
            <a:ahLst/>
            <a:cxnLst/>
            <a:rect l="l" t="t" r="r" b="b"/>
            <a:pathLst>
              <a:path w="5841799" h="1153755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24860" y="7686324"/>
            <a:ext cx="5841799" cy="1153755"/>
          </a:xfrm>
          <a:custGeom>
            <a:avLst/>
            <a:gdLst/>
            <a:ahLst/>
            <a:cxnLst/>
            <a:rect l="l" t="t" r="r" b="b"/>
            <a:pathLst>
              <a:path w="5841799" h="1153755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13997" y="7686324"/>
            <a:ext cx="5841799" cy="1153755"/>
          </a:xfrm>
          <a:custGeom>
            <a:avLst/>
            <a:gdLst/>
            <a:ahLst/>
            <a:cxnLst/>
            <a:rect l="l" t="t" r="r" b="b"/>
            <a:pathLst>
              <a:path w="5841799" h="1153755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742934" y="2193745"/>
            <a:ext cx="5312862" cy="7450658"/>
            <a:chOff x="0" y="0"/>
            <a:chExt cx="1413587" cy="19823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3587" cy="1982388"/>
            </a:xfrm>
            <a:custGeom>
              <a:avLst/>
              <a:gdLst/>
              <a:ahLst/>
              <a:cxnLst/>
              <a:rect l="l" t="t" r="r" b="b"/>
              <a:pathLst>
                <a:path w="1413587" h="1982388">
                  <a:moveTo>
                    <a:pt x="64117" y="0"/>
                  </a:moveTo>
                  <a:lnTo>
                    <a:pt x="1349470" y="0"/>
                  </a:lnTo>
                  <a:cubicBezTo>
                    <a:pt x="1366475" y="0"/>
                    <a:pt x="1382783" y="6755"/>
                    <a:pt x="1394808" y="18779"/>
                  </a:cubicBezTo>
                  <a:cubicBezTo>
                    <a:pt x="1406832" y="30804"/>
                    <a:pt x="1413587" y="47112"/>
                    <a:pt x="1413587" y="64117"/>
                  </a:cubicBezTo>
                  <a:lnTo>
                    <a:pt x="1413587" y="1918271"/>
                  </a:lnTo>
                  <a:cubicBezTo>
                    <a:pt x="1413587" y="1935276"/>
                    <a:pt x="1406832" y="1951584"/>
                    <a:pt x="1394808" y="1963608"/>
                  </a:cubicBezTo>
                  <a:cubicBezTo>
                    <a:pt x="1382783" y="1975633"/>
                    <a:pt x="1366475" y="1982388"/>
                    <a:pt x="1349470" y="1982388"/>
                  </a:cubicBezTo>
                  <a:lnTo>
                    <a:pt x="64117" y="1982388"/>
                  </a:lnTo>
                  <a:cubicBezTo>
                    <a:pt x="47112" y="1982388"/>
                    <a:pt x="30804" y="1975633"/>
                    <a:pt x="18779" y="1963608"/>
                  </a:cubicBezTo>
                  <a:cubicBezTo>
                    <a:pt x="6755" y="1951584"/>
                    <a:pt x="0" y="1935276"/>
                    <a:pt x="0" y="1918271"/>
                  </a:cubicBezTo>
                  <a:lnTo>
                    <a:pt x="0" y="64117"/>
                  </a:lnTo>
                  <a:cubicBezTo>
                    <a:pt x="0" y="47112"/>
                    <a:pt x="6755" y="30804"/>
                    <a:pt x="18779" y="18779"/>
                  </a:cubicBezTo>
                  <a:cubicBezTo>
                    <a:pt x="30804" y="6755"/>
                    <a:pt x="47112" y="0"/>
                    <a:pt x="64117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13587" cy="2020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24860" y="2193745"/>
            <a:ext cx="6346683" cy="7450658"/>
            <a:chOff x="0" y="0"/>
            <a:chExt cx="1688655" cy="19823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88654" cy="1982388"/>
            </a:xfrm>
            <a:custGeom>
              <a:avLst/>
              <a:gdLst/>
              <a:ahLst/>
              <a:cxnLst/>
              <a:rect l="l" t="t" r="r" b="b"/>
              <a:pathLst>
                <a:path w="1688654" h="1982388">
                  <a:moveTo>
                    <a:pt x="53673" y="0"/>
                  </a:moveTo>
                  <a:lnTo>
                    <a:pt x="1634982" y="0"/>
                  </a:lnTo>
                  <a:cubicBezTo>
                    <a:pt x="1664624" y="0"/>
                    <a:pt x="1688654" y="24030"/>
                    <a:pt x="1688654" y="53673"/>
                  </a:cubicBezTo>
                  <a:lnTo>
                    <a:pt x="1688654" y="1928715"/>
                  </a:lnTo>
                  <a:cubicBezTo>
                    <a:pt x="1688654" y="1942950"/>
                    <a:pt x="1683000" y="1956602"/>
                    <a:pt x="1672934" y="1966667"/>
                  </a:cubicBezTo>
                  <a:cubicBezTo>
                    <a:pt x="1662868" y="1976733"/>
                    <a:pt x="1649217" y="1982388"/>
                    <a:pt x="1634982" y="1982388"/>
                  </a:cubicBezTo>
                  <a:lnTo>
                    <a:pt x="53673" y="1982388"/>
                  </a:lnTo>
                  <a:cubicBezTo>
                    <a:pt x="39438" y="1982388"/>
                    <a:pt x="25786" y="1976733"/>
                    <a:pt x="15720" y="1966667"/>
                  </a:cubicBezTo>
                  <a:cubicBezTo>
                    <a:pt x="5655" y="1956602"/>
                    <a:pt x="0" y="1942950"/>
                    <a:pt x="0" y="1928715"/>
                  </a:cubicBezTo>
                  <a:lnTo>
                    <a:pt x="0" y="53673"/>
                  </a:lnTo>
                  <a:cubicBezTo>
                    <a:pt x="0" y="39438"/>
                    <a:pt x="5655" y="25786"/>
                    <a:pt x="15720" y="15720"/>
                  </a:cubicBezTo>
                  <a:cubicBezTo>
                    <a:pt x="25786" y="5655"/>
                    <a:pt x="39438" y="0"/>
                    <a:pt x="53673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88655" cy="2020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32204" y="2193745"/>
            <a:ext cx="5841799" cy="7671544"/>
            <a:chOff x="0" y="0"/>
            <a:chExt cx="1554321" cy="20411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54321" cy="2041159"/>
            </a:xfrm>
            <a:custGeom>
              <a:avLst/>
              <a:gdLst/>
              <a:ahLst/>
              <a:cxnLst/>
              <a:rect l="l" t="t" r="r" b="b"/>
              <a:pathLst>
                <a:path w="1554321" h="2041159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982847"/>
                  </a:lnTo>
                  <a:cubicBezTo>
                    <a:pt x="1554321" y="1998312"/>
                    <a:pt x="1548177" y="2013144"/>
                    <a:pt x="1537241" y="2024080"/>
                  </a:cubicBezTo>
                  <a:cubicBezTo>
                    <a:pt x="1526306" y="2035015"/>
                    <a:pt x="1511474" y="2041159"/>
                    <a:pt x="1496009" y="2041159"/>
                  </a:cubicBezTo>
                  <a:lnTo>
                    <a:pt x="58312" y="2041159"/>
                  </a:lnTo>
                  <a:cubicBezTo>
                    <a:pt x="42846" y="2041159"/>
                    <a:pt x="28015" y="2035015"/>
                    <a:pt x="17079" y="2024080"/>
                  </a:cubicBezTo>
                  <a:cubicBezTo>
                    <a:pt x="6144" y="2013144"/>
                    <a:pt x="0" y="1998312"/>
                    <a:pt x="0" y="1982847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54321" cy="2079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2123887" y="-2346523"/>
            <a:ext cx="4693046" cy="469304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573718" y="7940477"/>
            <a:ext cx="4693046" cy="469304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85214" y="418493"/>
            <a:ext cx="15874086" cy="1775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51"/>
              </a:lnSpc>
              <a:spcBef>
                <a:spcPct val="0"/>
              </a:spcBef>
            </a:pPr>
            <a:r>
              <a:rPr lang="en-US" sz="5108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Ejemplos comunes de sistemas operativos en la nube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95061" y="2847054"/>
            <a:ext cx="5718936" cy="7254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05"/>
              </a:lnSpc>
              <a:spcBef>
                <a:spcPct val="0"/>
              </a:spcBef>
            </a:pP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Lo que hace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que AWS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destaque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es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flexibilidad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ya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permite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elegir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solo los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 se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necesitan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y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pagar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únicamente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por lo que se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usa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lo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cual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resulta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muy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conveniente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para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empresas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pequeñas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proyectos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están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empezando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además,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escalabilidad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automática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permite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 las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aplicaciones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funcionen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sin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interrupciones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incluso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cuando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hay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picos de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tráfico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demanda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por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eso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se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señala que "Amazon Web Services es una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colección integral de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proporciona una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variedad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funciones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desde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servidores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virtuales hasta bases de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datos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almacenamiento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 aprendizaje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automático" (Otero, 2023, párr.06), lo que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demuestra que AWS no solo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ofrece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soluciones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básicas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sino que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también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permite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desarrollar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proyectos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complejos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personalizados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adaptándose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distintos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perfiles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usuario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ctr">
              <a:lnSpc>
                <a:spcPts val="2705"/>
              </a:lnSpc>
              <a:spcBef>
                <a:spcPct val="0"/>
              </a:spcBef>
            </a:pPr>
            <a:endParaRPr lang="en-US" sz="1932" u="none" strike="noStrike" spc="-38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091561" y="2876089"/>
            <a:ext cx="4682550" cy="5869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05"/>
              </a:lnSpc>
              <a:spcBef>
                <a:spcPct val="0"/>
              </a:spcBef>
            </a:pPr>
            <a:r>
              <a:rPr lang="en-US" sz="1932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Est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 sistema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 ideal para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estudiantes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docentes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y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usuarios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pasan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la mayor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parte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del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tiempo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aplicaciones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web,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ya que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permite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acceder a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documentos, hojas de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cálculo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y presentaciones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sin necesidad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instalar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programas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pesados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además, se integra con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herramientas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como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Google Drive, Gmail y Google Meet, lo que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facilita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trabajo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colaborativo y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acceso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aunque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su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enfoque es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ligero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Azure o AWS, Chrome OS Cloud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ha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ganado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terreno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entornos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educativos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y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empresas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 buscan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soluciones simples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pero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32" u="none" strike="noStrike" spc="-3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efectivas</a:t>
            </a:r>
            <a:r>
              <a:rPr lang="en-US" sz="1932" u="none" strike="noStrike" spc="-3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31245" y="2343610"/>
            <a:ext cx="2877407" cy="38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00"/>
              </a:lnSpc>
              <a:spcBef>
                <a:spcPct val="0"/>
              </a:spcBef>
            </a:pPr>
            <a:r>
              <a:rPr lang="en-US" sz="2286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Micros</a:t>
            </a:r>
            <a:r>
              <a:rPr lang="en-US" sz="2286" u="none" strike="noStrike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oft Azure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904195" y="2343610"/>
            <a:ext cx="4479610" cy="38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00"/>
              </a:lnSpc>
              <a:spcBef>
                <a:spcPct val="0"/>
              </a:spcBef>
            </a:pPr>
            <a:r>
              <a:rPr lang="en-US" sz="2286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Amaz</a:t>
            </a:r>
            <a:r>
              <a:rPr lang="en-US" sz="2286" u="none" strike="noStrike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on Web Services (AWS)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885525" y="2343610"/>
            <a:ext cx="2877407" cy="38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00"/>
              </a:lnSpc>
              <a:spcBef>
                <a:spcPct val="0"/>
              </a:spcBef>
            </a:pPr>
            <a:r>
              <a:rPr lang="en-US" sz="2286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Chrome OS</a:t>
            </a:r>
            <a:r>
              <a:rPr lang="en-US" sz="2286" u="none" strike="noStrike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 Cloud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1010" y="2876089"/>
            <a:ext cx="5297877" cy="5728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45"/>
              </a:lnSpc>
              <a:spcBef>
                <a:spcPct val="0"/>
              </a:spcBef>
            </a:pPr>
            <a:r>
              <a:rPr lang="en-US" sz="2032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 </a:t>
            </a:r>
            <a:r>
              <a:rPr lang="en-US" sz="2032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resenta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como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una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plataforma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aún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robusta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que no solo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ofrece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escritorios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virtuales,sino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tambiénservicios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avanzados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como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inteligencia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artificial, análisis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datos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soluciones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empres-ariales, por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eso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afirma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 "Microsoft Azure es la respuesta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 Microsoft al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mundo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 la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nube,ofreciendo una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amplia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gama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servicios,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incluyendo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soluciones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 IA,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análisis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datos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o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computación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la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nube" (Otero, 2023, párr.09), lo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cual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evidencia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 no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trata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solo de un sistema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operativo,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sino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 un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ecosistema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completo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que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permite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a las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organizaciones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crecer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y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adaptarse a nuevas</a:t>
            </a:r>
            <a:r>
              <a:rPr lang="en-US" sz="203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necesidades </a:t>
            </a:r>
            <a:r>
              <a:rPr lang="en-US" sz="203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digitales</a:t>
            </a:r>
            <a:r>
              <a:rPr lang="en-US" sz="203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2204" y="7686324"/>
            <a:ext cx="5841799" cy="1153755"/>
          </a:xfrm>
          <a:custGeom>
            <a:avLst/>
            <a:gdLst/>
            <a:ahLst/>
            <a:cxnLst/>
            <a:rect l="l" t="t" r="r" b="b"/>
            <a:pathLst>
              <a:path w="5841799" h="1153755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24860" y="7686324"/>
            <a:ext cx="5841799" cy="1153755"/>
          </a:xfrm>
          <a:custGeom>
            <a:avLst/>
            <a:gdLst/>
            <a:ahLst/>
            <a:cxnLst/>
            <a:rect l="l" t="t" r="r" b="b"/>
            <a:pathLst>
              <a:path w="5841799" h="1153755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13997" y="7686324"/>
            <a:ext cx="5841799" cy="1153755"/>
          </a:xfrm>
          <a:custGeom>
            <a:avLst/>
            <a:gdLst/>
            <a:ahLst/>
            <a:cxnLst/>
            <a:rect l="l" t="t" r="r" b="b"/>
            <a:pathLst>
              <a:path w="5841799" h="1153755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224860" y="2904204"/>
            <a:ext cx="9348858" cy="5541098"/>
            <a:chOff x="0" y="0"/>
            <a:chExt cx="2487440" cy="14743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87440" cy="1474313"/>
            </a:xfrm>
            <a:custGeom>
              <a:avLst/>
              <a:gdLst/>
              <a:ahLst/>
              <a:cxnLst/>
              <a:rect l="l" t="t" r="r" b="b"/>
              <a:pathLst>
                <a:path w="2487440" h="1474313">
                  <a:moveTo>
                    <a:pt x="36437" y="0"/>
                  </a:moveTo>
                  <a:lnTo>
                    <a:pt x="2451003" y="0"/>
                  </a:lnTo>
                  <a:cubicBezTo>
                    <a:pt x="2460666" y="0"/>
                    <a:pt x="2469934" y="3839"/>
                    <a:pt x="2476767" y="10672"/>
                  </a:cubicBezTo>
                  <a:cubicBezTo>
                    <a:pt x="2483601" y="17505"/>
                    <a:pt x="2487440" y="26773"/>
                    <a:pt x="2487440" y="36437"/>
                  </a:cubicBezTo>
                  <a:lnTo>
                    <a:pt x="2487440" y="1437876"/>
                  </a:lnTo>
                  <a:cubicBezTo>
                    <a:pt x="2487440" y="1447540"/>
                    <a:pt x="2483601" y="1456808"/>
                    <a:pt x="2476767" y="1463641"/>
                  </a:cubicBezTo>
                  <a:cubicBezTo>
                    <a:pt x="2469934" y="1470475"/>
                    <a:pt x="2460666" y="1474313"/>
                    <a:pt x="2451003" y="1474313"/>
                  </a:cubicBezTo>
                  <a:lnTo>
                    <a:pt x="36437" y="1474313"/>
                  </a:lnTo>
                  <a:cubicBezTo>
                    <a:pt x="26773" y="1474313"/>
                    <a:pt x="17505" y="1470475"/>
                    <a:pt x="10672" y="1463641"/>
                  </a:cubicBezTo>
                  <a:cubicBezTo>
                    <a:pt x="3839" y="1456808"/>
                    <a:pt x="0" y="1447540"/>
                    <a:pt x="0" y="1437876"/>
                  </a:cubicBezTo>
                  <a:lnTo>
                    <a:pt x="0" y="36437"/>
                  </a:lnTo>
                  <a:cubicBezTo>
                    <a:pt x="0" y="26773"/>
                    <a:pt x="3839" y="17505"/>
                    <a:pt x="10672" y="10672"/>
                  </a:cubicBezTo>
                  <a:cubicBezTo>
                    <a:pt x="17505" y="3839"/>
                    <a:pt x="26773" y="0"/>
                    <a:pt x="36437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87440" cy="1512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2204" y="2904204"/>
            <a:ext cx="5841799" cy="5541098"/>
            <a:chOff x="0" y="0"/>
            <a:chExt cx="1554321" cy="14743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54321" cy="1474313"/>
            </a:xfrm>
            <a:custGeom>
              <a:avLst/>
              <a:gdLst/>
              <a:ahLst/>
              <a:cxnLst/>
              <a:rect l="l" t="t" r="r" b="b"/>
              <a:pathLst>
                <a:path w="1554321" h="1474313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416002"/>
                  </a:lnTo>
                  <a:cubicBezTo>
                    <a:pt x="1554321" y="1431467"/>
                    <a:pt x="1548177" y="1446299"/>
                    <a:pt x="1537241" y="1457234"/>
                  </a:cubicBezTo>
                  <a:cubicBezTo>
                    <a:pt x="1526306" y="1468170"/>
                    <a:pt x="1511474" y="1474313"/>
                    <a:pt x="1496009" y="1474313"/>
                  </a:cubicBezTo>
                  <a:lnTo>
                    <a:pt x="58312" y="1474313"/>
                  </a:lnTo>
                  <a:cubicBezTo>
                    <a:pt x="42846" y="1474313"/>
                    <a:pt x="28015" y="1468170"/>
                    <a:pt x="17079" y="1457234"/>
                  </a:cubicBezTo>
                  <a:cubicBezTo>
                    <a:pt x="6144" y="1446299"/>
                    <a:pt x="0" y="1431467"/>
                    <a:pt x="0" y="1416002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54321" cy="1512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123887" y="-2346523"/>
            <a:ext cx="4693046" cy="469304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573718" y="7940477"/>
            <a:ext cx="4693046" cy="469304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534610" y="3362191"/>
            <a:ext cx="6578502" cy="4650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3"/>
              </a:lnSpc>
              <a:spcBef>
                <a:spcPct val="0"/>
              </a:spcBef>
            </a:pPr>
            <a:r>
              <a:rPr lang="en-US" sz="2002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ambién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existen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plataformas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menos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conocidas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pero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igual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funcionales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como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SilveOS, que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simula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un escritorio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completo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desde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navegador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o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OnWorks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que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permite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ejecutar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operativos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Ubuntu o Fedora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directamente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en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línea,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estas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opciones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son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útiles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para quienes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quieren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probar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diferentes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entornos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sin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instalar nada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computadora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por lo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que,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todos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estos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ejemplos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muestran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 los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operativos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 la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no son una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moda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pasajera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sino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una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evolución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lógica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la forma de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trabajar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aprender y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comunicarse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y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cada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uno ofrece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características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distintas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que se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adaptan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diferentes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2" u="none" strike="noStrike" spc="-4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necesidades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y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2" u="none" strike="noStrike" spc="-4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contextos.</a:t>
            </a:r>
          </a:p>
        </p:txBody>
      </p:sp>
      <p:sp>
        <p:nvSpPr>
          <p:cNvPr id="18" name="Freeform 18"/>
          <p:cNvSpPr/>
          <p:nvPr/>
        </p:nvSpPr>
        <p:spPr>
          <a:xfrm>
            <a:off x="466307" y="3340311"/>
            <a:ext cx="5143500" cy="4114800"/>
          </a:xfrm>
          <a:custGeom>
            <a:avLst/>
            <a:gdLst/>
            <a:ahLst/>
            <a:cxnLst/>
            <a:rect l="l" t="t" r="r" b="b"/>
            <a:pathLst>
              <a:path w="5143500" h="4114800">
                <a:moveTo>
                  <a:pt x="0" y="0"/>
                </a:moveTo>
                <a:lnTo>
                  <a:pt x="5143500" y="0"/>
                </a:lnTo>
                <a:lnTo>
                  <a:pt x="5143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52968"/>
            <a:ext cx="14586028" cy="5720012"/>
            <a:chOff x="0" y="0"/>
            <a:chExt cx="3841588" cy="15065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1588" cy="1506505"/>
            </a:xfrm>
            <a:custGeom>
              <a:avLst/>
              <a:gdLst/>
              <a:ahLst/>
              <a:cxnLst/>
              <a:rect l="l" t="t" r="r" b="b"/>
              <a:pathLst>
                <a:path w="3841588" h="1506505">
                  <a:moveTo>
                    <a:pt x="9023" y="0"/>
                  </a:moveTo>
                  <a:lnTo>
                    <a:pt x="3832565" y="0"/>
                  </a:lnTo>
                  <a:cubicBezTo>
                    <a:pt x="3837548" y="0"/>
                    <a:pt x="3841588" y="4040"/>
                    <a:pt x="3841588" y="9023"/>
                  </a:cubicBezTo>
                  <a:lnTo>
                    <a:pt x="3841588" y="1497482"/>
                  </a:lnTo>
                  <a:cubicBezTo>
                    <a:pt x="3841588" y="1502465"/>
                    <a:pt x="3837548" y="1506505"/>
                    <a:pt x="3832565" y="1506505"/>
                  </a:cubicBezTo>
                  <a:lnTo>
                    <a:pt x="9023" y="1506505"/>
                  </a:lnTo>
                  <a:cubicBezTo>
                    <a:pt x="4040" y="1506505"/>
                    <a:pt x="0" y="1502465"/>
                    <a:pt x="0" y="1497482"/>
                  </a:cubicBezTo>
                  <a:lnTo>
                    <a:pt x="0" y="9023"/>
                  </a:lnTo>
                  <a:cubicBezTo>
                    <a:pt x="0" y="4040"/>
                    <a:pt x="4040" y="0"/>
                    <a:pt x="9023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841588" cy="1544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70420" y="895350"/>
            <a:ext cx="12276341" cy="2308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7"/>
              </a:lnSpc>
              <a:spcBef>
                <a:spcPct val="0"/>
              </a:spcBef>
            </a:pPr>
            <a:r>
              <a:rPr lang="en-US" sz="6605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un sistema operativo local?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573718" y="7940477"/>
            <a:ext cx="4693046" cy="469304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825806" y="4271067"/>
            <a:ext cx="13281255" cy="5188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03"/>
              </a:lnSpc>
            </a:pPr>
            <a:r>
              <a:rPr lang="en-US" sz="2073" spc="-41" dirty="0" err="1">
                <a:latin typeface="Poppins"/>
                <a:ea typeface="Poppins"/>
                <a:cs typeface="Poppins"/>
                <a:sym typeface="Poppins"/>
              </a:rPr>
              <a:t>Exi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sten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varios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operativos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y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plataformas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que se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usan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cada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vez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entornos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educativos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laborales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personales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uno de los más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conocidos es Windows 365, que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permite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tener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todo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entorno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escritorio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clásico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Windows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desde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cualquier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dispositivo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ya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sea una laptop, una tablet o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incluso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celular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este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sistema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es ideal para personas que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necesitan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trabajar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manera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remota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ya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conserva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configuraciones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accesos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documentos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estuvieran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su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propia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computadora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2903"/>
              </a:lnSpc>
            </a:pP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vez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plataformas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Microsoft Azure,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Amazon Web Services (AWS) y Google Cloud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han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ampliado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concepto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sistema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operativo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por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ejemplo, "Microsoft Azure es la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respuesta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Microsoft al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mundo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la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ofreciendo una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amplia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gama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incluyendo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soluciones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IA,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análisis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datos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o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computación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" (Otero, 2023, párr.09), lo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cual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demuestra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que no se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trata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solo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abrir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archivos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desde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la web,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sino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construir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administrar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soluciones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tecnológicas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completas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aparte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"Amazon Web Services es una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colección integral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proporciona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una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variedad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funciones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desde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servidores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virtuales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hasta bases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datos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almacenamiento y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aprendizaje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automático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“ (Otero, 2023, párr.06), lo que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evidencia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cómo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este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tipo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herramientas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están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cambiando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la forma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que se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usa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tecnología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cada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día.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656283" y="-2445901"/>
            <a:ext cx="15178802" cy="151788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007842" y="-1797460"/>
            <a:ext cx="13881919" cy="1388191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3399437"/>
            <a:ext cx="6033363" cy="2452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553"/>
              </a:lnSpc>
              <a:spcBef>
                <a:spcPct val="0"/>
              </a:spcBef>
            </a:pPr>
            <a:r>
              <a:rPr lang="en-US" sz="4680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un sistema operativo local?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1816147"/>
            <a:ext cx="8363298" cy="6086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22"/>
              </a:lnSpc>
            </a:pPr>
            <a:r>
              <a:rPr lang="en-US" sz="2015" spc="-40" dirty="0">
                <a:latin typeface="Poppins"/>
                <a:ea typeface="Poppins"/>
                <a:cs typeface="Poppins"/>
                <a:sym typeface="Poppins"/>
              </a:rPr>
              <a:t>Un </a:t>
            </a:r>
            <a:r>
              <a:rPr lang="en-US" sz="2015" spc="-40" dirty="0" err="1">
                <a:latin typeface="Poppins"/>
                <a:ea typeface="Poppins"/>
                <a:cs typeface="Poppins"/>
                <a:sym typeface="Poppins"/>
              </a:rPr>
              <a:t>sistema</a:t>
            </a:r>
            <a:r>
              <a:rPr lang="en-US" sz="2015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spc="-40" dirty="0" err="1">
                <a:latin typeface="Poppins"/>
                <a:ea typeface="Poppins"/>
                <a:cs typeface="Poppins"/>
                <a:sym typeface="Poppins"/>
              </a:rPr>
              <a:t>operativo</a:t>
            </a:r>
            <a:r>
              <a:rPr lang="en-US" sz="2015" spc="-40" dirty="0">
                <a:latin typeface="Poppins"/>
                <a:ea typeface="Poppins"/>
                <a:cs typeface="Poppins"/>
                <a:sym typeface="Poppins"/>
              </a:rPr>
              <a:t> l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ocal es aquel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que se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instala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directamente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dispositivo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utiliza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la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persona,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por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ejemplo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Windows 10, macOS, Ubuntu o Linux Mint,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estos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han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sido los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usados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durante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años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ya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que brindan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control total del hardware y no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dependen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de la conexión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a internet para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funcionar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además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permiten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instalación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de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programas de forma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directa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 lo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cual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sigue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siendo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útil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en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tareas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específicas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edición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de video o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programación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2822"/>
              </a:lnSpc>
            </a:pPr>
            <a:endParaRPr lang="en-US" sz="2015" u="none" strike="noStrike" spc="-40" dirty="0"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22"/>
              </a:lnSpc>
            </a:pP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Sin embargo, también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tienen sus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limitaciones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sobre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todo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contexto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actual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donde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movilidad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trabajo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en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línea son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cada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vez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importantes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 a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diferencia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de los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sistemas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 los locales no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permiten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acceder a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toda la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información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desde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cualquier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parte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 salvo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que se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realicen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configuraciones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avanzadas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uso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de VPNs, por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eso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 aunque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siguen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siendo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relevantes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muchos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usuarios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empresas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están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migrando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hacia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soluciones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híbridas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combinen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lo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mejor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de ambos</a:t>
            </a:r>
            <a:r>
              <a:rPr lang="en-US" sz="20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mundos.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7242" y="242294"/>
            <a:ext cx="17793515" cy="9802411"/>
            <a:chOff x="0" y="0"/>
            <a:chExt cx="4982580" cy="27448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2580" cy="2744893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052399" y="1683743"/>
            <a:ext cx="415437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949726" y="1523381"/>
            <a:ext cx="415437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54921" y="1683743"/>
            <a:ext cx="415437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54921" y="694707"/>
            <a:ext cx="15596228" cy="1571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Ventajas para el usuario final (sistemas en la nube)</a:t>
            </a:r>
          </a:p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endParaRPr lang="en-US" sz="4500" b="1">
              <a:solidFill>
                <a:srgbClr val="051D4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54921" y="2719030"/>
            <a:ext cx="14544655" cy="3573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14"/>
              </a:lnSpc>
            </a:pP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Una de las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principales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ventajas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para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usuario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es la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flexibilidad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ofrecen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estos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ya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permiten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trabajar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desde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cualquier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lugar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mundo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sin depender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de una sola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computadora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además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todo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guarda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automáticamente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por lo que se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reduce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riesgo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perder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archivos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importantes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también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facilita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trabajo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colaborativo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ya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varias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personas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pueden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acceder a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documentos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compartidos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al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mismo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tiempo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2814"/>
              </a:lnSpc>
            </a:pPr>
            <a:endParaRPr lang="en-US" sz="2010" u="none" strike="noStrike" spc="-40" dirty="0"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14"/>
              </a:lnSpc>
            </a:pP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No obstante, es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importante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tomar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cuenta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que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esta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facilidad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acceso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puede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generar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confusiones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sobre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todo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personas que no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están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tan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familiarizadas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con la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tecnología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este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sentido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"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usuario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final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puede no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tener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conocimiento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necesario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o mal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utilizar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el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equipo" (Horan et al., 2025, p.01), lo que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puede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llevar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errores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borrado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accidental de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información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o mal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uso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cuentas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compartidas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. Por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eso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aunque la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es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muy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útil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también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requiere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usuario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tenga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al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menos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conocimientos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básicos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para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evitar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complicaciones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7242" y="242294"/>
            <a:ext cx="17793515" cy="9802411"/>
            <a:chOff x="0" y="0"/>
            <a:chExt cx="4982580" cy="27448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2580" cy="2744893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052399" y="1683743"/>
            <a:ext cx="415437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949726" y="1523381"/>
            <a:ext cx="415437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54921" y="1683743"/>
            <a:ext cx="415437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54921" y="694707"/>
            <a:ext cx="15596228" cy="1571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Desventajas para el usuario final</a:t>
            </a:r>
          </a:p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endParaRPr lang="en-US" sz="4500" b="1">
              <a:solidFill>
                <a:srgbClr val="051D4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54921" y="2719030"/>
            <a:ext cx="14544655" cy="3573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14"/>
              </a:lnSpc>
            </a:pP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Aunque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tener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todo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parece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ideal,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existen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riesgos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y desventajas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que se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deben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considerar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por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ejemplo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no hay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conexión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a internet 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esta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es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muy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lenta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el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sistema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operativo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puede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volverse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inestable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inaccesible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esto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puede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frustrar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al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usuario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sobre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todo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depende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de ese acceso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para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entregar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trabajos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asistir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clases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realizar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tareas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importantes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tiempo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real.</a:t>
            </a:r>
          </a:p>
          <a:p>
            <a:pPr algn="just">
              <a:lnSpc>
                <a:spcPts val="2814"/>
              </a:lnSpc>
            </a:pPr>
            <a:endParaRPr lang="en-US" sz="2010" u="none" strike="noStrike" spc="-40" dirty="0"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14"/>
              </a:lnSpc>
            </a:pP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También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existen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preocupaciones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sobre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la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privacidad,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ya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que al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almacenar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archivos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servidores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externos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hay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quienes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sienten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pierden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control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sobre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información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a su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vez,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muchos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tienen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planes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gratuitos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limitados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lo que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obliga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al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usuario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pagar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por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funciones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adicionales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por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estas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razones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es clave que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usuario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tenga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claro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cómo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funciona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sistema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, y que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sepa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proteger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sus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datos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buenas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prácticas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uso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contraseñas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seguras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copias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10" u="none" strike="noStrike" spc="-40" dirty="0" err="1">
                <a:latin typeface="Poppins"/>
                <a:ea typeface="Poppins"/>
                <a:cs typeface="Poppins"/>
                <a:sym typeface="Poppins"/>
              </a:rPr>
              <a:t>respaldo</a:t>
            </a:r>
            <a:r>
              <a:rPr lang="en-US" sz="2010" u="none" strike="noStrike" spc="-40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8990215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2832861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24000" y="2478230"/>
            <a:ext cx="15633535" cy="4664665"/>
            <a:chOff x="0" y="0"/>
            <a:chExt cx="4117474" cy="1228554"/>
          </a:xfrm>
          <a:solidFill>
            <a:schemeClr val="bg1"/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4117474" cy="1228554"/>
            </a:xfrm>
            <a:custGeom>
              <a:avLst/>
              <a:gdLst/>
              <a:ahLst/>
              <a:cxnLst/>
              <a:rect l="l" t="t" r="r" b="b"/>
              <a:pathLst>
                <a:path w="4117474" h="1228554">
                  <a:moveTo>
                    <a:pt x="0" y="0"/>
                  </a:moveTo>
                  <a:lnTo>
                    <a:pt x="4117474" y="0"/>
                  </a:lnTo>
                  <a:lnTo>
                    <a:pt x="4117474" y="1228554"/>
                  </a:lnTo>
                  <a:lnTo>
                    <a:pt x="0" y="1228554"/>
                  </a:lnTo>
                  <a:close/>
                </a:path>
              </a:pathLst>
            </a:custGeom>
            <a:grpFill/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17474" cy="126665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61529" y="592713"/>
            <a:ext cx="11622449" cy="160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22"/>
              </a:lnSpc>
              <a:spcBef>
                <a:spcPct val="0"/>
              </a:spcBef>
            </a:pPr>
            <a:r>
              <a:rPr lang="en-US" sz="465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VENTAJAS PARA EL TÉCNICO DE SOPORTE TI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19507" y="2932628"/>
            <a:ext cx="13648986" cy="357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12"/>
              </a:lnSpc>
              <a:spcBef>
                <a:spcPct val="0"/>
              </a:spcBef>
            </a:pPr>
            <a:r>
              <a:rPr lang="en-US" sz="2008" spc="-40" dirty="0">
                <a:latin typeface="Poppins"/>
                <a:ea typeface="Poppins"/>
                <a:cs typeface="Poppins"/>
                <a:sym typeface="Poppins"/>
              </a:rPr>
              <a:t>Pa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ra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personal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técnico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, los sistemas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operativos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ofrecen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muchas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ventajas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, la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notable es la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posibilidad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de acceder a las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configuraciones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de los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usuarios sin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tener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estar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físicamente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frente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a sus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computadoras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, lo que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agiliza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trabajo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y reduce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costos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además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, permite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centralizar la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administración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múltiples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dispositivos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, y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aplicar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soluciones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distancia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con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menos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esfuerzo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just">
              <a:lnSpc>
                <a:spcPts val="2812"/>
              </a:lnSpc>
              <a:spcBef>
                <a:spcPct val="0"/>
              </a:spcBef>
            </a:pPr>
            <a:endParaRPr lang="en-US" sz="2008" u="none" strike="noStrike" spc="-4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812"/>
              </a:lnSpc>
              <a:spcBef>
                <a:spcPct val="0"/>
              </a:spcBef>
            </a:pP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Asimismo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, las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plataformas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integran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herramientas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que ayudan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prevenir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errores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generar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reportes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controlar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rendimiento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de los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esto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vuelve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trabajo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ordenado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predecible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permitiendo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técnico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enfoque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tareas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complejas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, al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mismo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tiempo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, se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facilita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escalamiento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de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proyectos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tecnológicos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porque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puede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aumentar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disminuir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la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capacidad sin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cambiar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físicamente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equipo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de los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usuarios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, lo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cual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optimiza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recursos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y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mejora la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eficiencia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8" u="none" strike="noStrike" spc="-40" dirty="0" err="1">
                <a:latin typeface="Poppins"/>
                <a:ea typeface="Poppins"/>
                <a:cs typeface="Poppins"/>
                <a:sym typeface="Poppins"/>
              </a:rPr>
              <a:t>operativa</a:t>
            </a:r>
            <a:r>
              <a:rPr lang="en-US" sz="2008" u="none" strike="noStrike" spc="-40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3560" y="342900"/>
            <a:ext cx="15885924" cy="9227971"/>
            <a:chOff x="0" y="0"/>
            <a:chExt cx="4448412" cy="2584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8412" cy="2584037"/>
            </a:xfrm>
            <a:custGeom>
              <a:avLst/>
              <a:gdLst/>
              <a:ahLst/>
              <a:cxnLst/>
              <a:rect l="l" t="t" r="r" b="b"/>
              <a:pathLst>
                <a:path w="4448412" h="2584037">
                  <a:moveTo>
                    <a:pt x="0" y="0"/>
                  </a:moveTo>
                  <a:lnTo>
                    <a:pt x="4448412" y="0"/>
                  </a:lnTo>
                  <a:lnTo>
                    <a:pt x="4448412" y="2584037"/>
                  </a:lnTo>
                  <a:lnTo>
                    <a:pt x="0" y="2584037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48412" cy="2622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42716" y="532982"/>
            <a:ext cx="14239618" cy="1971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2"/>
              </a:lnSpc>
              <a:spcBef>
                <a:spcPct val="0"/>
              </a:spcBef>
            </a:pPr>
            <a:r>
              <a:rPr lang="en-US" sz="5644" b="1" dirty="0" err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Desven</a:t>
            </a:r>
            <a:r>
              <a:rPr lang="en-US" sz="5644" b="1" u="none" strike="noStrike" dirty="0" err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tajas</a:t>
            </a:r>
            <a:r>
              <a:rPr lang="en-US" sz="5644" b="1" u="none" strike="noStrike" dirty="0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para </a:t>
            </a:r>
            <a:r>
              <a:rPr lang="en-US" sz="5644" b="1" u="none" strike="noStrike" dirty="0" err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</a:t>
            </a:r>
            <a:r>
              <a:rPr lang="en-US" sz="5644" b="1" u="none" strike="noStrike" dirty="0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644" b="1" u="none" strike="noStrike" dirty="0" err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técnico</a:t>
            </a:r>
            <a:r>
              <a:rPr lang="en-US" sz="5644" b="1" u="none" strike="noStrike" dirty="0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</a:t>
            </a:r>
            <a:r>
              <a:rPr lang="en-US" sz="5644" b="1" u="none" strike="noStrike" dirty="0" err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soporte</a:t>
            </a:r>
            <a:r>
              <a:rPr lang="en-US" sz="5644" b="1" u="none" strike="noStrike" dirty="0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22594" y="3153362"/>
            <a:ext cx="14479861" cy="393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43"/>
              </a:lnSpc>
              <a:spcBef>
                <a:spcPct val="0"/>
              </a:spcBef>
            </a:pPr>
            <a:r>
              <a:rPr lang="en-US" sz="2030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No </a:t>
            </a:r>
            <a:r>
              <a:rPr lang="en-US" sz="2030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todo</a:t>
            </a:r>
            <a:r>
              <a:rPr lang="en-US" sz="2030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es tan </a:t>
            </a:r>
            <a:r>
              <a:rPr lang="en-US" sz="2030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cómod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técnico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Vde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TI. Una de las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mayores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dificultades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es que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estas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plataformas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evolucionan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muy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rápido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lo que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obliga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estar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constantemente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aprendiendo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actualizando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conocimientos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explica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"los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profesionales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de TI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pueden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tener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dificultades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entender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nuevas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tecnologías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necesitar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capacitación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continua para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mejorar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sus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habilidades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" (Horan et al., 2025, p.01), lo que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puede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resultar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agotador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no se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cuenta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tiempo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ni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recursos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suficientes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just">
              <a:lnSpc>
                <a:spcPts val="2843"/>
              </a:lnSpc>
              <a:spcBef>
                <a:spcPct val="0"/>
              </a:spcBef>
            </a:pPr>
            <a:endParaRPr lang="en-US" sz="2030" u="none" strike="noStrike" spc="-40" dirty="0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843"/>
              </a:lnSpc>
              <a:spcBef>
                <a:spcPct val="0"/>
              </a:spcBef>
            </a:pP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También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hay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momentos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que los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fallan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por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razones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externas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problemas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los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servidores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de los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proveedores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y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técnico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no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tiene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control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directo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sobre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lo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cual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complica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resolución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de los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errores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aparte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es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necesario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desarrollar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habilidades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comunicación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ya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muchas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veces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soporte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se da 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usuarios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que no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entienden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vocabulario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técnico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y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puede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generar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malentendidos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por lo que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aunque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se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requiere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tanto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dominio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tecnológico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capacidad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humana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acompañar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al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usuario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todo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proceso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8829309"/>
            <a:ext cx="15885924" cy="1012763"/>
            <a:chOff x="0" y="0"/>
            <a:chExt cx="4448412" cy="2835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8412" cy="283596"/>
            </a:xfrm>
            <a:custGeom>
              <a:avLst/>
              <a:gdLst/>
              <a:ahLst/>
              <a:cxnLst/>
              <a:rect l="l" t="t" r="r" b="b"/>
              <a:pathLst>
                <a:path w="4448412" h="283596">
                  <a:moveTo>
                    <a:pt x="0" y="0"/>
                  </a:moveTo>
                  <a:lnTo>
                    <a:pt x="4448412" y="0"/>
                  </a:lnTo>
                  <a:lnTo>
                    <a:pt x="4448412" y="283596"/>
                  </a:lnTo>
                  <a:lnTo>
                    <a:pt x="0" y="283596"/>
                  </a:lnTo>
                  <a:close/>
                </a:path>
              </a:pathLst>
            </a:custGeom>
            <a:solidFill>
              <a:srgbClr val="145DA0">
                <a:alpha val="4862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448412" cy="321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10914" y="1193033"/>
            <a:ext cx="14453259" cy="7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Problemas comunes al dar soporte en la nube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1766494" y="9340175"/>
            <a:ext cx="21820987" cy="946825"/>
            <a:chOff x="0" y="0"/>
            <a:chExt cx="6110362" cy="2651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10362" cy="265132"/>
            </a:xfrm>
            <a:custGeom>
              <a:avLst/>
              <a:gdLst/>
              <a:ahLst/>
              <a:cxnLst/>
              <a:rect l="l" t="t" r="r" b="b"/>
              <a:pathLst>
                <a:path w="6110362" h="265132">
                  <a:moveTo>
                    <a:pt x="0" y="0"/>
                  </a:moveTo>
                  <a:lnTo>
                    <a:pt x="6110362" y="0"/>
                  </a:lnTo>
                  <a:lnTo>
                    <a:pt x="6110362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10362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766494" y="-816076"/>
            <a:ext cx="21820987" cy="1762900"/>
            <a:chOff x="0" y="0"/>
            <a:chExt cx="6110362" cy="4936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110362" cy="493651"/>
            </a:xfrm>
            <a:custGeom>
              <a:avLst/>
              <a:gdLst/>
              <a:ahLst/>
              <a:cxnLst/>
              <a:rect l="l" t="t" r="r" b="b"/>
              <a:pathLst>
                <a:path w="6110362" h="493651">
                  <a:moveTo>
                    <a:pt x="0" y="0"/>
                  </a:moveTo>
                  <a:lnTo>
                    <a:pt x="6110362" y="0"/>
                  </a:lnTo>
                  <a:lnTo>
                    <a:pt x="6110362" y="493651"/>
                  </a:lnTo>
                  <a:lnTo>
                    <a:pt x="0" y="493651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110362" cy="531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346468" y="2736140"/>
            <a:ext cx="13975471" cy="4072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03"/>
              </a:lnSpc>
            </a:pPr>
            <a:r>
              <a:rPr lang="en-US" sz="2073" spc="-41" dirty="0">
                <a:latin typeface="Poppins"/>
                <a:ea typeface="Poppins"/>
                <a:cs typeface="Poppins"/>
                <a:sym typeface="Poppins"/>
              </a:rPr>
              <a:t>Lo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problemas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comunes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que</a:t>
            </a:r>
            <a:r>
              <a:rPr lang="en-US" sz="2073" u="none" strike="noStrike" spc="-4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enfrenta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técnico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son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variados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desde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usuarios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olvidan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sus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contraseñas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hasta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archivos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mal</a:t>
            </a:r>
            <a:r>
              <a:rPr lang="en-US" sz="2073" u="none" strike="noStrike" spc="-4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sincronizados,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errores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conexión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conflictos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entre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aplicaciones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estos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fallos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pueden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parecer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sencillos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pero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interfieren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directamente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en</a:t>
            </a:r>
            <a:r>
              <a:rPr lang="en-US" sz="2073" u="none" strike="noStrike" spc="-4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las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tareas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del día a día,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sobre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todo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empresas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donde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maneja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información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crítica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también</a:t>
            </a:r>
            <a:r>
              <a:rPr lang="en-US" sz="2073" u="none" strike="noStrike" spc="-4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hay que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lidiar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problemas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permisos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cambios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configuración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bloqueos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por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errores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</a:t>
            </a:r>
            <a:r>
              <a:rPr lang="en-US" sz="2073" u="none" strike="noStrike" spc="-4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seguridad.</a:t>
            </a:r>
          </a:p>
          <a:p>
            <a:pPr algn="just">
              <a:lnSpc>
                <a:spcPts val="2903"/>
              </a:lnSpc>
            </a:pPr>
            <a:endParaRPr lang="en-US" sz="2073" u="none" strike="noStrike" spc="-41" dirty="0"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903"/>
              </a:lnSpc>
            </a:pP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ese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sentido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"los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problemas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comunes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soporte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técnico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están</a:t>
            </a:r>
            <a:r>
              <a:rPr lang="en-US" sz="2073" u="none" strike="noStrike" spc="-4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relacionados con las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tareas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habituales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los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empleados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suelen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estar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causados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por</a:t>
            </a:r>
            <a:r>
              <a:rPr lang="en-US" sz="2073" u="none" strike="noStrike" spc="-4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errores de hardware y software o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pequeñas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fallas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" (Wrobel, 2024, párr.16), lo que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confirma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técnico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tiene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estar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preparado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enfrentar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desde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lo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básico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hasta lo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complejo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no solo</a:t>
            </a:r>
            <a:r>
              <a:rPr lang="en-US" sz="2073" u="none" strike="noStrike" spc="-4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debe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conocer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entorno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tecnológico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sino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también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tener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paciencia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y saber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escuchar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entender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el</a:t>
            </a:r>
            <a:r>
              <a:rPr lang="en-US" sz="2073" u="none" strike="noStrike" spc="-4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contexto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cada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incidencia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656283" y="-2445901"/>
            <a:ext cx="15178802" cy="151788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007842" y="-1797460"/>
            <a:ext cx="13881919" cy="1388191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3399437"/>
            <a:ext cx="6033363" cy="2452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553"/>
              </a:lnSpc>
              <a:spcBef>
                <a:spcPct val="0"/>
              </a:spcBef>
            </a:pPr>
            <a:r>
              <a:rPr lang="en-US" sz="4680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Herramientas que necesita el técnico de soporte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1816147"/>
            <a:ext cx="8363298" cy="5727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22"/>
              </a:lnSpc>
            </a:pPr>
            <a:r>
              <a:rPr lang="en-US" sz="2015" spc="-40" dirty="0"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n-US" sz="2015" spc="-40" dirty="0" err="1">
                <a:latin typeface="Poppins"/>
                <a:ea typeface="Poppins"/>
                <a:cs typeface="Poppins"/>
                <a:sym typeface="Poppins"/>
              </a:rPr>
              <a:t>trabajo</a:t>
            </a:r>
            <a:r>
              <a:rPr lang="en-US" sz="2015" spc="-40" dirty="0">
                <a:latin typeface="Poppins"/>
                <a:ea typeface="Poppins"/>
                <a:cs typeface="Poppins"/>
                <a:sym typeface="Poppins"/>
              </a:rPr>
              <a:t> técnico</a:t>
            </a:r>
            <a:r>
              <a:rPr lang="en-US" sz="2015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spc="-40" dirty="0"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o se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puede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hacer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bien sin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herramientas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adecuadas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algunas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de las</a:t>
            </a:r>
            <a:r>
              <a:rPr lang="en-US" sz="2015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más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importantes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son las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consolas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administración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plataformas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Azure, AWS o Google Cloud, que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permiten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configurar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usuarios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15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monitorear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actividad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solucionar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problemas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desde</a:t>
            </a:r>
            <a:r>
              <a:rPr lang="en-US" sz="2015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cualquier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parte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también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usan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de diagnóstico</a:t>
            </a:r>
            <a:r>
              <a:rPr lang="en-US" sz="2015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remoto,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aplicaciones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de chat de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soporte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plataformas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documentación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colaborativa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2822"/>
              </a:lnSpc>
            </a:pPr>
            <a:endParaRPr lang="en-US" sz="2015" u="none" strike="noStrike" spc="-40" dirty="0"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22"/>
              </a:lnSpc>
            </a:pP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Aparte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de las</a:t>
            </a:r>
            <a:r>
              <a:rPr lang="en-US" sz="2015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herramientas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tecnológicas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técnico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debe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tener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conocimientos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básicos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redes,</a:t>
            </a:r>
            <a:r>
              <a:rPr lang="en-US" sz="2015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ciberseguridad y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operativos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variados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 tanto locales</a:t>
            </a:r>
            <a:r>
              <a:rPr lang="en-US" sz="2015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como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también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es clave saber documentar</a:t>
            </a:r>
            <a:r>
              <a:rPr lang="en-US" sz="2015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procesos,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generar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reportes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comunicarse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con el</a:t>
            </a:r>
            <a:r>
              <a:rPr lang="en-US" sz="2015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equipo de forma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clara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, a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todo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esto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suma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importancia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de</a:t>
            </a:r>
            <a:r>
              <a:rPr lang="en-US" sz="2015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saber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trabajar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bajo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presión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mantener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una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actitud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proactiva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poder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responder</a:t>
            </a:r>
            <a:r>
              <a:rPr lang="en-US" sz="2015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con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rapidez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eficacia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ante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cualquier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5" u="none" strike="noStrike" spc="-40" dirty="0" err="1">
                <a:latin typeface="Poppins"/>
                <a:ea typeface="Poppins"/>
                <a:cs typeface="Poppins"/>
                <a:sym typeface="Poppins"/>
              </a:rPr>
              <a:t>problema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 que se</a:t>
            </a:r>
            <a:r>
              <a:rPr lang="en-US" sz="2015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5" u="none" strike="noStrike" spc="-40" dirty="0">
                <a:latin typeface="Poppins"/>
                <a:ea typeface="Poppins"/>
                <a:cs typeface="Poppins"/>
                <a:sym typeface="Poppins"/>
              </a:rPr>
              <a:t>presente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69646"/>
            <a:ext cx="14586028" cy="6903334"/>
            <a:chOff x="0" y="0"/>
            <a:chExt cx="3841588" cy="18181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1588" cy="1818162"/>
            </a:xfrm>
            <a:custGeom>
              <a:avLst/>
              <a:gdLst/>
              <a:ahLst/>
              <a:cxnLst/>
              <a:rect l="l" t="t" r="r" b="b"/>
              <a:pathLst>
                <a:path w="3841588" h="1818162">
                  <a:moveTo>
                    <a:pt x="9023" y="0"/>
                  </a:moveTo>
                  <a:lnTo>
                    <a:pt x="3832565" y="0"/>
                  </a:lnTo>
                  <a:cubicBezTo>
                    <a:pt x="3837548" y="0"/>
                    <a:pt x="3841588" y="4040"/>
                    <a:pt x="3841588" y="9023"/>
                  </a:cubicBezTo>
                  <a:lnTo>
                    <a:pt x="3841588" y="1809139"/>
                  </a:lnTo>
                  <a:cubicBezTo>
                    <a:pt x="3841588" y="1814122"/>
                    <a:pt x="3837548" y="1818162"/>
                    <a:pt x="3832565" y="1818162"/>
                  </a:cubicBezTo>
                  <a:lnTo>
                    <a:pt x="9023" y="1818162"/>
                  </a:lnTo>
                  <a:cubicBezTo>
                    <a:pt x="4040" y="1818162"/>
                    <a:pt x="0" y="1814122"/>
                    <a:pt x="0" y="1809139"/>
                  </a:cubicBezTo>
                  <a:lnTo>
                    <a:pt x="0" y="9023"/>
                  </a:lnTo>
                  <a:cubicBezTo>
                    <a:pt x="0" y="4040"/>
                    <a:pt x="4040" y="0"/>
                    <a:pt x="9023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841588" cy="1856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70420" y="895350"/>
            <a:ext cx="15763198" cy="2308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7"/>
              </a:lnSpc>
            </a:pPr>
            <a:r>
              <a:rPr lang="en-US" sz="6605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Certificaciones que puede obtener</a:t>
            </a:r>
          </a:p>
          <a:p>
            <a:pPr algn="l">
              <a:lnSpc>
                <a:spcPts val="9247"/>
              </a:lnSpc>
              <a:spcBef>
                <a:spcPct val="0"/>
              </a:spcBef>
            </a:pPr>
            <a:endParaRPr lang="en-US" sz="6605" b="1">
              <a:solidFill>
                <a:srgbClr val="FDFDFD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5573718" y="7940477"/>
            <a:ext cx="4693046" cy="469304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26031" y="3355964"/>
            <a:ext cx="13281255" cy="4816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03"/>
              </a:lnSpc>
            </a:pPr>
            <a:r>
              <a:rPr lang="en-US" sz="2073" spc="-41" dirty="0" err="1"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mundo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digital que cambia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constantemente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las certificaciones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se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vuelven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una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herramienta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clave para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validar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conocimientos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abrir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puertas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laborales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para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quienes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comienzan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existen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credenciales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muy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útiles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CompTIA A+, que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enseña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sobre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hardware, software y redes, y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también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certificación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soporte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TI de Google, que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prepara para resolver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problemas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operativos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plataformas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virtuales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2903"/>
              </a:lnSpc>
            </a:pPr>
            <a:endParaRPr lang="en-US" sz="2073" u="none" strike="noStrike" spc="-41" dirty="0"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903"/>
              </a:lnSpc>
            </a:pP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Además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"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existen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credenciales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diseñadas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especialmente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principiantes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entre las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cuales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destacan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la CompTIA A+, la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certificación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soporte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TI de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Google, la CompTIA Network+,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certificado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fundamentos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Azure de Microsoft y la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certificación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HDI de técnico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soporte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escritorio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ya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estas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acreditaciones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desarrollan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habilidades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prácticas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conceptos de red,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atención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al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cliente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" (Jackins, 2025, p.01), lo que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muestra que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allá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de los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conocimientos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técnicos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también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valoran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competencias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empatía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, la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organización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y la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capacidad para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explicar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soluciones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 a personas que no son </a:t>
            </a:r>
            <a:r>
              <a:rPr lang="en-US" sz="2073" u="none" strike="noStrike" spc="-41" dirty="0" err="1">
                <a:latin typeface="Poppins"/>
                <a:ea typeface="Poppins"/>
                <a:cs typeface="Poppins"/>
                <a:sym typeface="Poppins"/>
              </a:rPr>
              <a:t>expertas</a:t>
            </a:r>
            <a:r>
              <a:rPr lang="en-US" sz="2073" u="none" strike="noStrike" spc="-41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66830" y="0"/>
            <a:ext cx="5021170" cy="10287000"/>
            <a:chOff x="0" y="0"/>
            <a:chExt cx="132244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2448" cy="2709333"/>
            </a:xfrm>
            <a:custGeom>
              <a:avLst/>
              <a:gdLst/>
              <a:ahLst/>
              <a:cxnLst/>
              <a:rect l="l" t="t" r="r" b="b"/>
              <a:pathLst>
                <a:path w="1322448" h="2709333">
                  <a:moveTo>
                    <a:pt x="0" y="0"/>
                  </a:moveTo>
                  <a:lnTo>
                    <a:pt x="1322448" y="0"/>
                  </a:lnTo>
                  <a:lnTo>
                    <a:pt x="13224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2244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74134" y="465478"/>
            <a:ext cx="11339147" cy="1571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Proyección a corto y mediano pl</a:t>
            </a:r>
            <a:r>
              <a:rPr lang="en-US" sz="4500" b="1" u="none" strike="noStrik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azo según los fabricantes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1595820" y="-1782102"/>
            <a:ext cx="3564204" cy="356420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74134" y="2175662"/>
            <a:ext cx="11884814" cy="752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43"/>
              </a:lnSpc>
              <a:spcBef>
                <a:spcPct val="0"/>
              </a:spcBef>
            </a:pPr>
            <a:r>
              <a:rPr lang="en-US" sz="2030" spc="-40" dirty="0">
                <a:latin typeface="Poppins"/>
                <a:ea typeface="Poppins"/>
                <a:cs typeface="Poppins"/>
                <a:sym typeface="Poppins"/>
              </a:rPr>
              <a:t>Las </a:t>
            </a:r>
            <a:r>
              <a:rPr lang="en-US" sz="2030" spc="-40" dirty="0" err="1">
                <a:latin typeface="Poppins"/>
                <a:ea typeface="Poppins"/>
                <a:cs typeface="Poppins"/>
                <a:sym typeface="Poppins"/>
              </a:rPr>
              <a:t>principales</a:t>
            </a:r>
            <a:r>
              <a:rPr lang="en-US" sz="2030" spc="-40" dirty="0">
                <a:latin typeface="Poppins"/>
                <a:ea typeface="Poppins"/>
                <a:cs typeface="Poppins"/>
                <a:sym typeface="Poppins"/>
              </a:rPr>
              <a:t> c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ompañías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tecnológicas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Microsoft, Google y Amazon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están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apostando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fuerte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al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crecimiento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 los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operativos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en la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 y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esto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está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notando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todas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partes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cada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vez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hay más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servicios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integrados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permiten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trabajar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estudiar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colaborar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desde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cualquier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lugar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 y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eso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está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impulsando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escuelas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 empresas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y hasta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gobiernos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consideren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migrar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parte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infraestructura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al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entorno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digital, por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ejemplo, Microsoft ha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fortalecido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ecosistema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con Azure, que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ofrece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soluciones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en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inteligencia artificial,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análisis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datos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automatización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ese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contexto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"Microsoft Azure es la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respuesta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 Microsoft al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mundo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 la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ofreciendo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una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amplia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gama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 incluyendo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soluciones de IA,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análisis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datos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 o computación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en la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" (Otero, 2023, párr.09), lo que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demuestra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enfoque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va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allá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del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almacenamiento,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apuntando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transformar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procesos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completos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just">
              <a:lnSpc>
                <a:spcPts val="2843"/>
              </a:lnSpc>
              <a:spcBef>
                <a:spcPct val="0"/>
              </a:spcBef>
            </a:pP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vez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 Amazon Web Services ha mantenido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su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liderazgo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gracias a la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variedad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herramientas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ofrece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desde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servidores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virtuales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hasta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avanzados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en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aprendizaje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automático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esto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significa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cada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vez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empresas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están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utilizando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este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tipo de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manejar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tareas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 gran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escala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 forma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eficiente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segura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por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eso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afirma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que "Amazon Web Services es una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colección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integral de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nube que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proporciona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una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variedad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funciones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servidores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virtuales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hasta bases de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datos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almacenamiento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aprendizaje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automático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" (Otero, 2023, párr.06), lo que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evidencia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que el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uso de la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no se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limita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guardar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archivos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sino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que es una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solución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integral que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transforma por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completo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la forma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operan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las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organizaciones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todo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esto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sugiere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que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los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próximos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años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uso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operativos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la nube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será lo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común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, y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cada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vez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personas los van a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utilizar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sin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darse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cuenta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 que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ya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están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latin typeface="Poppins"/>
                <a:ea typeface="Poppins"/>
                <a:cs typeface="Poppins"/>
                <a:sym typeface="Poppins"/>
              </a:rPr>
              <a:t>trabajando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 desde</a:t>
            </a:r>
            <a:r>
              <a:rPr lang="en-US" sz="240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u="none" strike="noStrike" spc="-40" dirty="0">
                <a:latin typeface="Poppins"/>
                <a:ea typeface="Poppins"/>
                <a:cs typeface="Poppins"/>
                <a:sym typeface="Poppins"/>
              </a:rPr>
              <a:t>ahí.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700679" y="7074186"/>
            <a:ext cx="5946973" cy="594697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20718"/>
            <a:ext cx="15885924" cy="9227971"/>
            <a:chOff x="0" y="0"/>
            <a:chExt cx="4448412" cy="2584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8412" cy="2584037"/>
            </a:xfrm>
            <a:custGeom>
              <a:avLst/>
              <a:gdLst/>
              <a:ahLst/>
              <a:cxnLst/>
              <a:rect l="l" t="t" r="r" b="b"/>
              <a:pathLst>
                <a:path w="4448412" h="2584037">
                  <a:moveTo>
                    <a:pt x="0" y="0"/>
                  </a:moveTo>
                  <a:lnTo>
                    <a:pt x="4448412" y="0"/>
                  </a:lnTo>
                  <a:lnTo>
                    <a:pt x="4448412" y="2584037"/>
                  </a:lnTo>
                  <a:lnTo>
                    <a:pt x="0" y="2584037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48412" cy="2622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42716" y="532982"/>
            <a:ext cx="14239618" cy="1971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2"/>
              </a:lnSpc>
              <a:spcBef>
                <a:spcPct val="0"/>
              </a:spcBef>
            </a:pPr>
            <a:r>
              <a:rPr lang="en-US" sz="5644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Impacto en el</a:t>
            </a:r>
            <a:r>
              <a:rPr lang="en-US" sz="5644" b="1" u="none" strike="noStrike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rol del técnico de soporte TI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31731" y="2722833"/>
            <a:ext cx="14479861" cy="529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43"/>
              </a:lnSpc>
              <a:spcBef>
                <a:spcPct val="0"/>
              </a:spcBef>
            </a:pPr>
            <a:r>
              <a:rPr lang="en-US" sz="2030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La </a:t>
            </a:r>
            <a:r>
              <a:rPr lang="en-US" sz="2030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evolución</a:t>
            </a:r>
            <a:r>
              <a:rPr lang="en-US" sz="2030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hacia</a:t>
            </a:r>
            <a:r>
              <a:rPr lang="en-US" sz="2030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30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perativos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está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cambiando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radicalmente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papel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desempeñan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los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técnicos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soporte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Ya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no basta con saber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instalar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programas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reparar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equipos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físicos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ahora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necesita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dominar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plataformas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digitales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conocer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sobre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redes,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entender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cómo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funcionan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los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servidores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remotos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brindar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soluciones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sin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estar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cara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cara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usuario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esta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transformación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exige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que los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técnicos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sean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versátiles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proactivos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creativos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y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también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puedan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comunicarse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manera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clara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con personas que no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tienen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conocimientos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técnicos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lo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cual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puede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ser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todo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reto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just">
              <a:lnSpc>
                <a:spcPts val="2843"/>
              </a:lnSpc>
              <a:spcBef>
                <a:spcPct val="0"/>
              </a:spcBef>
            </a:pPr>
            <a:endParaRPr lang="en-US" sz="2030" u="none" strike="noStrike" spc="-40" dirty="0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843"/>
              </a:lnSpc>
              <a:spcBef>
                <a:spcPct val="0"/>
              </a:spcBef>
            </a:pP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De la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misma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manera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panorama actual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obliga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a que los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técnicos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aprendan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constantemente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nuevas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herramientas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conceptos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porque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todo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cambia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muy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rápido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y la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tecnología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no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espera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ese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sentido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"la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rápida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expansión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mundo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digital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obliga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a los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equipos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de TI 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adoptar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nuevas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tecnologías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herramientas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hacer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frente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al panorama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cambio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" (Horan et al., 2025, p.01), y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implica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rol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técnico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vuelva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estratégico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ya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no es solo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arreglar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sino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prevenir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errores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planificar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soluciones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acompañar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a los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usuarios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adaptación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al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entorno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virtual,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técnico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logra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mantenerse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actualizado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desarrollar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habilidades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blandas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empatía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la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organización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y la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capacidad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enseñar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entonces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podrá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aprovechar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todas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las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oportunidades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vienen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esta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transformación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30" u="none" strike="noStrike" spc="-40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tecnológica</a:t>
            </a:r>
            <a:r>
              <a:rPr lang="en-US" sz="2030" u="none" strike="noStrike" spc="-40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8829309"/>
            <a:ext cx="15885924" cy="1012763"/>
            <a:chOff x="0" y="0"/>
            <a:chExt cx="4448412" cy="2835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8412" cy="283596"/>
            </a:xfrm>
            <a:custGeom>
              <a:avLst/>
              <a:gdLst/>
              <a:ahLst/>
              <a:cxnLst/>
              <a:rect l="l" t="t" r="r" b="b"/>
              <a:pathLst>
                <a:path w="4448412" h="283596">
                  <a:moveTo>
                    <a:pt x="0" y="0"/>
                  </a:moveTo>
                  <a:lnTo>
                    <a:pt x="4448412" y="0"/>
                  </a:lnTo>
                  <a:lnTo>
                    <a:pt x="4448412" y="283596"/>
                  </a:lnTo>
                  <a:lnTo>
                    <a:pt x="0" y="283596"/>
                  </a:lnTo>
                  <a:close/>
                </a:path>
              </a:pathLst>
            </a:custGeom>
            <a:solidFill>
              <a:srgbClr val="145DA0">
                <a:alpha val="4862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448412" cy="321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33468" y="712843"/>
            <a:ext cx="9621967" cy="123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16"/>
              </a:lnSpc>
              <a:spcBef>
                <a:spcPct val="0"/>
              </a:spcBef>
            </a:pPr>
            <a:r>
              <a:rPr lang="en-US" sz="7154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76715" y="2258868"/>
            <a:ext cx="13662398" cy="68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14"/>
              </a:lnSpc>
            </a:pP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conclusión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el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desarrollo de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este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permitió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comprender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que los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operativos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representan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una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evolución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significativa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en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la forma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que se accede, se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gestiona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y se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comparte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información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digital,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además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se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identificó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estas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tecnologías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ofrecen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soluciones flexibles,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dinámicas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adaptadas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a las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necesidades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actuales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asimismo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se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evidenció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que la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nube no solo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facilita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trabajo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remoto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sino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transforma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experiencia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informática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manera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profunda.</a:t>
            </a:r>
          </a:p>
          <a:p>
            <a:pPr algn="just">
              <a:lnSpc>
                <a:spcPts val="2814"/>
              </a:lnSpc>
            </a:pPr>
            <a:endParaRPr lang="en-US" sz="2010" spc="-40" dirty="0"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14"/>
              </a:lnSpc>
            </a:pP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Por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otra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parte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resultado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análisis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comparativo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se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concluye que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aunque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los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operativos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locales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siguen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siendo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funcionales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los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la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nube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superan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muchos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aspectos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accesibilidad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escalabilidad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colaboración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tiempo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real,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además,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esta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experiencia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permitió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reflexionar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sobre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cómo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las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herramientas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tecnológicas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deben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adaptarse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al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entorno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social y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laboral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actual, del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mismo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modo, se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reconoció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importancia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de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integrar ambos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modelos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híbridos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según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las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necesidades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particulares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2814"/>
              </a:lnSpc>
            </a:pPr>
            <a:endParaRPr lang="en-US" sz="2010" spc="-40" dirty="0">
              <a:latin typeface="Poppins"/>
              <a:ea typeface="Poppins"/>
              <a:cs typeface="Poppins"/>
              <a:sym typeface="Poppins"/>
            </a:endParaRPr>
          </a:p>
          <a:p>
            <a:pPr marL="0" lvl="1" indent="0" algn="just">
              <a:lnSpc>
                <a:spcPts val="2814"/>
              </a:lnSpc>
              <a:spcBef>
                <a:spcPct val="0"/>
              </a:spcBef>
            </a:pP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Finalmente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se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concluye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rol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técnico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soporte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ha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dejado de ser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exclusivamente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operativo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para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convertirse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una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figura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estratégica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dentro del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entorno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digital,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también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se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aprendió que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este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cambio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implica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asumir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nuevos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desafíos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la capacitación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continua,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dominio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plataformas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virtuales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desarrollo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habilidades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comunicativas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por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ende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este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dejó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una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enseñanza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clara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sobre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necesidad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prepararse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para un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mundo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cada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vez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conectado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exigente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dependiente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de la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tecnología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398912" y="0"/>
            <a:ext cx="5889088" cy="756959"/>
            <a:chOff x="0" y="0"/>
            <a:chExt cx="1551036" cy="1993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98912" y="9530041"/>
            <a:ext cx="5889088" cy="756959"/>
            <a:chOff x="0" y="0"/>
            <a:chExt cx="1551036" cy="1993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4925441" y="3609788"/>
            <a:ext cx="9392643" cy="9529477"/>
          </a:xfrm>
          <a:custGeom>
            <a:avLst/>
            <a:gdLst/>
            <a:ahLst/>
            <a:cxnLst/>
            <a:rect l="l" t="t" r="r" b="b"/>
            <a:pathLst>
              <a:path w="9392643" h="9529477">
                <a:moveTo>
                  <a:pt x="0" y="0"/>
                </a:moveTo>
                <a:lnTo>
                  <a:pt x="9392643" y="0"/>
                </a:lnTo>
                <a:lnTo>
                  <a:pt x="9392643" y="9529476"/>
                </a:lnTo>
                <a:lnTo>
                  <a:pt x="0" y="9529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28359" y="728621"/>
            <a:ext cx="10316183" cy="123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16"/>
              </a:lnSpc>
              <a:spcBef>
                <a:spcPct val="0"/>
              </a:spcBef>
            </a:pPr>
            <a:r>
              <a:rPr lang="en-US" sz="7154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RECOMENDACIONES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76715" y="2258868"/>
            <a:ext cx="13662398" cy="6086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14"/>
              </a:lnSpc>
            </a:pP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Primero, se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recomienda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que los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estudiantes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y profesionales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interesados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soporte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técnico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exploren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y se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inscriban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cursos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actualizados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sobre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entornos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virtuales,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plataformas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herramientas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diagnóstico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remoto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además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deben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familiarizarse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con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Azure, AWS y Google Cloud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desde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nivel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básico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asimismo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es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útil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practicar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con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entornos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simulados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versiones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gratuitas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adquirir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confianza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destrezas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reales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2814"/>
              </a:lnSpc>
            </a:pPr>
            <a:endParaRPr lang="en-US" sz="2010" spc="-40" dirty="0"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14"/>
              </a:lnSpc>
            </a:pP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Por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otra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parte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se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aconseja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obtener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certificaciones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reconocidas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acrediten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habilidades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técnicas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y de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atención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al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cliente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tales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CompTIA A+, Google IT Support,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Azure Fundamentals y la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certificación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HDI, del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mismo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modo, es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importante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dedicar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tiempo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a la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preparación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teórica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práctica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estas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credenciales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fortalecen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perfil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profesional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aumentan la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posibilidad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empleabilidad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demuestran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compromiso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aprendizaje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constante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2814"/>
              </a:lnSpc>
            </a:pPr>
            <a:endParaRPr lang="en-US" sz="2010" spc="-40" dirty="0">
              <a:latin typeface="Poppins"/>
              <a:ea typeface="Poppins"/>
              <a:cs typeface="Poppins"/>
              <a:sym typeface="Poppins"/>
            </a:endParaRPr>
          </a:p>
          <a:p>
            <a:pPr marL="0" lvl="1" indent="0" algn="just">
              <a:lnSpc>
                <a:spcPts val="2814"/>
              </a:lnSpc>
              <a:spcBef>
                <a:spcPct val="0"/>
              </a:spcBef>
            </a:pP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Finalmente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se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recomienda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implementar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buenas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prácticas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seguridad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respaldo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al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trabajar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usar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contraseñas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fuertes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activar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verificación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dos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pasos y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configurar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copias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automáticas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seguridad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de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igual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manera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se debe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promover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la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educación digital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usuarios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finales para que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conozcan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cómo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cuidar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sus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datos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además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fomentar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una</a:t>
            </a:r>
            <a:r>
              <a:rPr lang="en-US" sz="2010" spc="-4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cultura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tecnológica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responsable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colaborativa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facilita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una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transición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exitosa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al </a:t>
            </a:r>
            <a:r>
              <a:rPr lang="en-US" sz="2010" spc="-40" dirty="0" err="1">
                <a:latin typeface="Poppins"/>
                <a:ea typeface="Poppins"/>
                <a:cs typeface="Poppins"/>
                <a:sym typeface="Poppins"/>
              </a:rPr>
              <a:t>entorno</a:t>
            </a:r>
            <a:r>
              <a:rPr lang="en-US" sz="2010" spc="-40" dirty="0">
                <a:latin typeface="Poppins"/>
                <a:ea typeface="Poppins"/>
                <a:cs typeface="Poppins"/>
                <a:sym typeface="Poppins"/>
              </a:rPr>
              <a:t> virtual.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398912" y="0"/>
            <a:ext cx="5889088" cy="756959"/>
            <a:chOff x="0" y="0"/>
            <a:chExt cx="1551036" cy="1993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98912" y="9530041"/>
            <a:ext cx="5889088" cy="756959"/>
            <a:chOff x="0" y="0"/>
            <a:chExt cx="1551036" cy="1993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4925441" y="3609788"/>
            <a:ext cx="9392643" cy="9529477"/>
          </a:xfrm>
          <a:custGeom>
            <a:avLst/>
            <a:gdLst/>
            <a:ahLst/>
            <a:cxnLst/>
            <a:rect l="l" t="t" r="r" b="b"/>
            <a:pathLst>
              <a:path w="9392643" h="9529477">
                <a:moveTo>
                  <a:pt x="0" y="0"/>
                </a:moveTo>
                <a:lnTo>
                  <a:pt x="9392643" y="0"/>
                </a:lnTo>
                <a:lnTo>
                  <a:pt x="9392643" y="9529476"/>
                </a:lnTo>
                <a:lnTo>
                  <a:pt x="0" y="9529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8217" y="9258300"/>
            <a:ext cx="18476217" cy="1028700"/>
            <a:chOff x="0" y="0"/>
            <a:chExt cx="4866164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66164" cy="270933"/>
            </a:xfrm>
            <a:custGeom>
              <a:avLst/>
              <a:gdLst/>
              <a:ahLst/>
              <a:cxnLst/>
              <a:rect l="l" t="t" r="r" b="b"/>
              <a:pathLst>
                <a:path w="4866164" h="270933">
                  <a:moveTo>
                    <a:pt x="0" y="0"/>
                  </a:moveTo>
                  <a:lnTo>
                    <a:pt x="4866164" y="0"/>
                  </a:lnTo>
                  <a:lnTo>
                    <a:pt x="486616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6616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2918" y="476354"/>
            <a:ext cx="17343275" cy="9192294"/>
            <a:chOff x="0" y="0"/>
            <a:chExt cx="4567776" cy="24210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67776" cy="2421016"/>
            </a:xfrm>
            <a:custGeom>
              <a:avLst/>
              <a:gdLst/>
              <a:ahLst/>
              <a:cxnLst/>
              <a:rect l="l" t="t" r="r" b="b"/>
              <a:pathLst>
                <a:path w="4567776" h="2421016">
                  <a:moveTo>
                    <a:pt x="0" y="0"/>
                  </a:moveTo>
                  <a:lnTo>
                    <a:pt x="4567776" y="0"/>
                  </a:lnTo>
                  <a:lnTo>
                    <a:pt x="4567776" y="2421016"/>
                  </a:lnTo>
                  <a:lnTo>
                    <a:pt x="0" y="2421016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67776" cy="2459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944190" y="669322"/>
            <a:ext cx="5748323" cy="1003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95"/>
              </a:lnSpc>
              <a:spcBef>
                <a:spcPct val="0"/>
              </a:spcBef>
            </a:pPr>
            <a:r>
              <a:rPr lang="en-US" sz="5854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Bibliografía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059154"/>
            <a:ext cx="15579302" cy="533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88"/>
              </a:lnSpc>
              <a:spcBef>
                <a:spcPct val="0"/>
              </a:spcBef>
            </a:pP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Horan, B., Nucci, R., &amp; Sevilla, D. (2025). ¿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es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soporte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IT?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Funciones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Tipos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Herramientas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y Más [2025]. Guru | AI-Powered Enterprise Search, Intranet, and Wiki. https://www.getguru.com/es/reference/it-support</a:t>
            </a:r>
          </a:p>
          <a:p>
            <a:pPr algn="just">
              <a:lnSpc>
                <a:spcPts val="3288"/>
              </a:lnSpc>
              <a:spcBef>
                <a:spcPct val="0"/>
              </a:spcBef>
            </a:pP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Otero, E. (2023).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operativos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Profesional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Review. https://www.profesionalreview.com/2023/12/23/sistemas-operativos-en-la-nube/</a:t>
            </a:r>
          </a:p>
          <a:p>
            <a:pPr algn="just">
              <a:lnSpc>
                <a:spcPts val="3288"/>
              </a:lnSpc>
              <a:spcBef>
                <a:spcPct val="0"/>
              </a:spcBef>
            </a:pP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Rouse, M. (2024, 19 de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marzo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). Sistema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operativo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de la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. Techopedia. https://www.techopedia.com/es/definicion/sistema-operativo-nube</a:t>
            </a:r>
          </a:p>
          <a:p>
            <a:pPr algn="just">
              <a:lnSpc>
                <a:spcPts val="3288"/>
              </a:lnSpc>
              <a:spcBef>
                <a:spcPct val="0"/>
              </a:spcBef>
            </a:pP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TecnoDigital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. (2024, 15 de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noviembre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). ¿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son los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sistemas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operativos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?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Informática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Tecnología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Digital. https://informatecdigital.com/que-son-los-sistemas-operativos-en-la-nube/</a:t>
            </a:r>
          </a:p>
          <a:p>
            <a:pPr algn="just">
              <a:lnSpc>
                <a:spcPts val="3288"/>
              </a:lnSpc>
              <a:spcBef>
                <a:spcPct val="0"/>
              </a:spcBef>
            </a:pP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Trevor Jackins. (2025).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Splashtop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Splashtop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: Secure Remote Access &amp; Remote Support Software. https://www.splashtop.com/es/blog/10-must-have-certifications-for-it-support-pros</a:t>
            </a:r>
          </a:p>
          <a:p>
            <a:pPr algn="just">
              <a:lnSpc>
                <a:spcPts val="3288"/>
              </a:lnSpc>
              <a:spcBef>
                <a:spcPct val="0"/>
              </a:spcBef>
            </a:pP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Wrobel, M. (2024, 4 de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septiembre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). Los 14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problemas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comunes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soporte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técnico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cómo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resolverlos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348" spc="-46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InvGate</a:t>
            </a:r>
            <a:r>
              <a:rPr lang="en-US" sz="2348" spc="-46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ITSM blog - ITAM, ESM, ITIL, and more. https://blog.invgate.com/es/problemas-mas-comunes-de-soporte-tecnico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8D26138-6B26-4B19-BDBF-E8D80E8EBBB6}"/>
              </a:ext>
            </a:extLst>
          </p:cNvPr>
          <p:cNvSpPr txBox="1"/>
          <p:nvPr/>
        </p:nvSpPr>
        <p:spPr>
          <a:xfrm>
            <a:off x="1524000" y="1485900"/>
            <a:ext cx="155448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 dirty="0"/>
              <a:t>Link del video: </a:t>
            </a:r>
            <a:r>
              <a:rPr lang="es-MX" sz="5400" b="1" dirty="0">
                <a:hlinkClick r:id="rId2"/>
              </a:rPr>
              <a:t>VIDEO DEL PROYECTO 1</a:t>
            </a:r>
            <a:endParaRPr lang="es-MX" sz="5400" b="1" dirty="0"/>
          </a:p>
          <a:p>
            <a:endParaRPr lang="es-MX" sz="5400" b="1" dirty="0"/>
          </a:p>
          <a:p>
            <a:endParaRPr lang="es-CR" sz="5400" b="1" dirty="0"/>
          </a:p>
          <a:p>
            <a:endParaRPr lang="es-CR" sz="5400" b="1" dirty="0"/>
          </a:p>
          <a:p>
            <a:endParaRPr lang="es-CR" sz="5400" b="1" dirty="0"/>
          </a:p>
          <a:p>
            <a:endParaRPr lang="es-CR" sz="5400" b="1" dirty="0"/>
          </a:p>
          <a:p>
            <a:endParaRPr lang="es-CR" sz="5400" b="1" dirty="0"/>
          </a:p>
          <a:p>
            <a:endParaRPr lang="es-CR" sz="5400" b="1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E1E2B02-5941-46C3-83EC-5BF8DADE4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28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R" altLang="es-C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62FDA5C-040F-42F1-BE5B-5F6BE8079511}"/>
              </a:ext>
            </a:extLst>
          </p:cNvPr>
          <p:cNvSpPr txBox="1"/>
          <p:nvPr/>
        </p:nvSpPr>
        <p:spPr>
          <a:xfrm>
            <a:off x="1732919" y="4991100"/>
            <a:ext cx="75634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800" b="1" dirty="0">
                <a:hlinkClick r:id="rId3"/>
              </a:rPr>
              <a:t>https://drive.google.com/file/d/1ZEsPeBfxck-Si0qGlJcuMd3VQPYT6uAr/view</a:t>
            </a:r>
            <a:endParaRPr lang="es-MX" sz="1800" b="1" dirty="0"/>
          </a:p>
          <a:p>
            <a:endParaRPr lang="es-CR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39CD3B9-D0C2-4818-9FD1-E3D499A17691}"/>
              </a:ext>
            </a:extLst>
          </p:cNvPr>
          <p:cNvSpPr txBox="1"/>
          <p:nvPr/>
        </p:nvSpPr>
        <p:spPr>
          <a:xfrm>
            <a:off x="1981200" y="293370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2800" dirty="0">
                <a:hlinkClick r:id="rId4"/>
              </a:rPr>
              <a:t>https://youtu.be/03ZkUvHsmLs</a:t>
            </a:r>
            <a:endParaRPr lang="es-CR" sz="2800" dirty="0"/>
          </a:p>
        </p:txBody>
      </p:sp>
    </p:spTree>
    <p:extLst>
      <p:ext uri="{BB962C8B-B14F-4D97-AF65-F5344CB8AC3E}">
        <p14:creationId xmlns:p14="http://schemas.microsoft.com/office/powerpoint/2010/main" val="1421196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3690</Words>
  <Application>Microsoft Office PowerPoint</Application>
  <PresentationFormat>Personalizado</PresentationFormat>
  <Paragraphs>102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Montserrat Bold</vt:lpstr>
      <vt:lpstr>Montserrat</vt:lpstr>
      <vt:lpstr>Poppins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P.1_03308_FranciscoCamposSandi</dc:title>
  <dc:creator>antonio</dc:creator>
  <cp:lastModifiedBy>ANTONIO</cp:lastModifiedBy>
  <cp:revision>21</cp:revision>
  <dcterms:created xsi:type="dcterms:W3CDTF">2006-08-16T00:00:00Z</dcterms:created>
  <dcterms:modified xsi:type="dcterms:W3CDTF">2025-07-05T21:04:13Z</dcterms:modified>
  <dc:identifier>DAGr4yPV7lw</dc:identifier>
</cp:coreProperties>
</file>