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70" r:id="rId11"/>
    <p:sldId id="265" r:id="rId12"/>
    <p:sldId id="266" r:id="rId13"/>
  </p:sldIdLst>
  <p:sldSz cx="18288000" cy="10287000"/>
  <p:notesSz cx="6858000" cy="9144000"/>
  <p:embeddedFontLst>
    <p:embeddedFont>
      <p:font typeface="Aileron" panose="020B0604020202020204" charset="0"/>
      <p:regular r:id="rId14"/>
    </p:embeddedFont>
    <p:embeddedFont>
      <p:font typeface="Aileron Bold" panose="020B0604020202020204" charset="0"/>
      <p:regular r:id="rId15"/>
    </p:embeddedFont>
    <p:embeddedFont>
      <p:font typeface="Aileron Ultra-Bold" panose="020B0604020202020204" charset="0"/>
      <p:regular r:id="rId16"/>
    </p:embeddedFont>
    <p:embeddedFont>
      <p:font typeface="Arial" panose="020B0604020202020204" pitchFamily="34" charset="0"/>
      <p:regular r:id="rId17"/>
    </p:embeddedFont>
    <p:embeddedFont>
      <p:font typeface="Gill Sans MT" panose="020B0502020104020203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6669" y="1203448"/>
            <a:ext cx="12955610" cy="3812147"/>
          </a:xfrm>
        </p:spPr>
        <p:txBody>
          <a:bodyPr bIns="0" anchor="b">
            <a:normAutofit/>
          </a:bodyPr>
          <a:lstStyle>
            <a:lvl1pPr algn="l">
              <a:defRPr sz="99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26670" y="5296807"/>
            <a:ext cx="12955608" cy="1466432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700" b="0" cap="all" baseline="0">
                <a:solidFill>
                  <a:schemeClr val="tx1"/>
                </a:solidFill>
              </a:defRPr>
            </a:lvl1pPr>
            <a:lvl2pPr marL="685800" indent="0" algn="ctr">
              <a:buNone/>
              <a:defRPr sz="27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4751" y="493961"/>
            <a:ext cx="7460873" cy="46380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56497" y="1198460"/>
            <a:ext cx="1216529" cy="75536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3626670" y="5292813"/>
            <a:ext cx="1295560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285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45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1359" y="2634195"/>
            <a:ext cx="12964731" cy="2831925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1359" y="5709293"/>
            <a:ext cx="12945669" cy="1519394"/>
          </a:xfrm>
        </p:spPr>
        <p:txBody>
          <a:bodyPr tIns="91440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181359" y="5707478"/>
            <a:ext cx="1294566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3524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3826" y="1207334"/>
            <a:ext cx="14408453" cy="158895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70997" y="3016318"/>
            <a:ext cx="6967728" cy="51728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0657" y="3026015"/>
            <a:ext cx="6967728" cy="516228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952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0787" y="1206245"/>
            <a:ext cx="14411492" cy="158447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0787" y="3029324"/>
            <a:ext cx="6967728" cy="1202915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70787" y="4236404"/>
            <a:ext cx="6967728" cy="396668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18543" y="3034505"/>
            <a:ext cx="6967728" cy="12033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300" b="0" cap="all" baseline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18543" y="4232237"/>
            <a:ext cx="6967728" cy="39560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345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0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4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007" y="1198460"/>
            <a:ext cx="4909649" cy="337067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65571" y="1198461"/>
            <a:ext cx="9018705" cy="6988239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7007" y="4808237"/>
            <a:ext cx="4912520" cy="3372272"/>
          </a:xfrm>
        </p:spPr>
        <p:txBody>
          <a:bodyPr/>
          <a:lstStyle>
            <a:lvl1pPr marL="0" indent="0" algn="l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2172420" y="4808237"/>
            <a:ext cx="49042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72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1216081" y="723256"/>
            <a:ext cx="6111800" cy="7723652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6809" y="1694270"/>
            <a:ext cx="8298492" cy="27458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186584" y="1683814"/>
            <a:ext cx="4186757" cy="5799491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75494" y="4718988"/>
            <a:ext cx="8286606" cy="3005613"/>
          </a:xfrm>
        </p:spPr>
        <p:txBody>
          <a:bodyPr>
            <a:normAutofit/>
          </a:bodyPr>
          <a:lstStyle>
            <a:lvl1pPr marL="0" indent="0" algn="l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71074" y="8204785"/>
            <a:ext cx="8291027" cy="48018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71073" y="477961"/>
            <a:ext cx="8311506" cy="48139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2171074" y="4715408"/>
            <a:ext cx="8291027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401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2180844" y="2770632"/>
            <a:ext cx="144112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029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58667" y="1198460"/>
            <a:ext cx="2423613" cy="6989834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67008" y="1198460"/>
            <a:ext cx="11743245" cy="69898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158667" y="1198460"/>
            <a:ext cx="0" cy="6989834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28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029215"/>
            <a:ext cx="18288000" cy="615891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9189720"/>
            <a:ext cx="18288000" cy="11144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7369" y="1206779"/>
            <a:ext cx="14404913" cy="15738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7369" y="3023599"/>
            <a:ext cx="14404913" cy="5175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31208" y="495555"/>
            <a:ext cx="5251073" cy="463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7369" y="493961"/>
            <a:ext cx="8908254" cy="463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0091" y="1198460"/>
            <a:ext cx="1216529" cy="75536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42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9192620"/>
            <a:ext cx="18288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868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48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3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7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qi5Ef1eReM" TargetMode="Externa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prende.uned.ac.cr/mod/folder/view.php?id=359655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71949" y="655505"/>
            <a:ext cx="11744102" cy="8163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6"/>
              </a:lnSpc>
            </a:pP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Universidad </a:t>
            </a: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Estatal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Distancia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ctr">
              <a:lnSpc>
                <a:spcPts val="4026"/>
              </a:lnSpc>
            </a:pP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Vicerrectoría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Académica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ctr">
              <a:lnSpc>
                <a:spcPts val="4026"/>
              </a:lnSpc>
            </a:pP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Escuela De </a:t>
            </a: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Ciencias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Exactas Y Naturales </a:t>
            </a:r>
          </a:p>
          <a:p>
            <a:pPr algn="ctr">
              <a:lnSpc>
                <a:spcPts val="4026"/>
              </a:lnSpc>
            </a:pP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Cátedra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Tic E </a:t>
            </a: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Ingeniería</a:t>
            </a:r>
            <a:endParaRPr lang="en-US" sz="2876" dirty="0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4026"/>
              </a:lnSpc>
            </a:pP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Proyecto #2</a:t>
            </a:r>
          </a:p>
          <a:p>
            <a:pPr algn="ctr">
              <a:lnSpc>
                <a:spcPts val="4026"/>
              </a:lnSpc>
            </a:pPr>
            <a:endParaRPr lang="en-US" sz="2876" dirty="0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4026"/>
              </a:lnSpc>
            </a:pP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03029</a:t>
            </a:r>
          </a:p>
          <a:p>
            <a:pPr algn="ctr">
              <a:lnSpc>
                <a:spcPts val="4026"/>
              </a:lnSpc>
            </a:pP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Investigación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Operaciones</a:t>
            </a:r>
            <a:endParaRPr lang="en-US" sz="2876" dirty="0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4026"/>
              </a:lnSpc>
            </a:pP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lor: 30 %</a:t>
            </a:r>
          </a:p>
          <a:p>
            <a:pPr algn="ctr">
              <a:lnSpc>
                <a:spcPts val="4026"/>
              </a:lnSpc>
            </a:pP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Estudiante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Franciso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Campos Sandi </a:t>
            </a:r>
          </a:p>
          <a:p>
            <a:pPr algn="ctr">
              <a:lnSpc>
                <a:spcPts val="4026"/>
              </a:lnSpc>
            </a:pP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Identificación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: 114750560</a:t>
            </a:r>
          </a:p>
          <a:p>
            <a:pPr algn="ctr">
              <a:lnSpc>
                <a:spcPts val="4026"/>
              </a:lnSpc>
            </a:pP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Tutora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Belbeth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Obando </a:t>
            </a: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Garro</a:t>
            </a:r>
            <a:endParaRPr lang="en-US" sz="2876" dirty="0"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4026"/>
              </a:lnSpc>
            </a:pP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Grupo 04</a:t>
            </a:r>
          </a:p>
          <a:p>
            <a:pPr algn="ctr">
              <a:lnSpc>
                <a:spcPts val="4026"/>
              </a:lnSpc>
            </a:pP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Centro Universitario: San Vito</a:t>
            </a:r>
          </a:p>
          <a:p>
            <a:pPr algn="ctr">
              <a:lnSpc>
                <a:spcPts val="4026"/>
              </a:lnSpc>
            </a:pP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 II </a:t>
            </a:r>
            <a:r>
              <a:rPr lang="en-US" sz="2876" dirty="0" err="1">
                <a:latin typeface="Arial"/>
                <a:ea typeface="Arial"/>
                <a:cs typeface="Arial"/>
                <a:sym typeface="Arial"/>
              </a:rPr>
              <a:t>Cuatrimestre</a:t>
            </a:r>
            <a:r>
              <a:rPr lang="en-US" sz="2876" dirty="0">
                <a:latin typeface="Arial"/>
                <a:ea typeface="Arial"/>
                <a:cs typeface="Arial"/>
                <a:sym typeface="Arial"/>
              </a:rPr>
              <a:t>, 2025 </a:t>
            </a:r>
          </a:p>
          <a:p>
            <a:pPr algn="ctr">
              <a:lnSpc>
                <a:spcPts val="4026"/>
              </a:lnSpc>
            </a:pPr>
            <a:endParaRPr lang="en-US" sz="2876" dirty="0">
              <a:solidFill>
                <a:srgbClr val="1F7FC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496712" y="710010"/>
            <a:ext cx="11180147" cy="398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 dirty="0">
                <a:latin typeface="Aileron Bold"/>
                <a:ea typeface="Aileron Bold"/>
                <a:cs typeface="Aileron Bold"/>
                <a:sym typeface="Aileron Bold"/>
              </a:rPr>
              <a:t>INTRODUCCIÓN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8800" y="3009900"/>
            <a:ext cx="10209743" cy="3314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64"/>
              </a:lnSpc>
            </a:pP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presente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exposición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aborda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aplicación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teoría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colas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el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contexto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apliación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a un taller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mecánico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, 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partir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del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enfoque de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investigación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operaciones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, se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analiza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cómo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estas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herramientas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permiten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optimizar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procesos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clave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como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atención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 los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clientes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para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mejorar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el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servicio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. </a:t>
            </a:r>
          </a:p>
          <a:p>
            <a:pPr algn="just">
              <a:lnSpc>
                <a:spcPts val="2864"/>
              </a:lnSpc>
            </a:pP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El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objetivo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principal del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trabajo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es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evidenciar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cómo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la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modelación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matemática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y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toma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decisiones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estratégicas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pueden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mejorar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eficiencia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generando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beneficios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tanto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administrativos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y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mejorar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atención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. </a:t>
            </a:r>
          </a:p>
          <a:p>
            <a:pPr algn="just">
              <a:lnSpc>
                <a:spcPts val="2864"/>
              </a:lnSpc>
            </a:pPr>
            <a:endParaRPr lang="en-US" sz="2045" dirty="0">
              <a:latin typeface="Aileron"/>
              <a:ea typeface="Aileron"/>
              <a:cs typeface="Aileron"/>
              <a:sym typeface="Aileron"/>
            </a:endParaRPr>
          </a:p>
          <a:p>
            <a:pPr algn="just">
              <a:lnSpc>
                <a:spcPts val="2864"/>
              </a:lnSpc>
            </a:pPr>
            <a:endParaRPr lang="en-US" sz="2045" dirty="0"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48200" y="1714500"/>
            <a:ext cx="15495817" cy="437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62"/>
              </a:lnSpc>
            </a:pPr>
            <a:r>
              <a:rPr lang="en-US" sz="4400" b="1" dirty="0">
                <a:solidFill>
                  <a:srgbClr val="1F7FCF"/>
                </a:solidFill>
                <a:latin typeface="Aileron Bold"/>
                <a:ea typeface="Aileron Bold"/>
                <a:cs typeface="Aileron Bold"/>
                <a:sym typeface="Aileron Bold"/>
              </a:rPr>
              <a:t>¿QUÉ ES TEORÍA DE COLAS?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7800" y="2463052"/>
            <a:ext cx="15148211" cy="2198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64"/>
              </a:lnSpc>
            </a:pP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Permite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estudiar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el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comportamiento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desistemas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donde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se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forman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líneas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espera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,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misma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se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enfoca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analizar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tiempos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,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recursos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y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niveles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atención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“La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teoría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colas es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el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estudio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la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espera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las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distintas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modalidades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.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Utiliza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los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modelos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colas para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representar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los tipos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de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sistemas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líneas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espera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...”(S. Hillier &amp; J.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Lieberma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, 2010, p.708) lo que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muestra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que no es solo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teoría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,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sino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algo que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pasa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todos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los días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hospitales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,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bancos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,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supermercados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...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prácticamente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cualquier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servicio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.</a:t>
            </a:r>
          </a:p>
          <a:p>
            <a:pPr algn="l">
              <a:lnSpc>
                <a:spcPts val="2864"/>
              </a:lnSpc>
            </a:pPr>
            <a:endParaRPr lang="en-US" sz="2045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64"/>
              </a:lnSpc>
            </a:pPr>
            <a:endParaRPr lang="en-US" sz="2045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496712" y="710010"/>
            <a:ext cx="11180147" cy="84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</a:pPr>
            <a:r>
              <a:rPr lang="en-US" sz="2424" dirty="0">
                <a:latin typeface="Aileron Bold"/>
                <a:ea typeface="Aileron Bold"/>
                <a:cs typeface="Aileron Bold"/>
                <a:sym typeface="Aileron Bold"/>
              </a:rPr>
              <a:t>¿CUÁL ES LA ESTRUCTURA BÁSICA DE LOS MODELOS DE COLAS?</a:t>
            </a:r>
          </a:p>
          <a:p>
            <a:pPr algn="ctr">
              <a:lnSpc>
                <a:spcPts val="3394"/>
              </a:lnSpc>
            </a:pPr>
            <a:endParaRPr lang="en-US" sz="2424" dirty="0"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133600" y="2781300"/>
            <a:ext cx="12648143" cy="18268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Los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modelos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comienzan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con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llegada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los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clientes,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seguido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de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espera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la fila y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atención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los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clientes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"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entran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al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sistema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y se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unen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a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una cola."(S. Hillier &amp; J.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Lieberma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, 2010, p.709) es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decir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, no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todos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llegan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a la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vez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,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sino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que se van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sumando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poco a poco,</a:t>
            </a:r>
            <a:r>
              <a:rPr lang="en-US" sz="2045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 0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dando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inicio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a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este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proceso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el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que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después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entran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 y se </a:t>
            </a:r>
            <a:r>
              <a:rPr lang="en-US" sz="2045" dirty="0" err="1">
                <a:latin typeface="Aileron"/>
                <a:ea typeface="Aileron"/>
                <a:cs typeface="Aileron"/>
                <a:sym typeface="Aileron"/>
              </a:rPr>
              <a:t>analizan</a:t>
            </a:r>
            <a:r>
              <a:rPr lang="en-US" sz="2045" dirty="0">
                <a:latin typeface="Aileron"/>
                <a:ea typeface="Aileron"/>
                <a:cs typeface="Aileron"/>
                <a:sym typeface="Aileron"/>
              </a:rPr>
              <a:t>...</a:t>
            </a:r>
          </a:p>
          <a:p>
            <a:pPr algn="l">
              <a:lnSpc>
                <a:spcPts val="2864"/>
              </a:lnSpc>
            </a:pPr>
            <a:endParaRPr lang="en-US" sz="2045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810E36C-3802-4804-A1B7-D00FE4D82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399" y="4381500"/>
            <a:ext cx="11205681" cy="36576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4B2A036-D8AD-44FC-8730-6594381D512F}"/>
              </a:ext>
            </a:extLst>
          </p:cNvPr>
          <p:cNvSpPr txBox="1"/>
          <p:nvPr/>
        </p:nvSpPr>
        <p:spPr>
          <a:xfrm>
            <a:off x="4267200" y="8191500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Fuente: Imagen recuperada de material tema 6 </a:t>
            </a:r>
            <a:r>
              <a:rPr lang="es-CR" sz="1800" dirty="0"/>
              <a:t>(</a:t>
            </a:r>
            <a:r>
              <a:rPr lang="es-CR" sz="1800" dirty="0" err="1"/>
              <a:t>AprendeU</a:t>
            </a:r>
            <a:r>
              <a:rPr lang="es-CR" sz="1800" dirty="0"/>
              <a:t>, s. f.)</a:t>
            </a:r>
          </a:p>
          <a:p>
            <a:r>
              <a:rPr lang="es-MX" dirty="0"/>
              <a:t> </a:t>
            </a:r>
            <a:endParaRPr lang="es-CR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573172">
            <a:off x="-916707" y="3410132"/>
            <a:ext cx="4544573" cy="7144844"/>
            <a:chOff x="0" y="0"/>
            <a:chExt cx="5671566" cy="8916670"/>
          </a:xfrm>
        </p:grpSpPr>
        <p:sp>
          <p:nvSpPr>
            <p:cNvPr id="3" name="Freeform 3"/>
            <p:cNvSpPr/>
            <p:nvPr/>
          </p:nvSpPr>
          <p:spPr>
            <a:xfrm>
              <a:off x="155575" y="155575"/>
              <a:ext cx="5360416" cy="8605520"/>
            </a:xfrm>
            <a:custGeom>
              <a:avLst/>
              <a:gdLst/>
              <a:ahLst/>
              <a:cxnLst/>
              <a:rect l="l" t="t" r="r" b="b"/>
              <a:pathLst>
                <a:path w="5360416" h="8605520">
                  <a:moveTo>
                    <a:pt x="0" y="8605520"/>
                  </a:moveTo>
                  <a:lnTo>
                    <a:pt x="0" y="2626995"/>
                  </a:lnTo>
                  <a:cubicBezTo>
                    <a:pt x="13970" y="1525270"/>
                    <a:pt x="732790" y="529336"/>
                    <a:pt x="1788668" y="148971"/>
                  </a:cubicBezTo>
                  <a:cubicBezTo>
                    <a:pt x="1793240" y="147701"/>
                    <a:pt x="1800860" y="145542"/>
                    <a:pt x="1809877" y="141859"/>
                  </a:cubicBezTo>
                  <a:cubicBezTo>
                    <a:pt x="2089658" y="47879"/>
                    <a:pt x="2382393" y="0"/>
                    <a:pt x="2678684" y="0"/>
                  </a:cubicBezTo>
                  <a:lnTo>
                    <a:pt x="2681732" y="0"/>
                  </a:lnTo>
                  <a:cubicBezTo>
                    <a:pt x="2978150" y="0"/>
                    <a:pt x="3270758" y="47879"/>
                    <a:pt x="3550539" y="141859"/>
                  </a:cubicBezTo>
                  <a:cubicBezTo>
                    <a:pt x="3559556" y="145542"/>
                    <a:pt x="3567176" y="147701"/>
                    <a:pt x="3571748" y="148971"/>
                  </a:cubicBezTo>
                  <a:cubicBezTo>
                    <a:pt x="4627626" y="529209"/>
                    <a:pt x="5346319" y="1525143"/>
                    <a:pt x="5360416" y="2626995"/>
                  </a:cubicBezTo>
                  <a:lnTo>
                    <a:pt x="5360416" y="8605520"/>
                  </a:lnTo>
                  <a:lnTo>
                    <a:pt x="0" y="8605520"/>
                  </a:lnTo>
                  <a:close/>
                </a:path>
              </a:pathLst>
            </a:custGeom>
            <a:blipFill>
              <a:blip r:embed="rId3"/>
              <a:stretch>
                <a:fillRect l="-48188" r="-48188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6350" y="6350"/>
              <a:ext cx="5658866" cy="8903970"/>
            </a:xfrm>
            <a:custGeom>
              <a:avLst/>
              <a:gdLst/>
              <a:ahLst/>
              <a:cxnLst/>
              <a:rect l="l" t="t" r="r" b="b"/>
              <a:pathLst>
                <a:path w="5658866" h="8903970">
                  <a:moveTo>
                    <a:pt x="5658866" y="8903970"/>
                  </a:moveTo>
                  <a:lnTo>
                    <a:pt x="0" y="8903970"/>
                  </a:lnTo>
                  <a:lnTo>
                    <a:pt x="0" y="2774442"/>
                  </a:lnTo>
                  <a:cubicBezTo>
                    <a:pt x="14732" y="1610487"/>
                    <a:pt x="773176" y="559054"/>
                    <a:pt x="1887220" y="157734"/>
                  </a:cubicBezTo>
                  <a:lnTo>
                    <a:pt x="1898396" y="154178"/>
                  </a:lnTo>
                  <a:cubicBezTo>
                    <a:pt x="1899920" y="153797"/>
                    <a:pt x="1901571" y="153289"/>
                    <a:pt x="1903222" y="152654"/>
                  </a:cubicBezTo>
                  <a:lnTo>
                    <a:pt x="1911477" y="149606"/>
                  </a:lnTo>
                  <a:cubicBezTo>
                    <a:pt x="2207006" y="50292"/>
                    <a:pt x="2515362" y="0"/>
                    <a:pt x="2827909" y="0"/>
                  </a:cubicBezTo>
                  <a:lnTo>
                    <a:pt x="2830957" y="0"/>
                  </a:lnTo>
                  <a:cubicBezTo>
                    <a:pt x="3143504" y="0"/>
                    <a:pt x="3451860" y="50292"/>
                    <a:pt x="3747389" y="149733"/>
                  </a:cubicBezTo>
                  <a:lnTo>
                    <a:pt x="3755517" y="152781"/>
                  </a:lnTo>
                  <a:cubicBezTo>
                    <a:pt x="3757168" y="153416"/>
                    <a:pt x="3758946" y="153924"/>
                    <a:pt x="3760089" y="154305"/>
                  </a:cubicBezTo>
                  <a:lnTo>
                    <a:pt x="3771519" y="157861"/>
                  </a:lnTo>
                  <a:cubicBezTo>
                    <a:pt x="4885563" y="559181"/>
                    <a:pt x="5644007" y="1610614"/>
                    <a:pt x="5658739" y="2774315"/>
                  </a:cubicBezTo>
                  <a:lnTo>
                    <a:pt x="5658866" y="8903970"/>
                  </a:lnTo>
                  <a:close/>
                  <a:moveTo>
                    <a:pt x="19050" y="8884920"/>
                  </a:moveTo>
                  <a:lnTo>
                    <a:pt x="5639816" y="8884920"/>
                  </a:lnTo>
                  <a:lnTo>
                    <a:pt x="5639816" y="2774442"/>
                  </a:lnTo>
                  <a:cubicBezTo>
                    <a:pt x="5625211" y="1618742"/>
                    <a:pt x="4871720" y="574293"/>
                    <a:pt x="3765169" y="175768"/>
                  </a:cubicBezTo>
                  <a:lnTo>
                    <a:pt x="3755390" y="172720"/>
                  </a:lnTo>
                  <a:cubicBezTo>
                    <a:pt x="3753358" y="172085"/>
                    <a:pt x="3750818" y="171450"/>
                    <a:pt x="3748405" y="170434"/>
                  </a:cubicBezTo>
                  <a:lnTo>
                    <a:pt x="3741293" y="167767"/>
                  </a:lnTo>
                  <a:cubicBezTo>
                    <a:pt x="3447669" y="69088"/>
                    <a:pt x="3141472" y="19050"/>
                    <a:pt x="2830957" y="19050"/>
                  </a:cubicBezTo>
                  <a:lnTo>
                    <a:pt x="2827909" y="19050"/>
                  </a:lnTo>
                  <a:cubicBezTo>
                    <a:pt x="2517394" y="19050"/>
                    <a:pt x="2211197" y="69088"/>
                    <a:pt x="1917573" y="167767"/>
                  </a:cubicBezTo>
                  <a:lnTo>
                    <a:pt x="1910461" y="170434"/>
                  </a:lnTo>
                  <a:cubicBezTo>
                    <a:pt x="1908048" y="171450"/>
                    <a:pt x="1905635" y="172085"/>
                    <a:pt x="1903857" y="172593"/>
                  </a:cubicBezTo>
                  <a:lnTo>
                    <a:pt x="1893697" y="175768"/>
                  </a:lnTo>
                  <a:cubicBezTo>
                    <a:pt x="787146" y="574294"/>
                    <a:pt x="33782" y="1618742"/>
                    <a:pt x="19050" y="2774569"/>
                  </a:cubicBezTo>
                  <a:lnTo>
                    <a:pt x="19050" y="8884920"/>
                  </a:lnTo>
                  <a:close/>
                  <a:moveTo>
                    <a:pt x="5519166" y="8764270"/>
                  </a:moveTo>
                  <a:lnTo>
                    <a:pt x="139700" y="8764270"/>
                  </a:lnTo>
                  <a:lnTo>
                    <a:pt x="139700" y="2776220"/>
                  </a:lnTo>
                  <a:cubicBezTo>
                    <a:pt x="153670" y="1670304"/>
                    <a:pt x="875030" y="670941"/>
                    <a:pt x="1934591" y="289306"/>
                  </a:cubicBezTo>
                  <a:cubicBezTo>
                    <a:pt x="1940433" y="287655"/>
                    <a:pt x="1947291" y="285623"/>
                    <a:pt x="1955546" y="282321"/>
                  </a:cubicBezTo>
                  <a:cubicBezTo>
                    <a:pt x="2237232" y="187706"/>
                    <a:pt x="2530602" y="139700"/>
                    <a:pt x="2827909" y="139700"/>
                  </a:cubicBezTo>
                  <a:lnTo>
                    <a:pt x="2830957" y="139700"/>
                  </a:lnTo>
                  <a:cubicBezTo>
                    <a:pt x="3128391" y="139700"/>
                    <a:pt x="3421761" y="187579"/>
                    <a:pt x="3702812" y="282067"/>
                  </a:cubicBezTo>
                  <a:cubicBezTo>
                    <a:pt x="3711448" y="285496"/>
                    <a:pt x="3718433" y="287528"/>
                    <a:pt x="3723513" y="288925"/>
                  </a:cubicBezTo>
                  <a:cubicBezTo>
                    <a:pt x="4783836" y="670814"/>
                    <a:pt x="5505069" y="1670177"/>
                    <a:pt x="5519166" y="2775966"/>
                  </a:cubicBezTo>
                  <a:lnTo>
                    <a:pt x="5519166" y="8764270"/>
                  </a:lnTo>
                  <a:close/>
                  <a:moveTo>
                    <a:pt x="158750" y="8745220"/>
                  </a:moveTo>
                  <a:lnTo>
                    <a:pt x="5500116" y="8745220"/>
                  </a:lnTo>
                  <a:lnTo>
                    <a:pt x="5500116" y="2776220"/>
                  </a:lnTo>
                  <a:cubicBezTo>
                    <a:pt x="5486146" y="1678432"/>
                    <a:pt x="4769866" y="686181"/>
                    <a:pt x="3717798" y="307213"/>
                  </a:cubicBezTo>
                  <a:cubicBezTo>
                    <a:pt x="3712972" y="305943"/>
                    <a:pt x="3705352" y="303657"/>
                    <a:pt x="3696208" y="299974"/>
                  </a:cubicBezTo>
                  <a:cubicBezTo>
                    <a:pt x="3417570" y="206375"/>
                    <a:pt x="3126359" y="158750"/>
                    <a:pt x="2830957" y="158750"/>
                  </a:cubicBezTo>
                  <a:lnTo>
                    <a:pt x="2827909" y="158750"/>
                  </a:lnTo>
                  <a:cubicBezTo>
                    <a:pt x="2532634" y="158750"/>
                    <a:pt x="2241296" y="206375"/>
                    <a:pt x="1962023" y="300101"/>
                  </a:cubicBezTo>
                  <a:cubicBezTo>
                    <a:pt x="1953514" y="303530"/>
                    <a:pt x="1945894" y="305816"/>
                    <a:pt x="1940306" y="307340"/>
                  </a:cubicBezTo>
                  <a:cubicBezTo>
                    <a:pt x="889000" y="686054"/>
                    <a:pt x="172720" y="1678432"/>
                    <a:pt x="158750" y="2776347"/>
                  </a:cubicBezTo>
                  <a:lnTo>
                    <a:pt x="158750" y="87452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955594" y="1430298"/>
            <a:ext cx="14376812" cy="71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0"/>
              </a:lnSpc>
            </a:pP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El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objetivo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 principal es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optimizar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, se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busca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entender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 el</a:t>
            </a:r>
            <a:r>
              <a:rPr lang="en-US" sz="2400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comportamiento de las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filas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,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cuánto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tardan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 los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clientes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 ser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atendidos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,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cuántos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recursos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 hay</a:t>
            </a:r>
            <a:r>
              <a:rPr lang="en-US" sz="2400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disponibles y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cómo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usarlos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ea typeface="Aileron"/>
                <a:cs typeface="Aileron"/>
                <a:sym typeface="Aileron"/>
              </a:rPr>
              <a:t>mejor</a:t>
            </a:r>
            <a:r>
              <a:rPr lang="en-US" sz="2079" dirty="0">
                <a:latin typeface="Aileron"/>
                <a:ea typeface="Aileron"/>
                <a:cs typeface="Aileron"/>
                <a:sym typeface="Aileron"/>
              </a:rPr>
              <a:t>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16253" y="583247"/>
            <a:ext cx="15006421" cy="84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424" b="1" dirty="0">
                <a:latin typeface="Aileron Bold"/>
                <a:ea typeface="Aileron Bold"/>
                <a:cs typeface="Aileron Bold"/>
                <a:sym typeface="Aileron Bold"/>
              </a:rPr>
              <a:t>¿CUÁL ES EL OBJETIVO DE APLICAR LA TEORÍA DE COLAS EN INVESTIGACIÓN DE OPERACIONES?</a:t>
            </a:r>
          </a:p>
          <a:p>
            <a:pPr algn="l">
              <a:lnSpc>
                <a:spcPts val="3394"/>
              </a:lnSpc>
            </a:pPr>
            <a:endParaRPr lang="en-US" sz="2424" b="1" dirty="0"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407550" y="3034943"/>
            <a:ext cx="15006421" cy="843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424" b="1" dirty="0">
                <a:latin typeface="Aileron Bold"/>
                <a:ea typeface="Aileron Bold"/>
                <a:cs typeface="Aileron Bold"/>
                <a:sym typeface="Aileron Bold"/>
              </a:rPr>
              <a:t>¿QUÉ ES LA CADENA DE MARKOV?</a:t>
            </a:r>
          </a:p>
          <a:p>
            <a:pPr algn="l">
              <a:lnSpc>
                <a:spcPts val="3394"/>
              </a:lnSpc>
            </a:pPr>
            <a:endParaRPr lang="en-US" sz="2424" b="1" dirty="0">
              <a:solidFill>
                <a:srgbClr val="3591DD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407550" y="3830598"/>
            <a:ext cx="10550538" cy="294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0"/>
              </a:lnSpc>
            </a:pPr>
            <a:r>
              <a:rPr lang="en-US" sz="2079" dirty="0">
                <a:latin typeface="Aileron"/>
                <a:sym typeface="Aileron"/>
              </a:rPr>
              <a:t>Es una </a:t>
            </a:r>
            <a:r>
              <a:rPr lang="en-US" sz="2079" dirty="0" err="1">
                <a:latin typeface="Aileron"/>
                <a:sym typeface="Aileron"/>
              </a:rPr>
              <a:t>herramienta</a:t>
            </a:r>
            <a:r>
              <a:rPr lang="en-US" sz="2079" dirty="0">
                <a:solidFill>
                  <a:schemeClr val="bg1"/>
                </a:solidFill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matemática</a:t>
            </a:r>
            <a:r>
              <a:rPr lang="en-US" sz="2079" dirty="0">
                <a:latin typeface="Aileron"/>
                <a:sym typeface="Aileron"/>
              </a:rPr>
              <a:t> que </a:t>
            </a:r>
            <a:r>
              <a:rPr lang="en-US" sz="2079" dirty="0" err="1">
                <a:latin typeface="Aileron"/>
                <a:sym typeface="Aileron"/>
              </a:rPr>
              <a:t>permite</a:t>
            </a:r>
            <a:r>
              <a:rPr lang="en-US" sz="2079" dirty="0">
                <a:solidFill>
                  <a:schemeClr val="bg1"/>
                </a:solidFill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analizar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sistemas</a:t>
            </a:r>
            <a:r>
              <a:rPr lang="en-US" sz="2079" dirty="0">
                <a:latin typeface="Aileron"/>
                <a:sym typeface="Aileron"/>
              </a:rPr>
              <a:t> que </a:t>
            </a:r>
            <a:r>
              <a:rPr lang="en-US" sz="2079" dirty="0" err="1">
                <a:latin typeface="Aileron"/>
                <a:sym typeface="Aileron"/>
              </a:rPr>
              <a:t>cambian</a:t>
            </a:r>
            <a:r>
              <a:rPr lang="en-US" sz="2079" dirty="0">
                <a:latin typeface="Aileron"/>
                <a:sym typeface="Aileron"/>
              </a:rPr>
              <a:t> de </a:t>
            </a:r>
            <a:r>
              <a:rPr lang="en-US" sz="2079" dirty="0" err="1">
                <a:latin typeface="Aileron"/>
                <a:sym typeface="Aileron"/>
              </a:rPr>
              <a:t>estado</a:t>
            </a:r>
            <a:r>
              <a:rPr lang="en-US" sz="2079" dirty="0">
                <a:latin typeface="Aileron"/>
                <a:sym typeface="Aileron"/>
              </a:rPr>
              <a:t>, ideal para </a:t>
            </a:r>
            <a:r>
              <a:rPr lang="en-US" sz="2079" dirty="0" err="1">
                <a:latin typeface="Aileron"/>
                <a:sym typeface="Aileron"/>
              </a:rPr>
              <a:t>modelar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procesos</a:t>
            </a:r>
            <a:r>
              <a:rPr lang="en-US" sz="2079" dirty="0">
                <a:latin typeface="Aileron"/>
                <a:sym typeface="Aileron"/>
              </a:rPr>
              <a:t> de</a:t>
            </a:r>
            <a:r>
              <a:rPr lang="en-US" sz="2079" dirty="0">
                <a:solidFill>
                  <a:schemeClr val="bg1"/>
                </a:solidFill>
                <a:latin typeface="Aileron"/>
                <a:sym typeface="Aileron"/>
              </a:rPr>
              <a:t>0</a:t>
            </a:r>
            <a:r>
              <a:rPr lang="en-US" sz="2079" dirty="0">
                <a:latin typeface="Aileron"/>
                <a:sym typeface="Aileron"/>
              </a:rPr>
              <a:t>atención </a:t>
            </a:r>
            <a:r>
              <a:rPr lang="en-US" sz="2079" dirty="0" err="1">
                <a:latin typeface="Aileron"/>
                <a:sym typeface="Aileron"/>
              </a:rPr>
              <a:t>médica</a:t>
            </a:r>
            <a:r>
              <a:rPr lang="en-US" sz="2079" dirty="0">
                <a:latin typeface="Aileron"/>
                <a:sym typeface="Aileron"/>
              </a:rPr>
              <a:t> con </a:t>
            </a:r>
            <a:r>
              <a:rPr lang="en-US" sz="2079" dirty="0" err="1">
                <a:latin typeface="Aileron"/>
                <a:sym typeface="Aileron"/>
              </a:rPr>
              <a:t>múltiples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posibilidades</a:t>
            </a:r>
            <a:r>
              <a:rPr lang="en-US" sz="2079" dirty="0">
                <a:latin typeface="Aileron"/>
                <a:sym typeface="Aileron"/>
              </a:rPr>
              <a:t> "</a:t>
            </a:r>
            <a:r>
              <a:rPr lang="en-US" sz="2079" dirty="0" err="1">
                <a:latin typeface="Aileron"/>
                <a:sym typeface="Aileron"/>
              </a:rPr>
              <a:t>esta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cadena</a:t>
            </a:r>
            <a:r>
              <a:rPr lang="en-US" sz="2079" dirty="0">
                <a:latin typeface="Aileron"/>
                <a:sym typeface="Aileron"/>
              </a:rPr>
              <a:t> de Markov </a:t>
            </a:r>
            <a:r>
              <a:rPr lang="en-US" sz="2079" dirty="0" err="1">
                <a:latin typeface="Aileron"/>
                <a:sym typeface="Aileron"/>
              </a:rPr>
              <a:t>tiene</a:t>
            </a:r>
            <a:r>
              <a:rPr lang="en-US" sz="2079" dirty="0">
                <a:latin typeface="Aileron"/>
                <a:sym typeface="Aileron"/>
              </a:rPr>
              <a:t> un </a:t>
            </a:r>
            <a:r>
              <a:rPr lang="en-US" sz="2079" dirty="0" err="1">
                <a:latin typeface="Aileron"/>
                <a:sym typeface="Aileron"/>
              </a:rPr>
              <a:t>número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infinito</a:t>
            </a:r>
            <a:r>
              <a:rPr lang="en-US" sz="2079" dirty="0">
                <a:latin typeface="Aileron"/>
                <a:sym typeface="Aileron"/>
              </a:rPr>
              <a:t> de </a:t>
            </a:r>
            <a:r>
              <a:rPr lang="en-US" sz="2079" dirty="0" err="1">
                <a:latin typeface="Aileron"/>
                <a:sym typeface="Aileron"/>
              </a:rPr>
              <a:t>estados</a:t>
            </a:r>
            <a:r>
              <a:rPr lang="en-US" sz="2079" dirty="0">
                <a:latin typeface="Aileron"/>
                <a:sym typeface="Aileron"/>
              </a:rPr>
              <a:t>,</a:t>
            </a:r>
            <a:r>
              <a:rPr lang="en-US" sz="2079" dirty="0">
                <a:solidFill>
                  <a:schemeClr val="bg1"/>
                </a:solidFill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debido</a:t>
            </a:r>
            <a:r>
              <a:rPr lang="en-US" sz="2079" dirty="0">
                <a:latin typeface="Aileron"/>
                <a:sym typeface="Aileron"/>
              </a:rPr>
              <a:t> a lo </a:t>
            </a:r>
            <a:r>
              <a:rPr lang="en-US" sz="2079" dirty="0" err="1">
                <a:latin typeface="Aileron"/>
                <a:sym typeface="Aileron"/>
              </a:rPr>
              <a:t>cual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obtener</a:t>
            </a:r>
            <a:r>
              <a:rPr lang="en-US" sz="2079" dirty="0">
                <a:latin typeface="Aileron"/>
                <a:sym typeface="Aileron"/>
              </a:rPr>
              <a:t> la </a:t>
            </a:r>
            <a:r>
              <a:rPr lang="en-US" sz="2079" dirty="0" err="1">
                <a:latin typeface="Aileron"/>
                <a:sym typeface="Aileron"/>
              </a:rPr>
              <a:t>distribución</a:t>
            </a:r>
            <a:r>
              <a:rPr lang="en-US" sz="2079" dirty="0">
                <a:latin typeface="Aileron"/>
                <a:sym typeface="Aileron"/>
              </a:rPr>
              <a:t> de </a:t>
            </a:r>
            <a:r>
              <a:rPr lang="en-US" sz="2079" dirty="0" err="1">
                <a:latin typeface="Aileron"/>
                <a:sym typeface="Aileron"/>
              </a:rPr>
              <a:t>estado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estable</a:t>
            </a:r>
            <a:r>
              <a:rPr lang="en-US" sz="2079" dirty="0">
                <a:latin typeface="Aileron"/>
                <a:sym typeface="Aileron"/>
              </a:rPr>
              <a:t> de los </a:t>
            </a:r>
            <a:r>
              <a:rPr lang="en-US" sz="2079" dirty="0" err="1">
                <a:latin typeface="Aileron"/>
                <a:sym typeface="Aileron"/>
              </a:rPr>
              <a:t>estados</a:t>
            </a:r>
            <a:r>
              <a:rPr lang="en-US" sz="2079" dirty="0">
                <a:latin typeface="Aileron"/>
                <a:sym typeface="Aileron"/>
              </a:rPr>
              <a:t> del0sistema </a:t>
            </a:r>
            <a:r>
              <a:rPr lang="en-US" sz="2079" dirty="0" err="1">
                <a:latin typeface="Aileron"/>
                <a:sym typeface="Aileron"/>
              </a:rPr>
              <a:t>implica</a:t>
            </a:r>
            <a:r>
              <a:rPr lang="en-US" sz="2079" dirty="0">
                <a:latin typeface="Aileron"/>
                <a:sym typeface="Aileron"/>
              </a:rPr>
              <a:t> resolver un </a:t>
            </a:r>
            <a:r>
              <a:rPr lang="en-US" sz="2079" dirty="0" err="1">
                <a:latin typeface="Aileron"/>
                <a:sym typeface="Aileron"/>
              </a:rPr>
              <a:t>sistema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infinito</a:t>
            </a:r>
            <a:r>
              <a:rPr lang="en-US" sz="2079" dirty="0">
                <a:latin typeface="Aileron"/>
                <a:sym typeface="Aileron"/>
              </a:rPr>
              <a:t> de </a:t>
            </a:r>
            <a:r>
              <a:rPr lang="en-US" sz="2079" dirty="0" err="1">
                <a:latin typeface="Aileron"/>
                <a:sym typeface="Aileron"/>
              </a:rPr>
              <a:t>ecuaciones</a:t>
            </a:r>
            <a:r>
              <a:rPr lang="en-US" sz="2079" dirty="0">
                <a:solidFill>
                  <a:schemeClr val="bg1"/>
                </a:solidFill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lineales</a:t>
            </a:r>
            <a:r>
              <a:rPr lang="en-US" sz="2079" dirty="0">
                <a:latin typeface="Aileron"/>
                <a:sym typeface="Aileron"/>
              </a:rPr>
              <a:t>."(S. Hillier &amp; J. </a:t>
            </a:r>
            <a:r>
              <a:rPr lang="en-US" sz="2079" dirty="0" err="1">
                <a:latin typeface="Aileron"/>
                <a:sym typeface="Aileron"/>
              </a:rPr>
              <a:t>Lieberma</a:t>
            </a:r>
            <a:r>
              <a:rPr lang="en-US" sz="2079" dirty="0">
                <a:latin typeface="Aileron"/>
                <a:sym typeface="Aileron"/>
              </a:rPr>
              <a:t>, 2010, p.744) a </a:t>
            </a:r>
            <a:r>
              <a:rPr lang="en-US" sz="2079" dirty="0" err="1">
                <a:latin typeface="Aileron"/>
                <a:sym typeface="Aileron"/>
              </a:rPr>
              <a:t>pesar</a:t>
            </a:r>
            <a:r>
              <a:rPr lang="en-US" sz="2079" dirty="0">
                <a:latin typeface="Aileron"/>
                <a:sym typeface="Aileron"/>
              </a:rPr>
              <a:t> de </a:t>
            </a:r>
            <a:r>
              <a:rPr lang="en-US" sz="2079" dirty="0" err="1">
                <a:latin typeface="Aileron"/>
                <a:sym typeface="Aileron"/>
              </a:rPr>
              <a:t>eso</a:t>
            </a:r>
            <a:r>
              <a:rPr lang="en-US" sz="2079" dirty="0">
                <a:latin typeface="Aileron"/>
                <a:sym typeface="Aileron"/>
              </a:rPr>
              <a:t>, es </a:t>
            </a:r>
            <a:r>
              <a:rPr lang="en-US" sz="2079" dirty="0" err="1">
                <a:latin typeface="Aileron"/>
                <a:sym typeface="Aileron"/>
              </a:rPr>
              <a:t>súper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útil</a:t>
            </a:r>
            <a:r>
              <a:rPr lang="en-US" sz="2079" dirty="0">
                <a:latin typeface="Aileron"/>
                <a:sym typeface="Aileron"/>
              </a:rPr>
              <a:t> para </a:t>
            </a:r>
            <a:r>
              <a:rPr lang="en-US" sz="2079" dirty="0" err="1">
                <a:latin typeface="Aileron"/>
                <a:sym typeface="Aileron"/>
              </a:rPr>
              <a:t>entender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cómo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funcionan</a:t>
            </a:r>
            <a:r>
              <a:rPr lang="en-US" sz="2079" dirty="0">
                <a:latin typeface="Aileron"/>
                <a:sym typeface="Aileron"/>
              </a:rPr>
              <a:t> las0colas </a:t>
            </a:r>
            <a:r>
              <a:rPr lang="en-US" sz="2079" dirty="0" err="1">
                <a:latin typeface="Aileron"/>
                <a:sym typeface="Aileron"/>
              </a:rPr>
              <a:t>en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sistemas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donde</a:t>
            </a:r>
            <a:r>
              <a:rPr lang="en-US" sz="2079" dirty="0">
                <a:latin typeface="Aileron"/>
                <a:sym typeface="Aileron"/>
              </a:rPr>
              <a:t> hay </a:t>
            </a:r>
            <a:r>
              <a:rPr lang="en-US" sz="2079" dirty="0" err="1">
                <a:latin typeface="Aileron"/>
                <a:sym typeface="Aileron"/>
              </a:rPr>
              <a:t>muchas</a:t>
            </a:r>
            <a:r>
              <a:rPr lang="en-US" sz="2079" dirty="0">
                <a:latin typeface="Aileron"/>
                <a:sym typeface="Aileron"/>
              </a:rPr>
              <a:t> variables y </a:t>
            </a:r>
            <a:r>
              <a:rPr lang="en-US" sz="2079" dirty="0" err="1">
                <a:latin typeface="Aileron"/>
                <a:sym typeface="Aileron"/>
              </a:rPr>
              <a:t>posibles</a:t>
            </a:r>
            <a:r>
              <a:rPr lang="en-US" sz="2079" dirty="0">
                <a:latin typeface="Aileron"/>
                <a:sym typeface="Aileron"/>
              </a:rPr>
              <a:t> </a:t>
            </a:r>
            <a:r>
              <a:rPr lang="en-US" sz="2079" dirty="0" err="1">
                <a:latin typeface="Aileron"/>
                <a:sym typeface="Aileron"/>
              </a:rPr>
              <a:t>escenarios</a:t>
            </a:r>
            <a:r>
              <a:rPr lang="en-US" sz="2079" dirty="0">
                <a:latin typeface="Aileron"/>
                <a:sym typeface="Aileron"/>
              </a:rPr>
              <a:t>.</a:t>
            </a:r>
          </a:p>
          <a:p>
            <a:pPr algn="just">
              <a:lnSpc>
                <a:spcPts val="2910"/>
              </a:lnSpc>
            </a:pPr>
            <a:endParaRPr lang="en-US" sz="2079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72088" y="574548"/>
            <a:ext cx="16543823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5062" b="1" spc="-151" dirty="0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APLICACIÓN EN UN TALLER MECÁNICO</a:t>
            </a:r>
          </a:p>
          <a:p>
            <a:pPr algn="l">
              <a:lnSpc>
                <a:spcPts val="5011"/>
              </a:lnSpc>
            </a:pPr>
            <a:endParaRPr lang="en-US" sz="5062" b="1" spc="-151" dirty="0">
              <a:solidFill>
                <a:srgbClr val="1484E1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72089" y="2324100"/>
            <a:ext cx="16543822" cy="52842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64"/>
              </a:lnSpc>
            </a:pPr>
            <a:r>
              <a:rPr lang="es-CR" sz="2400" dirty="0"/>
              <a:t>De acuerdo a los materias de la plataforma del curso se observa un caso de éxito, (</a:t>
            </a:r>
            <a:r>
              <a:rPr lang="es-CR" sz="2400" dirty="0" err="1"/>
              <a:t>AprendeU</a:t>
            </a:r>
            <a:r>
              <a:rPr lang="es-CR" sz="2400" dirty="0"/>
              <a:t>, s. f.)</a:t>
            </a:r>
          </a:p>
          <a:p>
            <a:pPr algn="l">
              <a:lnSpc>
                <a:spcPts val="2864"/>
              </a:lnSpc>
            </a:pPr>
            <a:endParaRPr lang="es-MX" sz="2400" dirty="0"/>
          </a:p>
          <a:p>
            <a:pPr algn="just">
              <a:lnSpc>
                <a:spcPts val="2864"/>
              </a:lnSpc>
            </a:pPr>
            <a:r>
              <a:rPr lang="es-MX" sz="2400" dirty="0"/>
              <a:t>El mecánico Javier Robles, es capaz</a:t>
            </a:r>
            <a:r>
              <a:rPr lang="en-US" sz="2400" dirty="0">
                <a:solidFill>
                  <a:schemeClr val="bg1"/>
                </a:solidFill>
                <a:latin typeface="Aileron"/>
                <a:sym typeface="Aileron"/>
              </a:rPr>
              <a:t>0</a:t>
            </a:r>
            <a:r>
              <a:rPr lang="es-MX" sz="2400" dirty="0"/>
              <a:t>de instalar nuevos silenciadores a una tasa promedio de 3 por hora, o 1 aproximadamente cada 20 minutos. Los clientes que necesitan servicio de taller llegan a un promedio</a:t>
            </a:r>
            <a:r>
              <a:rPr lang="en-US" sz="2400" dirty="0">
                <a:solidFill>
                  <a:schemeClr val="bg1"/>
                </a:solidFill>
                <a:latin typeface="Aileron"/>
                <a:sym typeface="Aileron"/>
              </a:rPr>
              <a:t>0</a:t>
            </a:r>
            <a:r>
              <a:rPr lang="es-MX" sz="2400" dirty="0"/>
              <a:t>de dos por hora. El administrador del negocio considera que su taller tiene todas las condiciones de un</a:t>
            </a:r>
            <a:r>
              <a:rPr lang="en-US" sz="2400" dirty="0">
                <a:solidFill>
                  <a:schemeClr val="bg1"/>
                </a:solidFill>
                <a:latin typeface="Aileron"/>
                <a:sym typeface="Aileron"/>
              </a:rPr>
              <a:t> </a:t>
            </a:r>
            <a:r>
              <a:rPr lang="es-MX" sz="2400" dirty="0"/>
              <a:t>modelo de colas de un solo canal. Por lo cual, se le ha solicitado su ayuda para mejorar el servicio.</a:t>
            </a:r>
            <a:endParaRPr lang="es-CR" sz="2400" dirty="0"/>
          </a:p>
          <a:p>
            <a:pPr algn="l">
              <a:lnSpc>
                <a:spcPts val="2864"/>
              </a:lnSpc>
            </a:pPr>
            <a:endParaRPr lang="es-CR" sz="2400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2400" b="1" u="sng" dirty="0"/>
              <a:t>Variables:</a:t>
            </a:r>
            <a:endParaRPr lang="es-CR" sz="2400" b="1" u="sng" dirty="0"/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2400" dirty="0"/>
              <a:t>ʎ = 2 (tasa promedio de llegada), es decir 1 cliente por cada 30 minutos.</a:t>
            </a:r>
            <a:endParaRPr lang="es-CR" sz="2400" dirty="0"/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sz="2400" dirty="0"/>
              <a:t>µ = 3 (tasa promedio de servicio), por lo tanto  1 cliente por cada 20 minutos.</a:t>
            </a:r>
            <a:endParaRPr lang="es-CR" sz="2400" dirty="0"/>
          </a:p>
          <a:p>
            <a:pPr algn="l">
              <a:lnSpc>
                <a:spcPts val="2864"/>
              </a:lnSpc>
            </a:pPr>
            <a:endParaRPr lang="en-US" sz="2045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64"/>
              </a:lnSpc>
            </a:pPr>
            <a:endParaRPr lang="en-US" sz="2045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72088" y="574548"/>
            <a:ext cx="16543823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5062" b="1" spc="-151" dirty="0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APLICACIÓN EN UN TALLER MECÁNICO</a:t>
            </a:r>
          </a:p>
          <a:p>
            <a:pPr algn="l">
              <a:lnSpc>
                <a:spcPts val="5011"/>
              </a:lnSpc>
            </a:pPr>
            <a:endParaRPr lang="en-US" sz="5062" b="1" spc="-151" dirty="0">
              <a:solidFill>
                <a:srgbClr val="1484E1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72089" y="2324100"/>
            <a:ext cx="16543822" cy="1083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64"/>
              </a:lnSpc>
            </a:pPr>
            <a:r>
              <a:rPr lang="es-CR" sz="2400" dirty="0"/>
              <a:t>Paso 1: Para realizar el calculo de clientes en el sistema se realiza con la siguiente formula :</a:t>
            </a:r>
          </a:p>
          <a:p>
            <a:pPr algn="l">
              <a:lnSpc>
                <a:spcPts val="2864"/>
              </a:lnSpc>
            </a:pPr>
            <a:endParaRPr lang="es-CR" sz="2400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64"/>
              </a:lnSpc>
            </a:pPr>
            <a:endParaRPr lang="en-US" sz="2045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52711A5-615F-4A97-9258-2E1E9FBC0B5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933700"/>
            <a:ext cx="1828800" cy="36195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BB87ACB-C5F1-4E17-B509-92941F71C8A5}"/>
              </a:ext>
            </a:extLst>
          </p:cNvPr>
          <p:cNvSpPr txBox="1"/>
          <p:nvPr/>
        </p:nvSpPr>
        <p:spPr>
          <a:xfrm>
            <a:off x="5486400" y="3868077"/>
            <a:ext cx="10668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b="1" u="sng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Respuesta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cantidad  de clientes en el sistema es de  2</a:t>
            </a:r>
            <a:endParaRPr lang="es-CR" sz="1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0768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72088" y="574548"/>
            <a:ext cx="16543823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5062" b="1" spc="-151" dirty="0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APLICACIÓN EN UN TALLER MECÁNICO</a:t>
            </a:r>
          </a:p>
          <a:p>
            <a:pPr algn="l">
              <a:lnSpc>
                <a:spcPts val="5011"/>
              </a:lnSpc>
            </a:pPr>
            <a:endParaRPr lang="en-US" sz="5062" b="1" spc="-151" dirty="0">
              <a:solidFill>
                <a:srgbClr val="1484E1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72089" y="2324100"/>
            <a:ext cx="16543822" cy="1083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64"/>
              </a:lnSpc>
            </a:pPr>
            <a:r>
              <a:rPr lang="es-CR" sz="2400" dirty="0"/>
              <a:t>Paso 2: Para realizar el calculo de la longitud de la fila se realiza con la siguiente formula :</a:t>
            </a:r>
          </a:p>
          <a:p>
            <a:pPr algn="l">
              <a:lnSpc>
                <a:spcPts val="2864"/>
              </a:lnSpc>
            </a:pPr>
            <a:endParaRPr lang="es-CR" sz="2400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64"/>
              </a:lnSpc>
            </a:pPr>
            <a:endParaRPr lang="en-US" sz="2045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5D8DC3-6E58-4A94-A335-429A27D6607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238500"/>
            <a:ext cx="2667000" cy="47244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8BE936A-5C78-4326-97A1-F8A0EF75829B}"/>
              </a:ext>
            </a:extLst>
          </p:cNvPr>
          <p:cNvSpPr txBox="1"/>
          <p:nvPr/>
        </p:nvSpPr>
        <p:spPr>
          <a:xfrm>
            <a:off x="6248400" y="4076700"/>
            <a:ext cx="11430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b="1" u="sng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Respuesta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 cantidad  de la fila en el servicio equivale a un aproximado de 2 (1.33 redondeado).</a:t>
            </a:r>
            <a:endParaRPr lang="es-CR" sz="1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739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72088" y="574548"/>
            <a:ext cx="16543823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5062" b="1" spc="-151" dirty="0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APLICACIÓN EN UN TALLER MECÁNICO</a:t>
            </a:r>
          </a:p>
          <a:p>
            <a:pPr algn="l">
              <a:lnSpc>
                <a:spcPts val="5011"/>
              </a:lnSpc>
            </a:pPr>
            <a:endParaRPr lang="en-US" sz="5062" b="1" spc="-151" dirty="0">
              <a:solidFill>
                <a:srgbClr val="1484E1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72089" y="2324100"/>
            <a:ext cx="16543822" cy="10830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64"/>
              </a:lnSpc>
            </a:pPr>
            <a:r>
              <a:rPr lang="es-CR" sz="2400" dirty="0"/>
              <a:t>Paso 3: Para realizar el calculo del </a:t>
            </a:r>
            <a:r>
              <a:rPr lang="es-MX" sz="2400" dirty="0"/>
              <a:t>tiempo que tarda un cliente en el sistema </a:t>
            </a:r>
            <a:r>
              <a:rPr lang="es-CR" sz="2400" dirty="0"/>
              <a:t> se realiza con la siguiente formula :</a:t>
            </a:r>
          </a:p>
          <a:p>
            <a:pPr algn="l">
              <a:lnSpc>
                <a:spcPts val="2864"/>
              </a:lnSpc>
            </a:pPr>
            <a:endParaRPr lang="es-CR" sz="2400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64"/>
              </a:lnSpc>
            </a:pPr>
            <a:endParaRPr lang="en-US" sz="2045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8BE936A-5C78-4326-97A1-F8A0EF75829B}"/>
              </a:ext>
            </a:extLst>
          </p:cNvPr>
          <p:cNvSpPr txBox="1"/>
          <p:nvPr/>
        </p:nvSpPr>
        <p:spPr>
          <a:xfrm>
            <a:off x="7010400" y="4076700"/>
            <a:ext cx="10668000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ES" b="1" u="sng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Respuesta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Cada cliente  tarda en el sistema es 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equivalente a </a:t>
            </a:r>
            <a:r>
              <a:rPr lang="es-E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 hora</a:t>
            </a:r>
            <a:r>
              <a:rPr lang="es-E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s-C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4EE44A6-DE3B-4D82-9635-EAC130721D2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314700"/>
            <a:ext cx="29718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460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72088" y="574548"/>
            <a:ext cx="16543823" cy="1269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5062" b="1" spc="-151" dirty="0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APLICACIÓN EN UN TALLER MECÁNICO</a:t>
            </a:r>
          </a:p>
          <a:p>
            <a:pPr algn="l">
              <a:lnSpc>
                <a:spcPts val="5011"/>
              </a:lnSpc>
            </a:pPr>
            <a:endParaRPr lang="en-US" sz="5062" b="1" spc="-151" dirty="0">
              <a:solidFill>
                <a:srgbClr val="1484E1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72088" y="1302599"/>
            <a:ext cx="17187311" cy="1044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59"/>
              </a:lnSpc>
            </a:pPr>
            <a:r>
              <a:rPr lang="es-MX" sz="2400" dirty="0"/>
              <a:t>Fórmulas utilizadas, recuperadas de la guía de estudio del curso </a:t>
            </a:r>
            <a:r>
              <a:rPr lang="es-MX" sz="2400" dirty="0">
                <a:latin typeface="Aileron"/>
                <a:ea typeface="Aileron"/>
                <a:cs typeface="Aileron"/>
                <a:sym typeface="Aileron"/>
              </a:rPr>
              <a:t>Grijalba, J. (2014). </a:t>
            </a:r>
            <a:r>
              <a:rPr lang="es-MX" sz="2400" dirty="0"/>
              <a:t> </a:t>
            </a:r>
            <a:endParaRPr lang="es-CR" sz="2400" dirty="0"/>
          </a:p>
          <a:p>
            <a:pPr algn="l">
              <a:lnSpc>
                <a:spcPts val="2864"/>
              </a:lnSpc>
            </a:pPr>
            <a:endParaRPr lang="es-CR" sz="2400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64"/>
              </a:lnSpc>
            </a:pPr>
            <a:endParaRPr lang="en-US" sz="2045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4617772-2991-408C-9F71-490B9FA41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823232"/>
            <a:ext cx="6705600" cy="610662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B711853-0B00-4A1C-8FD7-8049F7E5D69E}"/>
              </a:ext>
            </a:extLst>
          </p:cNvPr>
          <p:cNvSpPr txBox="1"/>
          <p:nvPr/>
        </p:nvSpPr>
        <p:spPr>
          <a:xfrm>
            <a:off x="2133598" y="7929857"/>
            <a:ext cx="8305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Fuente: Imagen recuperada de la guía de estudio del curso </a:t>
            </a:r>
            <a:r>
              <a:rPr lang="es-CR" sz="1800" dirty="0"/>
              <a:t>(</a:t>
            </a:r>
            <a:r>
              <a:rPr lang="es-CR" sz="1800" dirty="0" err="1"/>
              <a:t>AprendeU</a:t>
            </a:r>
            <a:r>
              <a:rPr lang="es-CR" sz="1800" dirty="0"/>
              <a:t>, s. f.)</a:t>
            </a:r>
          </a:p>
          <a:p>
            <a:r>
              <a:rPr lang="es-MX" dirty="0"/>
              <a:t>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084753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73940" y="960550"/>
            <a:ext cx="6658813" cy="649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5070" b="1" spc="-152">
                <a:solidFill>
                  <a:srgbClr val="1484E1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APRENDIZAJES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73610" y="2286959"/>
            <a:ext cx="13777104" cy="499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9"/>
              </a:lnSpc>
            </a:pP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Las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diversas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tecnicas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que se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puenden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implementar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la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investigación</a:t>
            </a:r>
            <a:r>
              <a:rPr lang="en-US" sz="2000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de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operaciones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son de gran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ayuda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para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poder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resolver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problemas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de la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vida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cotidiana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,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donde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la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teoría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y la práctica</a:t>
            </a:r>
            <a:r>
              <a:rPr lang="en-US" sz="2000" dirty="0">
                <a:solidFill>
                  <a:schemeClr val="bg1"/>
                </a:solidFill>
                <a:latin typeface="Aileron"/>
                <a:sym typeface="Aileron"/>
              </a:rPr>
              <a:t>0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se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unen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para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llegar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a una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solución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</a:p>
          <a:p>
            <a:pPr algn="l">
              <a:lnSpc>
                <a:spcPts val="2839"/>
              </a:lnSpc>
            </a:pPr>
            <a:endParaRPr lang="en-US" sz="2028" dirty="0"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39"/>
              </a:lnSpc>
            </a:pP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La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teoría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de colas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permite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analizar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cómo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mejorar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la</a:t>
            </a:r>
            <a:r>
              <a:rPr lang="en-US" sz="2000" dirty="0">
                <a:solidFill>
                  <a:schemeClr val="bg1"/>
                </a:solidFill>
                <a:latin typeface="Aileron"/>
                <a:sym typeface="Aileron"/>
              </a:rPr>
              <a:t>0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atención al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usuario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dentro del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sistema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público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o privado,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identificando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mejoras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la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gestión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de</a:t>
            </a:r>
            <a:r>
              <a:rPr lang="en-US" sz="2000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citas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y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poder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obtener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mejjores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resultados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.</a:t>
            </a:r>
          </a:p>
          <a:p>
            <a:pPr algn="l">
              <a:lnSpc>
                <a:spcPts val="2839"/>
              </a:lnSpc>
            </a:pPr>
            <a:endParaRPr lang="en-US" sz="2028" dirty="0"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39"/>
              </a:lnSpc>
            </a:pPr>
            <a:endParaRPr lang="en-US" sz="2028" dirty="0"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39"/>
              </a:lnSpc>
            </a:pP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La </a:t>
            </a:r>
            <a:r>
              <a:rPr lang="es-CR" sz="2028" dirty="0">
                <a:latin typeface="Aileron"/>
                <a:ea typeface="Aileron"/>
                <a:cs typeface="Aileron"/>
                <a:sym typeface="Aileron"/>
              </a:rPr>
              <a:t>resolución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 y la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investigación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la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teoría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de colas es</a:t>
            </a:r>
            <a:r>
              <a:rPr lang="en-US" sz="2000" dirty="0">
                <a:solidFill>
                  <a:schemeClr val="bg1"/>
                </a:solidFill>
                <a:latin typeface="Aileron"/>
                <a:sym typeface="Aileron"/>
              </a:rPr>
              <a:t>0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muy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enrriquesedor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dado que Podemos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aplicar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diversas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situaciones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para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aplicar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mejoras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los</a:t>
            </a:r>
            <a:r>
              <a:rPr lang="en-US" sz="2000" dirty="0">
                <a:solidFill>
                  <a:schemeClr val="bg1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servicios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desde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ejecercios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nuestra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vida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hasta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aplicar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en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28" dirty="0" err="1">
                <a:latin typeface="Aileron"/>
                <a:ea typeface="Aileron"/>
                <a:cs typeface="Aileron"/>
                <a:sym typeface="Aileron"/>
              </a:rPr>
              <a:t>empresas</a:t>
            </a:r>
            <a:r>
              <a:rPr lang="en-US" sz="2028" dirty="0">
                <a:latin typeface="Aileron"/>
                <a:ea typeface="Aileron"/>
                <a:cs typeface="Aileron"/>
                <a:sym typeface="Aileron"/>
              </a:rPr>
              <a:t>. </a:t>
            </a:r>
          </a:p>
          <a:p>
            <a:pPr algn="l">
              <a:lnSpc>
                <a:spcPts val="2839"/>
              </a:lnSpc>
            </a:pPr>
            <a:endParaRPr lang="en-US" sz="2028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39"/>
              </a:lnSpc>
            </a:pPr>
            <a:endParaRPr lang="en-US" sz="2028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39"/>
              </a:lnSpc>
            </a:pPr>
            <a:endParaRPr lang="en-US" sz="2028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39"/>
              </a:lnSpc>
            </a:pPr>
            <a:r>
              <a:rPr lang="en-US" sz="3200" b="1" dirty="0">
                <a:latin typeface="Aileron"/>
                <a:ea typeface="Aileron"/>
                <a:cs typeface="Aileron"/>
                <a:sym typeface="Aileron"/>
              </a:rPr>
              <a:t>LINK DEL VIDEO: </a:t>
            </a:r>
            <a:r>
              <a:rPr lang="en-US" sz="3200" b="1" dirty="0">
                <a:solidFill>
                  <a:srgbClr val="0070C0"/>
                </a:solidFill>
                <a:latin typeface="Aileron"/>
                <a:ea typeface="Aileron"/>
                <a:cs typeface="Aileron"/>
                <a:sym typeface="Ailero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https://youtu.be/fqi5Ef1eReM</a:t>
            </a:r>
            <a:endParaRPr lang="en-US" sz="3200" b="1" dirty="0">
              <a:solidFill>
                <a:srgbClr val="0070C0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839"/>
              </a:lnSpc>
            </a:pPr>
            <a:endParaRPr lang="en-US" sz="2028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84306" y="856594"/>
            <a:ext cx="10558830" cy="68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5"/>
              </a:lnSpc>
            </a:pPr>
            <a:r>
              <a:rPr lang="en-US" sz="5370" b="1" spc="-161" dirty="0">
                <a:latin typeface="Aileron Ultra-Bold"/>
                <a:ea typeface="Aileron Ultra-Bold"/>
                <a:cs typeface="Aileron Ultra-Bold"/>
                <a:sym typeface="Aileron Ultra-Bold"/>
              </a:rPr>
              <a:t>REFERENCIAS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9607" y="2220013"/>
            <a:ext cx="13121393" cy="2971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AprendeU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. (s. f.). 03029—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Investigación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operaciones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 - IIC2025: 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Recursos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Tema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 6 [Material de 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curso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]. 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Recuperado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el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 8 de 	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agosto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 de 2025, de 	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https://aprende.uned.ac.cr/mod/folder/view.php?id=359655</a:t>
            </a:r>
            <a:endParaRPr lang="en-US" sz="1828" dirty="0"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559"/>
              </a:lnSpc>
            </a:pPr>
            <a:endParaRPr lang="en-US" sz="1828" dirty="0"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559"/>
              </a:lnSpc>
            </a:pPr>
            <a:endParaRPr lang="en-US" sz="1828" dirty="0"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559"/>
              </a:lnSpc>
            </a:pPr>
            <a:r>
              <a:rPr lang="es-MX" sz="1828" dirty="0">
                <a:latin typeface="Aileron"/>
                <a:ea typeface="Aileron"/>
                <a:cs typeface="Aileron"/>
                <a:sym typeface="Aileron"/>
              </a:rPr>
              <a:t>Grijalba, J. (2014). Guía de estudio para la asignatura de Investigación de Operaciones para Ingeniería. </a:t>
            </a:r>
            <a:endParaRPr lang="en-US" sz="1828" dirty="0"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559"/>
              </a:lnSpc>
            </a:pPr>
            <a:endParaRPr lang="en-US" sz="1828" dirty="0"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559"/>
              </a:lnSpc>
            </a:pP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S. Hillier, F., &amp; J. 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Lieberma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, G. (2010). 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Introducción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 a la 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investigación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 de </a:t>
            </a:r>
            <a:r>
              <a:rPr lang="en-US" sz="1828" dirty="0" err="1">
                <a:latin typeface="Aileron"/>
                <a:ea typeface="Aileron"/>
                <a:cs typeface="Aileron"/>
                <a:sym typeface="Aileron"/>
              </a:rPr>
              <a:t>operaciones</a:t>
            </a:r>
            <a:r>
              <a:rPr lang="en-US" sz="1828" dirty="0">
                <a:latin typeface="Aileron"/>
                <a:ea typeface="Aileron"/>
                <a:cs typeface="Aileron"/>
                <a:sym typeface="Aileron"/>
              </a:rPr>
              <a:t> (9a ed.). McGraw-Hill.</a:t>
            </a:r>
          </a:p>
          <a:p>
            <a:pPr algn="l">
              <a:lnSpc>
                <a:spcPts val="2559"/>
              </a:lnSpc>
            </a:pPr>
            <a:endParaRPr lang="en-US" sz="1828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2559"/>
              </a:lnSpc>
            </a:pPr>
            <a:endParaRPr lang="en-US" sz="1828" dirty="0">
              <a:solidFill>
                <a:srgbClr val="1F7FC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Override1.xml><?xml version="1.0" encoding="utf-8"?>
<a:themeOverride xmlns:a="http://schemas.openxmlformats.org/drawingml/2006/main">
  <a:clrScheme name="Galería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ppt/theme/themeOverride2.xml><?xml version="1.0" encoding="utf-8"?>
<a:themeOverride xmlns:a="http://schemas.openxmlformats.org/drawingml/2006/main">
  <a:clrScheme name="Galería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ppt/theme/themeOverride3.xml><?xml version="1.0" encoding="utf-8"?>
<a:themeOverride xmlns:a="http://schemas.openxmlformats.org/drawingml/2006/main">
  <a:clrScheme name="Galería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ppt/theme/themeOverride4.xml><?xml version="1.0" encoding="utf-8"?>
<a:themeOverride xmlns:a="http://schemas.openxmlformats.org/drawingml/2006/main">
  <a:clrScheme name="Galería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ppt/theme/themeOverride5.xml><?xml version="1.0" encoding="utf-8"?>
<a:themeOverride xmlns:a="http://schemas.openxmlformats.org/drawingml/2006/main">
  <a:clrScheme name="Galería">
    <a:dk1>
      <a:sysClr val="windowText" lastClr="000000"/>
    </a:dk1>
    <a:lt1>
      <a:sysClr val="window" lastClr="FFFFFF"/>
    </a:lt1>
    <a:dk2>
      <a:srgbClr val="454545"/>
    </a:dk2>
    <a:lt2>
      <a:srgbClr val="DFDBD5"/>
    </a:lt2>
    <a:accent1>
      <a:srgbClr val="B71E42"/>
    </a:accent1>
    <a:accent2>
      <a:srgbClr val="DE478E"/>
    </a:accent2>
    <a:accent3>
      <a:srgbClr val="BC72F0"/>
    </a:accent3>
    <a:accent4>
      <a:srgbClr val="795FAF"/>
    </a:accent4>
    <a:accent5>
      <a:srgbClr val="586EA6"/>
    </a:accent5>
    <a:accent6>
      <a:srgbClr val="6892A0"/>
    </a:accent6>
    <a:hlink>
      <a:srgbClr val="FA2B5C"/>
    </a:hlink>
    <a:folHlink>
      <a:srgbClr val="BC658E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61DDD3F-5D1A-4DF5-8CF5-F3B4F417FD47}">
  <we:reference id="wa104381909" version="3.18.1.0" store="es-ES" storeType="OMEX"/>
  <we:alternateReferences>
    <we:reference id="WA104381909" version="3.18.1.0" store="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sub&gt;&lt;mi&gt;L&lt;/mi&gt;&lt;mi&gt;s&lt;/mi&gt;&lt;/msub&gt;&lt;mo&gt;=&lt;/mo&gt;&lt;mo&gt;&amp;#xA0;&lt;/mo&gt;&lt;mfrac&gt;&lt;mi&gt;&amp;#x3BB;&lt;/mi&gt;&lt;mrow&gt;&lt;mi&gt;&amp;#x3BC;&lt;/mi&gt;&lt;mo&gt;-&lt;/mo&gt;&lt;mi&gt;&amp;#x3BB;&lt;/mi&gt;&lt;/mrow&gt;&lt;/mfrac&gt;&lt;mspace linebreak=\\\&quot;newline\\\&quot;/&gt;&lt;mo&gt;&amp;#xA0;&lt;/mo&gt;&lt;mo&gt;&amp;#xA0;&lt;/mo&gt;&lt;mo&gt;&amp;#xA0;&lt;/mo&gt;&lt;mo&gt;&amp;#xA0;&lt;/mo&gt;&lt;mo&gt;=&lt;/mo&gt;&lt;mfrac&gt;&lt;mn&gt;2&lt;/mn&gt;&lt;mrow&gt;&lt;mn&gt;3&lt;/mn&gt;&lt;mo&gt;-&lt;/mo&gt;&lt;mn&gt;2&lt;/mn&gt;&lt;/mrow&gt;&lt;/mfrac&gt;&lt;mspace linebreak=\\\&quot;newline\\\&quot;/&gt;&lt;mo&gt;&amp;#xA0;&lt;/mo&gt;&lt;mo&gt;&amp;#xA0;&lt;/mo&gt;&lt;mo&gt;&amp;#xA0;&lt;/mo&gt;&lt;mo&gt;&amp;#xA0;&lt;/mo&gt;&lt;mo&gt;=&lt;/mo&gt;&lt;mfrac&gt;&lt;mn&gt;2&lt;/mn&gt;&lt;mn&gt;1&lt;/mn&gt;&lt;/mfrac&gt;&lt;mspace linebreak=\\\&quot;newline\\\&quot;/&gt;&lt;mo&gt;&amp;#xA0;&lt;/mo&gt;&lt;mo&gt;&amp;#xA0;&lt;/mo&gt;&lt;mo&gt;&amp;#xA0;&lt;/mo&gt;&lt;mo&gt;&amp;#xA0;&lt;/mo&gt;&lt;mo&gt;=&lt;/mo&gt;&lt;mn&gt;2&lt;/mn&gt;&lt;/math&gt;\&quot;,\&quot;base64Image\&quot;:\&quot;iVBORw0KGgoAAAANSUhEUgAAAeoAAAQaCAYAAACMxzuEAAAACXBIWXMAAA7EAAAOxAGVKw4bAAAABGJhU0UAAAISAauBVAAAK/FJREFUeNrt3Q/Elff/P/C3JEkiSSYTk8kkIzOTSWSSJJFkksRkZiZj8pEkYyYzyZgk+chNJplMZDIzE5OZSUZuySSRjyRJ9Hu/v+fcv6776pxzXefc51zXdd/n8eDF57Od+1x3r/e169n17/0OAYA67Yv1c6wnsZ7GuhZri7YAQL1Wxvoj1osudUSLAKAer8W60yOkp2q/VgFAteYVnEln62GspVoGANU5WjKkXQIHgIq9HloPjPUT1JPaBgDVOJUJ4OexjsdaHlqXwzeE7pfE12sdAIxWCuRn7eB9FGtjh88sjnWzQ1B/on0AMFqHM8G7qcfnNncI6nPaBwCj9Vc7dL8s8dnbuaC+on0AMDpr2oGb3p1eUOLz34dXX9MCAEbkUDtwPy75+Q9zQf1ECwFgdK60z4oXlPz8llxQP9NCABidPaHzU97dLBPUANBc83NB/VRLAKBZ3KMGgFkS1I+0AwAENQAwQFA/0A4AaI55uaC+qSUA0BwLc0F9WUsAoDmW5IL6kpYAQHO8kwvqC1oCAM2Rn0L0v1oCAM2xJxfU32sJADRDepDsVi6oD2sLADTDqVxIp/pQWwCgfts6hHSqnVoDAPVaHut+l6Deqj0AUK/LXUI61UbtAYD6HOwR0qkWaREA1OPN0FpvuldQz9MmAKheCuAbBSH9RJsAoB5fFYS0JS4BoCbvlwjpVFe1CgCqtTTWnZJBfVG7AKBa5wvC+W6wIAcA1GJPQUhPxvo8WJADACr3eqyHBUGdJjf5LvP/v9A2AKjGtYKQPtX+3H8z/2yvtgHA6B0OxZe8F7c/+0Pmn+/SOgAYrbdjPS8I6k2Zz/+U+efbtA8ARmdhrFsFIf1d7mduZ/7dB1oIAKNzqiCk0/vUi3M/8zjz7zdoIQCMxtZQPKHJlg4/l71MvkQbAWD4lse6XxDSZzr83KLcZxZqJQAM3+VQPPtYp7Plt3Ofm6+VADBcB8Ngl7yT/OVyAGCIVofWGtK9Qvpsj5/fJagBYDTmxbpRENL/ht4PiO0T1AAwGl+G4kveWwu+46igBoDhe79ESJ8t8T1nBDUADFe6lH2nIKTvxVpW4rvOC2oAGK7zJc6mt5f8rkuCGgCGZ3eJkD7fx/f9JKgBYDhej/WwIKTT7GTL+vjO/CX0MhOepElSzsV6x5AAwEvXSpxN7+jzO/+X+/mlJX7mu/Zn3zAkANDyeYmQnhjge/OTpWwu+Hxaeetx+0wcAIjWhekrXA3jkveUp7nv2V3w+cOh+wIfADB20mpWt0qcTe8c8Pvz33Oqx2fTZfGpe+TbDQ0AtIKzKKQvzOD782fqkz0+OzU5SrqvPc/QADDutpQI6UEveU/ptKDHvg6fO5D59ycNDQDjbnk7hIuCevcMtzPZ4TtTeKelM9OrWunhseO5f7/G8AAw7i6VCOmLQ9jODyW2M6zL7AAwJxwsEZjpoa4VQ9hWmde+pio9Ib7a8AAwzlIQPikRmh8OaXur+gjqQ4YHgHGWnqS+USIwLw15u+dKbPOc4QFg3B0L1V3yzkrvR9/ssc2vDA0A1Cutcf1NaK1jne5FpylCT4fWrGgAAAAAAAAAAAAA5byosLZqNwD053xoveSfJgN4OoJwfhzrp9Cax9brCAAwQ2/F+k+sBzMI59uhNSWeuWsBYERei3V3gJBOM+1Y+BwAKnCoz5D+QssAoDo7+gjpq9oFAM0Nag+KAUDF9pYM6V+1CgCqd7JkUB/UKgCo3k8lg/o1rQKAaqVXrJ6VCOk/tQoAqrep5Nn011oFANX7qmRQb9YqAKjejRIh/SSYhQwAKrei5Nn0Ra0CgOrtLxnUH2kVAFRvomRQv65VAFCtdM/5UYmQ/lurAKB6G0qeTX+rVQBQvaMlg3qLVgFA9a6XCOk0Y5nXsgCgYktKnk3/qFUAUL3dJYP6Y60CgOqVfS3rTa0CgOrdLxHSt7UJAKq3vuTZ9CmtAoDq/adkUG/TqkptLjkuc6HMHQ/Qw7VQ7rWs+VolqAU1QLUWxXpe4kD6k1YJakENUL2dJQ+kn2mVoBbUANU7XfJAukarBLWgBqjevyUOopPaJKgFNUD11pQ8iJ7RKkEtqAGq91nJg+gOrYK+vFBKzfmqxJUSv0h6InyB4y4IaqVUtUGd3ol+VuIX+dkxFwS1Uqr6oN5e8hf53DEXBLVSqvqgPlnyF1nrmAuCWilVfVD/U+KXuOd4C4JaKVV9UK8u+UucdbwFgOp9VDKod2oVAFTvUomQTq9lLdEqAKjWvFDutaxftAoAqld2WsojWgUA1TtRMqjXaxUAVO+vEiH9QJsAoHqvlTybPteQ3/fd0HpFbOuYjpfVswDGzP6SB83dDfl9f27/PhOCWlADjIOJUO61rKUN+F03ZH6nPYJaUAPMdem1rMclDpi/N+T3/aP9+6RXyRYKakENMNe9X/KAeawBv+uHmd/n8hiPmaAGGCPHSh4w36v590yX3f/N/D77BbWgBhgHf5Q4WD4JrUvkdToTpt8vXyaoBTXAXLd0lhwsd+d+n2uGDoBxsLtkUP+nxt8xzYT2KPf7fGzoABgHZV7LSrWjpt9vXaz7HX6flYYOgLku3XP+X8mg3lzD77ety+/3u6EDYBxsCuUf6Pmgwt8rrXX9fY/f5QtDB8A4ON1HUFdxjzqd4X8S617B77LG0AEw16WnvZ/0EdTpsztH9Lusav9F4E6J3+NvQwfAODgZBnunNS2F+VVoPVy2uR348wu2lf79olirQ+sSevrZT0NrJa5bfW7/uKEDYK77LMzeyS/WGz4A5qK03vS+0HpieraG9B3DCMBccyKUWxlrNtS3hhOAueZymDtzPr9vOAEAAAAAAAAAAAAAAAAAAAAAAIBapbnSv4h1MdbDWE9jPYt1N9b5WFtDaz3tvDOhte43ADACaYnOr9qhXDTF6d32Z1Nob4x1uP3P92sjAAzfwlg/58L4fqxDsd7InEG/HuuT0Frdq1OAb9NKABi+c+HVZTZf6/H5xR2CPdWbWgkAw/V2h8DdXeLnlobWJfCpn3keOt+7BgBm4LsOQT2/5M/uC9PvWwMAQ3azQ1CXlc6gH7R/5qJWAsDwPe0Q1Ov6+Pmp+9tezQKAEej0OtaJPn5+T/tnDmglAAxfp1et0ln2GyV//p3g1SwAGJmJ0Pmd6N9Duae4F8Q6FWu1VgLMWHpIN73++qR90nQt1hZtGW/bQ/cZyNx3BqjGylh/9DgeH9Gi8ZXOmu/22Dk+1yKAkUoTTN0JxdM3m6Z5jB0q2Dk+0iKAkZ0s/VEipFOlhZKWatl4ShOc3C7YQXZoE8DQHS0Z0i6B839PbffaOdKDDe9qE8DQpIWOnvYZ1JPaNt7OF+wg92Kt0CaAoTgVpq+XcDzW8tC6HL4hdL8kvl7rxle691H0QMNVbQKYsRTIUxNOPYq1scNn0kqFnaZ5/kT7xtva9k7TK6z3ahPAjBzOHFM39fjc5g7H4HPax9aCoE6vc1nSEmBwf7WPp1+W+Gz+Yd8r2kdS9CTiPi0CGMia9nE03WpcUOLz34dXX9OC/3O9R1D/oD0AA5mau+Ljkp//MLz6Fg5z0Neh9QRhP9aG3i/eA9C/K+1j6IKSn9+SO/4+08K5aaI9uP3eW77QJaifainAQNLywBv7+PwyQT0efmoP8Dt9/ly3B8tcegGoxnwnSuNh6pWrfhfZWNAlqP/SUoDKOFGa4+ZlBvi3Ge4gU3VWWwFqCepH2jH3vJEb5DV9/OySLkG9WVsBBDXDkV9wY6KPn93bIaRvaClAbUH9QDvmnk5h+0GJn0uXzP/O/VyaON6E8ADVmZc7Dt/Ukrnn69D5Pej3evzMwvaZd/7n9mgnQKUW5o7Dl7Vk7ukUuFNnx1+F6fesV4fWbDn/hFfviezQSoDK5Z8VuqQlc89PmWBOgfsslF+kPP3M6VivaSNALd7JHZcvaMnckx48OB9aa5tOSTPd7Ayt16zSO9Hpvbz0Ev3jWLfaO8LB0FozFYD65KcQ/a+WAJSTpoHc3KXe1h6GZE8uqL/XEmC2S89dbO1SW4a0jaWh922j04aBIUgPkt3K7VuHtQWY7S70CNDrQ9rG7oKg3mkYGIJTHfatD7UFmO0e9QjQb4a0jf+G3g9hLjUMzNA2fwkE5qJ1BWe624a0nXs9tmH2PmYqPch7v8v+tVV7gNnsk4Iz3QVD2Mbagr8MfG0YmKHLPfavjdoDzGY/9DjA/T6kbXxW0Vk74+lgwf61SIuA2exxBWe6vc520oRC8w0DA3oztOa16BXU87QJmK3WV3CmOz/0nt3vmmFgQCmAbxTsw0+0CZjNPg2jvz+9peBAesQwMKCvQvG0zpa4BGa1iz0OcL8NaRsnCg6k7xsGBvB+KLf+wlWtAmardNmw1729Yd2f/jP0vizp/iH9Su/c3ykZ1Be1C5it3g2jvz+9wkGUEThfsF/dDRbkAOaAQ6H3/elhPIldNG3op4aBPu0p2KcmY30eLMgBzAE/htHfn54oOKiuNQz04fVYDwv2qTS5yXeZ//+FtgGzUbov/LTHwe6rIWwjTTLR67Wsup/GPR3K3eOcrbVgDu631wr+zKfan8vOK7/Xf+7AbFT0xOww7k8XzRY1IagFdR8Oh+JL3ovbn83OtrfLf+7AbPSfMPr7038VHFj3C2pBXdLb7f2y1593U+bzPwXT0wKz3E89Dni/DuH7N5YIktcFtaAuYWGsWwV/1u9yP3M78+8+8J87MNuk+9O97h0fH8I2iu4l3m5AHwT17HCq4M+Z3qdenPuZ7Pz1G/wnD8w2RWe7W2b4/UXvZ6c6K6gFdQlbS/w5O+2v2cvkS/wnD8w2R8JoV7L6ucTBdaegFtQFlse6X/BnPNPh5xblPrPQf/LAbHMljG4lq7LzLy81DBS4HIpnH+t0tvx27nOWUAVmlaIlJ2d6f3pqycFfemzjT8NAgaJX+3rdoslfLgeYVTYXHPxm8oTs/vZ3pJmjej0A9I1hoIfVofdiMUXPOOwS1MBsdiz0vj896EpW6anbe+3v+Tj0fp3Ge610k/a/GwUh/W/o/YDYPkENzGa9HvT6eQbfO7XmdLqsvTaMfjIV5qYvQ/El760F33FUUAOz1fzQe3anowN+77rMd7zT4UA5zIfVmLvKPIhY5rW+M4IamK22FBwENw/wnelS5dRUoafb/+yvEfxlgLktXcq+U7B/plsry0p813lBDcxWvS4rDnp/eurs+WH7IPpmKF6CEIrCtVNtL/ldlwQ1MFv1emXq6gDfly5zT11Kn1pKsNdiH0/C4A+rMXftLhHS5/v4vp8ENTAbDfv+dLpUORlefQjtjx7buGQYyEkLszwsCOk0O9myPr4zfwm9zMOLaZKUc+2/fALUomjO5H5fmZq6vJgWP1jV/merCrbxcY/vWxnrn2Dt4HFTtHhLqh19fuf/Qv+z4H3X/uwbhgSoy1cFB8NVfXzX4czPfZL554cKtrGmy/elOal/H/CgzOz1eYmQnhjge/OTpRQ9JLm4/RfOO4YEqNNvBQfExSW/J3s/MX9fu9c98Ls9vvP74NL4uEmv9D0Pw73kPeVp7nt2l/yL5xnDAtRlQYmD4vslvie93jU1T3i6r7gi8+8WFWzjXJfvPNjl+5i70mpWt8LoVljLf8+pHp9dGl7eI99uaIC6bC9xUDxc8B3bcmcq2/rcxp4O37kpNGvZS6pxqsT+eGEG35//C+Nkj89OTY6S7mt7IwGozTclDoxp/uTlXX7+cCheYavoHvjq3OffzpzJnDNEY2NLiX1x0EveUzot6LGvw+cOZP79SUMD1OmPUG6N6FvtA+m8dm3t8LOXu2zjYsF3Z61tH4zTP09Pei82RGNheWbce9XuGW5nMnR+hz/dZpnf3t+Oh3IPOgKMXNG9437qRo9QLZr+cWv7IJkOllOvzzwKrZnMGA+XSuxjF4ewnR/63K8vGBqgTjuGFNK3QvdL48mzAb5zq+EZGwdL7A/DeqDw8z72wfTcxWrDA9Tp5BBC+o+CkE6e9Pmd+w3N2Fhdcv/4cEjbW9XHfnjI8AB1+7PLAerPkgeydCmyzD3kUyW/L5157zEsYyM963CjxH4x7Hfoz5XYpocYgdotDr3n9u51MEtPge/rY1tLQ/FDa3+H1tPejI9jobpL3vn98WaPbX5laIAm2Bl6Lzc5v33ASuv8pnt16eGu9CBOuiy9YIDtpe/7LLRmQXvS/s4U+BPBe9JULy0c801m/04PPKY109dpDdAU3S5HD7r2NAAwRH91CeqftAYA6rU0dL/s/YX2AEC9dvUI6g3aAwD1Oh26T/Dg/jQA1KzbMoKXtQYA6rUiDL6cJQAwYrt7BPX72gMA9Tob3J8GgMb6J7g/DQCN9GZwfxoAGqvXur/enwaAmv3cJaTTIhnuTwNAjdK0oc+7BPUP2gMA9ep12fsj7QGAev3RI6hf0x4AqM87PUL6mvYAQL0u9wjqvdoDAPXZ2COkb2oPANTrSKxzXWqd9gAAAAAAAAAAAAAAAAAAAAAAAAAAAAAAAAAAAAAAAAAAAAAAAAAAAAAAAAAAAAAAAAAAAAAAAAAAAAAAAAAAAAAAAAAAAAAAAAAAAAAAAAAAAAAAAAAAAAAAAAAAAAAAAAAAAAAAAAAAAAAAAAAAAAAAAAAAAAAAAAAAAAAAAAAAAAAAAAAAAAAAAAAAAAAAAAAAAAAAAAAAAACzxfpYn8Y6H+tarIexnsR6FutprMexbse6GOtErB2xFmgbAIzOyljHYt2N9WKAetYO7o1aCQDDs6R9VvxswIDuVL/FeltrAWBmNs7gDLqonsc6qsUAMJj97TB9MeL6MdZC7QaA8j6uIKCzdSXWfG0HgGLbKw7pqTqn9QDQ2+pYj7oE6T+xvgytV61WxJqX+bn06tVbsXbGOhlrcsCw3m8IAKC76x3C8+9Ymwf4rvQg2u99BnV6H3uZYQCAVx3sEJwnc2fOg37vkz7C+oShAIDpFsV6kAvM40P8/vfaZ8tlgjqF+mJDAgAvHc6F5cQItrEplH/d64AhAYCWdGk7O6nJ5AjPaI+WDOofDAsAtORfx/pghNtKT4ffKRHUjwwLALRczATkpQq2d6jkWbXVtgAYe2k2sKnFNtL94zUVbHN5KHevepPhAWDc7Qj1zAx2vURQbzU8AIy7bzLBuKbC7Z4R1ABQ7JfwclGMKn1UIqi3GB4Axt3ZWLfDaJ/07mRXiaBea3gAoB47CkI6PWw2T5sAoJlBfVOLAKA+O4O1qQGgsfYWBPVuLQKA+hzvEdJpApaFWgQA9ZnoEdTntQcA6nWzR1Bv1B4AqM/iHiF9Q3sAoF69nvjeoT0AUK+zXUL6utYAQL3SspqPugT1O9oDAPXa1yWkz2gNANTv9w4hfT/WMq0BgHpt6HI2vU1rAKB+v3UI6e+1BQDq12m1rPTO9AKtAYB6LYo1mQvpB7FWaQ0A1O9ELqSfx9qkLQBQv04PkB3QFgCo39JYd3IhfUxbAKAZLuVC+rSWAEAzHMmF9AUtAYBm2JYL6R+1BACaYX2YvujGldBaiAMAqFl6L/peJqR/jbVQWwCgfstj3c6EdFp8Y7G2AED90mtYf2ZCOv1vq2EBQAOks+bsYhu32mfXAEDN0oIaVzMhnSY3eU1bAKB+80LrtaupkP431uvaAgDNMJEJ6fux3tQSAGiG05mQfhhrnZYAQDNkl6xME5u8W9F2073vvaF1yR0A6OBoJqSfxHq/wm1faG93vWEAgFd9lgnpZ7E+qHDbu9rb/cswAMCr9ofpi2xsr3Dbb4TWffC03U8NBQBMtzMX0nsq3HZ2WtJ0Fr/UcADAS1tjPc+E9EcVbntdmD53+IThAICXNoXWA2NTQXloxNtLT3OvjrU71qXcXxBSbTYkANDyXpi+pnTdNWlIAKAlXXJ+2KCQTnXEsABA69Lz/YaFdKpVhgaAcbcytBbWaFpIXzU0AIy77GtQTavdhgeAcbYstGb8amJIp3vl5vYGYGylELze0JBO9a0hAmCcLWhwSKdaa4gAAAAAAAAAAAAAAAAAAAAAAAAAAAAAAAAAAAAAAAAAAAAAAAAAAAAAAAAAAAAAAAAAAAAAAAAAAAAAAAAAAAAAAGiezbFejEldNNwACGpBDQCCWlADIKgFNQAIakENAIJaUAMgqAU1ANB0L5RSs7IAQa2UEtSAoFZKCWpAUCslqAFBrZQS1ICgVkoBAAAAAAAAAAAAAAAAAHOE1bMAQFALagAQ1IIaAEEtqAFAUAtqABDUACCoBTUAAAAAAAAAAAAAAAAAAAAAAAAAAAAAAAAAAAAAAAAAAAAAAAAAAAAAAAAAAAAAAAAAAAAAAAAAAAAAAAAAADBE82Nti/V1rIuxJmM9jvU01rNYT2Ldi3Up1qlYO2It0DYGtD7Wp7HOx7oW62F7H3vW3ufSvne7vS+esL8B4+ytWKfbB8cXfVY6qJ6LtU4bKWFlrGOx7g6wr03tbym4N2olMC4HzYkBD5id6mysZdpKB0vaZ8XPhri//Rbrba0F5qp0GfF/QzxoTlU6U1qvvWRsnMEZdFE9j3VUi4G55vCIDppT9SjWe9pMtL8dpi9GXD/GWqjdwFxwrIKDZqr0YNAq7R5rH1e0r03VldB6IBJgzh040xnP5fa/T2fC2Sdr0/9eE2t3aD009riPA+d1LR9b2ysO6ak6p/XAbLWhS0CnB3xW9vE9i0LrnmDZJ8R3a/3YWR1atz867Q//xPoytJ6RWBFrXu4vhekNhJ2xTobW64GDhPV+QwDMNotj3elwtrtmBt+Znra9V+Kg+Yf2j53rHfaDv2NtHuC70oNov4f+b7t4+wCYVU7mDmSnc2cyg0pnP2Uuha82BGPjYIfxPzmE/S1975M+wvqEoQBmi7dyB7DjQ/7+z0scND80DGMh3RZ5MML97b322XKZoE6hvtiQALPBxczB69QIvj/dVyx6H/u0YRgL+df+JkawjU2h/OteBwwJ0HRvZg5aV0e4nXMFB8zzhmLOS5e2s5OaTI7wjPZoyaD+wbAATfdN+4D1bxjtwzV7Cw6YE4Zizsu/jvXBCLeVruLcCeUm3gFo9BnO1P3CLSPe1jZn1GMve4vlUgXbO1TyrNpqW0BjTYXnhQq2tbngYPm14ZjT0mxgU4ttpPvHayrY5vJQ7l71JsMDNFW6P5gmjnitAUG903DMaTtCPTODXS8R1FsND0DvS9/pTGupFs1p32TGe02F2z0jqAHK6fUw2QXtmfN+CS8XxajSRyWCeovhAQjhux4HynXaM+edjXU7jPZJ7052lQjqtYYHIIRbwUQnVG9HQUinh83maRMw7taH7qskmcKROoP6phYBtN6Rzh8g78d6Q2sYsZ3B2tQAfZ9Np5B+W2uoQNGMeNZCB8ZauqydvzedLndb0pKqHA+9XwtcqEXAOLscXp0m1D1pqjQRTFsL8Ip0lnIpc0BMC37s0hZqcLNHUG/UHmAcvR5enbYxLW34hbNpKra4R0jf0B5gHH0cWssGdjs4PmwHttWKqEKvJ753aA8wTtI83n+FcksKppoM1c9Qxfg522X/u641wDhIyxYeiPVnHwHdaVYyZ9eMav/sdnXnHe0B5rL0XvS3oXUZ+8UQ6rfQWjcYhmlfl/3tjNYAc1U6e/5nSOGcr3RWbplLhun30HminWVaA8xV6Z3TdCnxcaynIwjrS1rMkGzoso9t0xpg3KT7y2/G2hpaUzWmeZMnZxDWe7WUIfitw771vbYAvJTuY38Ter+q1anuBVM6MjOdVsu6ETy0CNDRklhfhtaav2XD+pC2MaBF4dUrOg9irdIagN7WxrpdMqitD8ygTuT2pfQXxE3aAlBOetq27DvXa0f8u5wOo3l6vSk1jpd5Oz1AdsB/dgD9WRFa96HrvvwtqOeW9GrfnVwPjvnPDWAwm0sEzQVBLaj7cCm8OuMdADPwY0HQ/C2oBXVJRyr+Sx7AWNhQEDRPBbWgLmFb7s/9o/+0AIanaGKUeYJaUPeQ3tXPvqd/JbQW4gBgSM7UGDaCenZL70VnH0r8NZgoB2DoPnRWyADSSmvZd/LT4huLtQVg+LaE+i59Mzul17Cy7+Kn/201LIARWRnqe5iM2SedNWcX27gVrGMOMPIDb12vZzG7pNsgVzP7R5rc5DVtARitRT2CekJ7aEu3QLLv3f8b63VtARi9Xpe+raDFlInMfnE/tNY/B6ACW3sE9bvaQ5j+Gt3DWOu0BKA6e7uE9F2tIUxfsvJRhX95e629b3rrABh7/+0S1F9qzdg7mtkfnsR6v8JtX2hvd71hAMZdp+Uun4fWrFOMr88y+8OzWB9UuO1d7e3+ZRiAcddtqUvLE463/bn9YXuF234jtO6Dp+1+aiiAcXetQ0in+5DejR1fO3P7w54Kt52dljSdxS81HMA46zZ16CdaM7bSGwDPM/vCRxVue12YPne4d/iBRkoP63wV6/vQeuJ15Yi2k85U7nQI6cuGYGxtCq0Hxqp6hz49zb061u5Yl3J/QUi12ZAATZLW7/0hdH6o62Kst4a8vcsdtpXWpbawwnh6L0xfU7rumjQkQNMcKThwpcD+OgxnyclzHb4/TQf5hmEYS+mS88PQrHW8jxgWoGluljyApc9tHHAbS8L0uZqn6p/gVaxxlS49329YSL+wPwJN1O8ZTQrcfiaCSPcB73b4nnS53ZO142ll+0pK00L6qqEBmujigAe1G7G+CK3JKLKXxdP/Tk91Hw/Tn6TNXureo+1ja3mX/aIJtdvwAE20paKDYLrM+Z/QWtqS8ZQeGPyroSGdriyZ2xtorKIHymZSaWKTfaH1dDnjK4Xg9YaGdKpvDREwG86sbwzhgJdetUn3nw/EWqGttC1ocEinWmuIgNliTayDofUq1U+xHsR6HOtpptL/TwtqpAfL0ixO6X50mv5xtfYBAAAAAAAAAAAAAAAAAAAAAAAAAAAAAAAAAAAAAAAAAAAAAAAAAAAAAAAAAAAAAAAAAAAAAAAAAAAAAAAAAAAAAAAAAAAAAAAAAAAAAAAAAAAAAAAAAAAAAAAAAAAAAAAAAAAAAAAAAAAAAAAAAAAAAAAAAAAAAAAAAAAAAAAAAAAAAAAAAAAAAAAAAAAAAAAAAAAAAAAAAAAAAAAAAAAAAAAAAAAAAAAAAAAAAAAAAAAAAAAAAAAAAAAAAAAAAEAzrY/1aazzsa7FehjrSaxnsZ7GehzrdqyLsU7E2hFrgbYBwOisjHUs1t1YLwaoZ+3g3qiVADA8S9pnxc8GDOhO9Vust7UWAGZm4wzOoIvqeayjWgwAg9nfDtMXI64fYy3UbgAo7+MKAjpbV2LN13YAKLa94pCeqnNaDwC9rY71qEuQ/hPry9B61WpFrHmZn0uvXr0Va2esk7EmBwzr/YYAALq73iE8/461eYDvSg+i/d5nUKf3sZcZBgB41cEOwXkyd+Y86Pc+6SOsTxgKAJhuUawHucA8PsTvf699tlwmqFOoLzYkAPDS4VxYToxgG5tC+de9DhgSAGhJl7azk5pMjvCM9mjJoP7BsABAS/51rA9GuK30dPidEkH9yLAAQMvFTEBeqmB7h0qeVVttC4Cxl2YDm1psI90/XlPBNpeHcveqNxkeAMbdjlDPzGDXSwT1VsMDwLj7JhOMayrc7hlBDQDFfgkvF8Wo0kclgnqL4QFg3J2NdTuM9knvTnaVCOq1hgcA6rGjIKTTw2bztAkAmhnUN7UIAOqzM1ibGgAaa29BUO/WIgCoz/EeIZ0mYFmoRQBQn4keQX1eewCgXjd7BPVG7QGA+izuEdI3tAcA6tXrie8d2gMA9TrbJaSvaw0A1Cstq/moS1C/oz0AUK99XUL6jNYAQP1+7xDS92Mt0xoAqNeGLmfT27QGAOr3W4eQ/l5bAKB+nVbLSu9ML9AaAKjXoliTuZB+EGuV1gBA/U7kQvp5rE3aAgD16/QA2QFtAYD6LY11JxfSx7QFAJrhUi6kT2sJADTDkVxIX9ASAGiGbbmQ/lFLAKAZ1ofpi25cCa2FOACAmqX3ou9lQvrXWAu1BQDqtzzW7UxIp8U3FmsLANQvvYb1Zyak0/+2GhYANEA6a84utnGrfXYNANQsLahxNRPSaXKT17QFAOo3L7Reu5oK6X9jva4tANAME5mQvh/rTS0BgGY4nQnph7HWaQkANEN2yco0scm7FW033fveG1qX3AGADo5mQvpJrPcr3PaF9nbXGwYAeNVnmZB+FuuDCre9q73dvwwDALxqf5i+yMb2Crf9RmjdB0/b/dRQAMB0O3MhvafCbWenJU1n8UsNBwC8tDXW80xIf1ThtteF6XOHTxgOAHhpU2g9MDYVlIdGvL30NPfqWLtjXcr9BSHVZkMCAC3vhelrStddk4YEAFrSJeeHDQrpVEcMCwC0Lj3fb1hIp1plaAAYdytDa2GNpoX0VUMDwLjLvgbVtNpteAAYZ8tCa8avJoZ0uldubm8AxlYKwesNDelU3xoiAMbZggaHdKq1hggAAAAAAAAAAAAAAAAAAAAAAAAAAAAAAAAAAAAAAAAAAAAAAAAAAAAAAAAAAAAAAAAAAAAAAAAAAAAAAAAAAAAAAOaKzbFejEldNNwACGpBDQCCWlADIKgFNQAIakENAIJaUAMgqAU1ANB0L9TQCgAEtaAGQFArQQ2AoBbUACCoBTUAgloBAAAAAAAAAAAAAAAAAEDfrJ4FAIJaUAOAoBbUAAhqQQ0AglpQA4CgBgBBLagBAAAAAAAAAAAAAAAAAAAAAAAAAAAAAAAAAAAAAAAAAAAAAAAAAAAAAAAAAAAAAAAAAAAAAAAAAAAAAACAuWtprOOxvtcKAGiOJbGOxnoc60WsR1oCAPVbHOtIrP+1A/qFoAaA+i2K9Z9YD3MBLagBoEYLY30e60GXgBbUAFCDBbEOxbpXENCCGgAqND/WZ30EtKAGgArMi/VJrLt9BrSgBoARB/TBWHfagfs81q+xTsc6Ees3QQ0A9bnZDto/Yn0aa3mHz5wR1ABQjzRpyVsFn1khqAFgdpx5C2oAaKBLghoAmuuioAYAQQ0ACGoAENQAgKAGAAQ1AAhqAEBQA4CgBgAENQAgqAFAUAMAghoABDUAIKgBAEENAIIaABDUACCoAQBBDQAIagAQ1ACAoAYAQQ0ACGoAQFADgKAGAAQ1AAhqAEBQAwCCGgAENQAgqAFAUAMAghoAENQAIKgBAEENAIIaABDUAICgBgBBDQAIagAQ1ACAoAYABDUAzAI/CmoAaK5bghoAmmlRrOcFQZ3+/TytAoDqHSgI6anapFUAUK3FsW6XDOqr2gUA1VkR65eSIT1Vp4JL4AAwMktjbWsH7uM+Q3qqJmMdjfVBrAVaCgCD2xDrXqyHsZ4OGMxF9bT9/Wk7u7QcAMrbPKJw7lZ7tRwAAAAAAAAAAAAAAAAAAAAAAAAAAAAAAAAAAAAAAAAAAAAAAAAAAAAAAAAAAAAAAAAAAAAAAAAAAAAAAAAAAAAAAAAAAAAAAAAAAAAAAAAAAAAAAAAAAAAAAAAAAAAAAAAAAAAAAAAAAAAAAAAAAAAAAAAAAAAAAAAAAAAAAAAAAAAAAAAAAAAAAAAAAAAAAAAAAAAAAAAAAAAAAAAAAAAAAAAAAAAAAAAAAAAAAAAAAAAAAAAAAAAAAAAAAAAAAACARlgf69NY52Ndi/Uw1pNYz2I9jfU41u1YF2OdiLUj1gJtA4DRWRnrWKy7sV4MUM/awb1RKwFgeJa0z4qfDRjQneq3WG9rLQDMzMYZnEEX1fNYR7UYAAazvx2mL0ZcP8ZaqN0AUN7HFQR0tq7Emq/tAFBse8UhPVXntB4Aelsd61GXIP0n1peh9arViljzMj+XXr16K9bOWCdjTQ4Y1vsNAQB0d71DeP4da/MA35UeRPu9z6BO72MvMwwA8KqDHYLzZO7MedDvfdJHWJ8wFAAw3aJYD3KBeXyI3/9e+2y5TFCnUF9sSADgpcO5sJwYwTY2hfKvex0wJADQki5tZyc1mRzhGe3RkkH9g2EBgJb861gfjHBb6enwOyWC+pFhAYCWi5mAvFTB9g6VPKu22hYAYy/NBja12Ea6f7ymgm0uD+XuVW8yPACMux2hnpnBrpcI6q2GB4Bx900mGNdUuN0zghoAiv0SXi6KUaWPSgT1FsMDwLg7G+t2GO2T3p3sKhHUaw0PANRjR0FIp4fN5mkTADQzqG9qEQDUZ2ewNjUANNbegqDerUUAUJ/jPUI6TcCyUIsAoD4TPYL6vPYAQL1u9gjqjdoDAPVZ3COkb2gPwNyzOZRbjWku1MU5MF69nvjeYXcGENSCul5nu/zZrtuVAQS1oK5XWlbzUZc/2zt2ZQBBLajrta/Ln+uM3RhAUAvq+v3e4c90P9YyuzGAoBbU9drQ5c+0zS4MIKgFdf1+6/Dn+d7uCwD167RaVnpneoHWAEC9FsWazIX0g1irtAYA6nciF9LPY23SFgCoX6cHyA5oCwDUb2msO7mQPqYtANAMl3IhfVpLAKAZjuRC+oKWAEAzbMuF9I9aAgDNsD5MX3TjSmgtxAEA1Cy9F30vE9K/xlqoLQBQv+WxbmdCOi2+sVhbAKB+6TWsPzMhnf631bAAoAHSWXN2sY1b7bNrAPj/rJ5Vj7SgxtXM75YmN3nN7giAoK7fvNB67Wrq9/o31ut2RQAEdTNMZH6n+7HetBsCIKibEdSnM7/Pw1jr7IIACOpmBHV2yco0scm7FW033fveG1qX3AEQ1IK6g6OZ3+NJrPcr3PaF9nbX290BBLWgftVnmd/hWawPKtz2rvZ2/7KrA8Cr9uf+srC9wm2/EVr3wdN2PzUUADDdzlxI76lw29lpSdNZ/FLDAQAvbY31PBPSH1W47XVh+tzhE4YDAF7aFFoPjE0F5aERby89zb061u5Yl3J/QUi12ZAAQMt7Yfqa0nXXpCEBgJZ0yflhaNaT7kcMCwC0Lj3fD817JW2VoQFg3K0MrYU1mhbSVw0NAOMu+xpU02q34QFgnC0LrRm/mhjS6V65ub0BGFspBK+H5k6X+q0hAmCcLQjNntd8rSGC8fT/AG2XJu1unWW5AAACinRFWHRNYXRoTUwAPG1hdGggeG1sbnM9Imh0dHA6Ly93d3cudzMub3JnLzE5OTgvTWF0aC9NYXRoTUwiPjxtc3R5bGUgbWF0aHNpemU9IjE2cHgiPjxtc3ViPjxtaT5MPC9taT48bWk+czwvbWk+PC9tc3ViPjxtbz49PC9tbz48bW8+JiN4QTA7PC9tbz48bWZyYWM+PG1pPiYjeDNCQjs8L21pPjxtcm93PjxtaT4mI3gzQkM7PC9taT48bW8+LTwvbW8+PG1pPiYjeDNCQjs8L21pPjwvbXJvdz48L21mcmFjPjxtc3BhY2UgbGluZWJyZWFrPSJuZXdsaW5lIi8+PG1vPiYjeEEwOzwvbW8+PG1vPiYjeEEwOzwvbW8+PG1vPiYjeEEwOzwvbW8+PG1vPiYjeEEwOzwvbW8+PG1vPj08L21vPjxtZnJhYz48bW4+MjwvbW4+PG1yb3c+PG1uPjM8L21uPjxtbz4tPC9tbz48bW4+MjwvbW4+PC9tcm93PjwvbWZyYWM+PG1zcGFjZSBsaW5lYnJlYWs9Im5ld2xpbmUiLz48bW8+JiN4QTA7PC9tbz48bW8+JiN4QTA7PC9tbz48bW8+JiN4QTA7PC9tbz48bW8+JiN4QTA7PC9tbz48bW8+PTwvbW8+PG1mcmFjPjxtbj4yPC9tbj48bW4+MTwvbW4+PC9tZnJhYz48bXNwYWNlIGxpbmVicmVhaz0ibmV3bGluZSIvPjxtbz4mI3hBMDs8L21vPjxtbz4mI3hBMDs8L21vPjxtbz4mI3hBMDs8L21vPjxtbz4mI3hBMDs8L21vPjxtbz49PC9tbz48bW4+MjwvbW4+PC9tc3R5bGU+PC9tYXRoPtkoeL8AAAAASUVORK5CYII=\&quot;,\&quot;slideId\&quot;:267,\&quot;accessibleText\&quot;:\&quot;L subíndice s igual espacio fracción numerador lambda entre denominador mu menos lambda fin fracción\\nespacio espacio espacio espacio igual fracción numerador 2 entre denominador 3 menos 2 fin fracción\\nespacio espacio espacio espacio igual fracción 2 entre 1\\nespacio espacio espacio espacio igual 2\&quot;,\&quot;imageHeight\&quot;:168},{\&quot;mathml\&quot;:\&quot;&lt;math style=\\\&quot;font-family:stix;font-size:16px;\\\&quot; xmlns=\\\&quot;http://www.w3.org/1998/Math/MathML\\\&quot;&gt;&lt;msub&gt;&lt;mi&gt;L&lt;/mi&gt;&lt;mi&gt;q&lt;/mi&gt;&lt;/msub&gt;&lt;mo&gt;=&lt;/mo&gt;&lt;mfrac&gt;&lt;msup&gt;&lt;mi&gt;&amp;#x3BB;&lt;/mi&gt;&lt;mn&gt;2&lt;/mn&gt;&lt;/msup&gt;&lt;mrow&gt;&lt;mi&gt;&amp;#x3BC;&lt;/mi&gt;&lt;mfenced&gt;&lt;mrow&gt;&lt;mi&gt;&amp;#x3BC;&lt;/mi&gt;&lt;mo&gt;-&lt;/mo&gt;&lt;mi&gt;&amp;#x3BB;&lt;/mi&gt;&lt;/mrow&gt;&lt;/mfenced&gt;&lt;/mrow&gt;&lt;/mfrac&gt;&lt;mspace linebreak=\\\&quot;newline\\\&quot;/&gt;&lt;mo&gt;&amp;#xA0;&lt;/mo&gt;&lt;mo&gt;&amp;#xA0;&lt;/mo&gt;&lt;mo&gt;&amp;#xA0;&lt;/mo&gt;&lt;mo&gt;&amp;#xA0;&lt;/mo&gt;&lt;mo&gt;=&lt;/mo&gt;&lt;mfrac&gt;&lt;msup&gt;&lt;mfenced&gt;&lt;mn&gt;2&lt;/mn&gt;&lt;/mfenced&gt;&lt;mn&gt;2&lt;/mn&gt;&lt;/msup&gt;&lt;mrow&gt;&lt;mn&gt;3&lt;/mn&gt;&lt;mfenced&gt;&lt;mrow&gt;&lt;mn&gt;3&lt;/mn&gt;&lt;mo&gt;-&lt;/mo&gt;&lt;mn&gt;2&lt;/mn&gt;&lt;/mrow&gt;&lt;/mfenced&gt;&lt;/mrow&gt;&lt;/mfrac&gt;&lt;mspace linebreak=\\\&quot;newline\\\&quot;/&gt;&lt;mo&gt;&amp;#xA0;&lt;/mo&gt;&lt;mo&gt;&amp;#xA0;&lt;/mo&gt;&lt;mo&gt;&amp;#xA0;&lt;/mo&gt;&lt;mo&gt;&amp;#xA0;&lt;/mo&gt;&lt;mo&gt;=&lt;/mo&gt;&lt;mfrac&gt;&lt;mn&gt;4&lt;/mn&gt;&lt;mrow&gt;&lt;mn&gt;3&lt;/mn&gt;&lt;mfenced&gt;&lt;mn&gt;1&lt;/mn&gt;&lt;/mfenced&gt;&lt;/mrow&gt;&lt;/mfrac&gt;&lt;mspace linebreak=\\\&quot;newline\\\&quot;/&gt;&lt;mo&gt;&amp;#xA0;&lt;/mo&gt;&lt;mo&gt;&amp;#xA0;&lt;/mo&gt;&lt;mo&gt;&amp;#xA0;&lt;/mo&gt;&lt;mo&gt;&amp;#xA0;&lt;/mo&gt;&lt;mo&gt;=&lt;/mo&gt;&lt;mfrac&gt;&lt;mn&gt;4&lt;/mn&gt;&lt;mn&gt;3&lt;/mn&gt;&lt;/mfrac&gt;&lt;mspace linebreak=\\\&quot;newline\\\&quot;/&gt;&lt;mo&gt;&amp;#xA0;&lt;/mo&gt;&lt;mo&gt;&amp;#xA0;&lt;/mo&gt;&lt;mo&gt;&amp;#xA0;&lt;/mo&gt;&lt;mo&gt;&amp;#xA0;&lt;/mo&gt;&lt;mo&gt;&amp;#x2248;&lt;/mo&gt;&lt;mn&gt;1&lt;/mn&gt;&lt;mo&gt;.&lt;/mo&gt;&lt;mn&gt;33&lt;/mn&gt;&lt;/math&gt;\&quot;,\&quot;base64Image\&quot;:\&quot;iVBORw0KGgoAAAANSUhEUgAAApAAAAV4CAYAAAAXBe0xAAAACXBIWXMAAA7EAAAOxAGVKw4bAAAABGJhU0UAAAK+3stulwAAXghJREFUeNrs3Q/kVXf/APCPJJlEkiSJJMkkMjNJIpMkiSRJEpN5ZDJmZpLETDKTkSSZxEySzJjMPGbGZGaSkSSTxEySJPY7n9+932e32/n3vd977j3n3NeLt2dPfTt/Pu9zz31/z/n8CQEAiFYn8UESXyfxRxJPk3iexLMkHifxYxIXktibxDzNBQAwud7uFof/TCNiYflFEks1HwDA5FiQxFfTLBz740kShzUlAED7LUni9gyLx944q0kBANprURJ3hlg8TsUZTQsA0E43Kigep+KA5gUAaJf3Uoq+X7p//mYSc3p+dm4SG5M42v2ZMgXk30ks1MwAAO2wOHSm45kq9h4msWMa/35zKNdv8oSmBgBoh9M9Rd6fSSwfYBtx/sdvCgrIR0nM0twAAM0WC79n3QIv/u+6GWwrvtoueqW9SZMDADTbkZ7i7oMhbC+uWvMip4B8X5MDADTbD93C7lYY3uvlCzkF5EVNDgDQXPN7CrudQ9zulpwC8mvNDgDQXLu6Rd2vQ95ufJL5QgEJANA+n4XqJvm+lVFAXtLsAADlxCItrvTyNHRGO3+fxNYxH9P+0HkiWMXUOtcyCshPXQoAAPmWhvypbT5u6XlfyTjf3S4JAIBsS5K4F4pXaDnYwnO/nnGuS10WAADp4mvhsutE/5XEgpad/88p5/mrywIAINuxksVjW19lP0s5x6MuCwCAdMsyCqi8uNui81+Ycn7Pk1jk0gAASHemp3CK8yGe6BZP8bX2hpD9ant9S85/V8q5fe6yAABIFwvF592i6XESm1J+Zl5InyfxPy1pg3Ph1aePBs8AAGT4sKdw2pzzc2nL/bVhnej4lPVh33kdd1kAAGT7rVs0nSzxs3f6Cq1vW3D+O8KrfTvnuiwAANKt7hZNce7HOSV+/mx4dTqfpvuh75w2uSwAALId7RZN75b8+X19xdbThp//W33nc8olAQCQL76Cjk8R55T8+a3h1cEmTXaz51x+SmK2SwIAIN/eML1XtgtbVEC+03MecRDNYpcDAMDwze4rIJ819DzixOmPw7+v4d+QWgCA6jS9D2SctuennnPYIaUAAKMrIB838PhP9xz/AekEAFBA5ukdRX5UKgEARl9APmrQccc1vZ8GK80AAIzUrL4C8lZDjnt1t9iNx3xGGgEARmduXwF5vQHHvDSJP7vH+6UUAgCM1vy+AvJqzY83zu14t3us16QPAGD03ugrIL+q8bHGSc9/6x7njWCVGQCAsehfyrCur4Tjk9Kfu8f4YxLzpA4AYDz29hWQZ2t4jLGf5g/d4/s1iQXSBgAwvsLsdl8B+WHNjjG+pv62e2yx7+OiIW//chKbXQoAAOWc6SseY+yr2TFe7R5XHHW9dMjbPtTd9iqXAgBAse0pxWOMXTU6xkvdY3pYQZH3euhMQv5flwIAQLFF3aIsrYDcVpNjPNs9nr+TWD/kba9J4kF3+4dcDgAAxa5nFI8xNtXg+E51jyU+Idw4pG3O6Z7bp0k869n+XJcDAEC+wznFY4zXxnx8xwqOb5hx1uUAAJAv9iN8WlBUzRrj8R0ZYfEY4y2XBABAtlgY3iwoqJ6O8fgOjLh4/N0lAQCQ75MSRdWjMR3brhEXjzGOuiQAALJtLFlUfTeGY4ujvp+PuHh8EYY/ITkAQGvEZf/ulSysrozh+L4Lo3/6eNVlAQCQ7VJBMXW/57+/1FwAAJNtb0HxGNeWfj+Y1gYAgMSyJP4qKCDjxNpf9Pz/DzQbAMDk+r6geDzT/bkve/5sv2YDAJhMH4biV9fzuj/7dc+f79Z0AACTZ13oTFOTV0Bu7vn5b3r+fLvmAwCYLHOTuF1QPH7R92/u9Pzd25oQAGCynCkoHuN8kPP6/s2Tnr/foAkBACbHtlA8gfbWlH/X+7p7vmYEAJgMcVm+hwXF4/mUf/da38/M1ZQAAJPheihebSbt6eK6vp+brSkBANrvcBjs1XXU/9obAICWW5nE04Li8ULOv9+tgAQAmByzkrhZUDz+GfIHxhxQQAIATI6TofjV9baCbRxTQAIATIaNJYrHCyW2c14BCQDQfvGV9L2C4vFBEgtLbOuSAhIAoP0uheKnjztKbuuqAhIAoN32lCgeL01je98oIAEA2mtZEn8VFI9xNZqF09hm/6vwMhOJx8nHLybxhpQAANTb96H46ePOaW7z775/v6DEv/mi+7MrpAQAoL7eL1E8Xh5gu/2TkG8p+Pl5STwJnSeXAADU1NokXoThvrqe8qxvO3sKfv7D7s+dlxYAgHqam8TtUPz0cdeA2+/fzpmcn42vt6f6YO6QGgCAejpTonj8agbb73+yeTfnZ6cmHY/9JmdJDQBA/WwtUTwO+up6ytOUbR5I+blDPX//udQAANTPom5xWFRA7pnhfu6mbDMWlYdDZ0qfOGjmRN/fr5YeAID6uVqieLwyhP18XWI/w3pdDgBARQ6XKOTiYJbFQ9hXmemBpiKO2F4pPQAA9RILtKclirl9Q9rf8mkUkEelBwCgXuLI5pslCrmrQ97vxRL7vCg9AAD1czyM7tV1rzi/462cfX4iNQAA9JufxOkkHoROX8e4VOG50FkFBwAAAAAAAAAAAAAAAADa458RxjbNDQDQfJdCZ7LZOCntswqKxidJfBM666Ka5gEAoIXWJPFREo9mUDTeCZ2lrKyFCgAwQZYkcX+A4jGuRDBL8wEATKaj0yweP9BkAACTbec0isfvNBcAANMpIA2QAQAg7C9ZPP5XUwEAEH1esoA8rKkAAIi+KVlALtFUAADEqXielygef9VUAABEm0O5p4+faioAAKJPShaQWzQVAADRzRLF49Ng1RkAABKLQ7mnj1c0FQAA0cGSBeQ7mgoAgOhyyQJymaYCACD2aXxconj8XVMBABBtCOWePn6mqQAAiI6VLCC3aioAAKKfSxSPcYUa0/cAABDmh3JPH69pKgAAoj0lC8h3NRUAAFHZ6XtWaSoAAKKHJYrHO5oJAIBofSj39PGMpgIAIPqoZAG5XVPVypaSeWtDWHsdAGrm+1Bu+p7ZmkoBqYAEAF5L4kWJL/BvNJUCUgEJAES7Sn6Bv6epFJAKSAAgOlfyC3y1plJAKiABgOjPEl/edzWTAlIBCQBEq0t+eZ/XVApIBSQAEL1X8st7p6ZigvwjhBBCNDRG4tsSBxJHaM9RU6CAFEIIIRSQcU7H5yUO5IZ6AgWkEEIIoYCMdpQ8kPfVEygghRBCCAVk9HnJA3ldPYECUgghhFBARn+UOIgHagkUkEIIIYQCMlpZ8iAuqCUAAIjeKVlA7tJUAABEV0sUj3H6nvmaCgCAWaHc9D0/aCoAAKKyy999rKkAAIhOlSwg12sqAACi30oUj480EwAA0ZJQ7unjxZoc75uhM5XQNqlLVbY7QhviinQDwHgcLPllvacmx3ujezyXpU4BKd0AMB6XQ7npexbU4Fg39BzTXqlTQEo3AIxenL7nSYkv6p9qcry/dI8nTjk0V/oUkNINAKO3seQX9fEaHOu+nuO5LnUKSAUkAIzH8ZJf1G+N+Tjj6/M/e47noNQpIBWQADAev5T4kn4aOq+6x+l8eLk/5kKpU0AqIAFg9BY05Et6T9/xfC91AAD1KMyy4qMxHmNc+eZx3/G8K3UAAONRZvqeGDvHdHxrk3iYcjxLpQ4AYPRin8a/SxaQW8ZwfNszju8nqQMAGI/NofxAhbdHeFzzkzibcywfSB0AwHicm0YBOYo+kPGJ6H+SeFBwLKulDgBg9OLo66fTKCDjz+6q6FiWdwvUeyWO43epAwAYj8/DYHPu/ZbEJ6EzqGZLtxCdXbCv+PevJbEydF6Fx397JImLSdye5v5PSB0AwOi9F5o7afR66QMAGI0lSRwInRHMTS0e70kjAED1TiXxJLRjybrPpBMAoHrXQ3vWPN4onQAAAAAAAAAAAAAAAAAAAAAAAAAAAAAAAAAM3ewkdiZxPombSTxN4nkSj0NnFaDtmggAgGhREieT+CsUL8H4ec+/+yCJ7/rivOYEAGivWd0i8ElfkXg3ifeTWNn9uTlJ7E/iXvfv93b//H5KgXlWswIAtNOqJH7tK/5eJPFR6LzKThOfVN5O4lYS60P6E8qdmhYAoH1iX8bHfYXf/W5RWGRz9+evpBSPz3OKTwAAGupwSuH3W+g8XSzrcUh/+vit5gUAaJcjQygeo+8yCsj3NDEAQHscTCn4/kxi8QDbyhqtvUYzAwC0w+aUYu9ZKNfnMc2zlO3d1cwAAO2wNIlHKQXf4QG3tzykP300fQ8AQEv8Nwx3sMvuYPoeGKX5SezQDDAyB5K4ETqrscU3bt8nsXWE+1/gM8+4vZ9S6MVJw5fOYJvnQ/r0PXM0NwzdriQedD9jKzQHVCp+N/4Ssldi+3hEx3G1u79rM/y+hoEs6/72NOwPwJ8p2/xOc8NQLUzi657P2I3uUwmgGkvCv6ut5cXBERxL78Ofv8O/q7/BSFxKufDjk4y5M9jmW8H0PVC1LUk87Pl8xc+yCfqhOnFZ319KFI8x/hrRL3PxlXnvnMsXZvj9DaW8nnHhvz/D7Z4Jpu+BKp3s+2yd0SRQuWMli8dRv8pe1/fLZJy3eZl0UaW0p4/xdfa8GWwz9nF8EkzfA1WIr6xv9H22TmsWqFwsyJ5Ns4C8O+Lj6321HgvKDdJGVRfbi5QLfqZPMt7N+CCd0+QwIyu6X0i9n6tTmgVGovfNWvzuPBE6q7PN6hZqWa+214/wGPv7Z8aC1yhthu6jjIt94wy2OSvlC870PTBzb4aXX1H5pQxGJxaKz7ufu9jfcFPKz8Q3d7dSvvv+M+JjjUVk/yBWg2sYqt9SLvSHM9zmwYzi0fQ9MLjN4eVO8jGuaBYYmQ97Pnubc35uS8r338UxHO/q8OrCIHukkWFYkVHofTmDbcbRn1lTG5i+BwYTn3T09yn+ORhlCaM09cDlZImfvROGtyDHTMTX6v3d1LZLJTOV9aRwJvNWfRCyOxIf1eQwbfG1df+Tx/iWYLGmgZFZ3f3sxQckZd6knQ2vTuczLofDq4Nk10spM3Exo9DbPOD24oCcJyF9UI7pe2D6lodX+zzGz9dGTQMjdbT7+Xu35M/vSynaxulyeHWe5yXSyqC+zSj0Xhtwe991v9zStmv6HpieOPnwHymfpeOaBsbyfRmfIpbtx781vDoGYNz3k/5BNbEbjEUHGMjfGQXkII6EfydMTfvSM1IUpudayufopmaBsYgjmDdN4+cX1qyAjLan3FM+k1oG8WxIBeQb3Q/Hr0msDabvgZlK60scn+7rBgLNMLvv8/usJsd1NeXe8rZ0MV1ZfRVnTWMbS0OnL0Xs37EqpC/xZPoeKG9txmfTkwJoljr1gZyyMuX+El9tz5cupuNpRgH5Rsl/HzvgTr2ufqf7Z2mz8Ju+B8qJv7z9nvIZioPTFmoeaGwB+bhGx3U25R5zVrqYjpsZBeSHJf5tfJU2Nd/j+Z6C0vQ9MLhjGZ+hk5oGFJBDsirM7OERZE7jE19JL8r4N/EJSeyfNdV/8vvw7yiuw8H0PTCoZSG9X3LsAmLOR2h2AfmoZseWNluKQXqUtjVkT/od1/Lc0i0YY8R+WXHd7N5VZuLr6t5+EzeC6Xtg2L/QXdI00DizUr5T62Rfxv1mn9RR1u2cIjIv/hs680pNiQvIp3X8P6+JodCanM/aVs0DjTO373N8vWbHFwe2Pk+539wJ0xtIywTbGLJHY2fFufDqqOq9wfQ9MKjLGZ+fJ27m0Ejz+z7LV2t4jFcz7jvvSB9l7QivrrWbFnF06NZpfAGavgeKrcj5zF3WPNBIb/R9lr+q4TEeyrjv/CF9TEccQR1HesbJwOP0Ps+6RWUcJBPnn8tbe3dWSO/8b/oeKHYqp4A8oHmgkfrHGHzZsF9evT1kJLYH0/fQDnGpsi0Zsa6C/cUZDB7l3MRXSEnjc8xk6u/WVdd5Fh9k3Ht+kEJG4VzGBbha0zAk8VralhHDGmSyIBT3/R22XTn7eyTHrcgxkycOoOkfoPphTY/1q5zPwyqpZBy/wZi+h1Hd5H4e0j72FBQXuyo4rys5+/tajluRYybPmdCc6XE+yvk8WMCASr3pN3lGIG+Q1+kh7ePLnH3EmQoWDPmc4uvr5zn7/ESOG59jJs/2hv1ysjPnM+FBEJX6NOiAS7XWhvynRtuHtJ8HOfuoYoWGHQXntUeOG59jJktcwe1hxvW1rabHvLTgs2d5QyqTNhF5fKoyW9MwJP8J+U+NhjFV1OsFN9FPKzivzwv2uVGOG59jJsv1nOtrU42PO28u6OPSShVWZ1xwpu9hmL7Oubn9NKR9vBdG8wSs168F+5wjx43PMZPjcMH19VqNj/1OznH/IrVU4f1g+h6q9yRU/9Qo78lBFU/U5xT81v9MjhufYyZHHK38tKCArPOKUldD/huAuVLMsP2YccGt0TQMyfpQ/VOjosEs31dwXlsKzuu+HDc+x0yGWBjeLLiGn9b8HC4GT+cZocXBqC2qdyRU3zdua8HN8+MKzutQwT6vyXHjc8xk+CQULwP8qOHncEyaGaas19cXNQ1DlDdP4o9D2sepMPrBLEW/8X8lx43PMe23sUTx2IRxAQcKjv9rqWZY4tPHrKkKPtA8DEl8NZTXr2hYfePyBrM8DdX0XbpWcMO+IMeNzzHtFucMvVeygLxS83PZHXSpYQQ2h/wRW7dCZy4smKk3Q/X9chaP6cZf9MXzhRw3Pse026USRdfUf39Z83PZXnAuL/ySxaC/mRztfgD+KPnb1l9JnE9if+hMhmxScQZxtOCGNoxRs0VL2x2p6NyeFez3tBw3Pse0196CayqOBejt5nW25udT1Ec4xkppZ7riB+HRDOO2ZmQAea95h9U37nLBTfP1Cs5rVomb9SE5bnSOaa9l3YckeddUnDT8i9Ccrl2bS9yTtko90ASxyMp7SjeMdaLjxL55U7tUNXLytRI36wNy3Ogcl3UulHur09Ro42T43xec85nuz/Wuu76/5ue0pEQudwWABiga3TiMvnFFK0dcrujcFpS4We+X40bnWAHZzgLyw1D86npe92d7V1faXfPzmlcil/t8LQFN8FGovm/cbwU3zINjKpwmpYBsc44VkO0rINeF/NWjYmzu+flvQnMm4i5TQB4MAA3wTc6N7L9D2P6mEjfMZRWd25aggGx7jhWQ7Sog41J+t8P0Zk7ona3k7ZqfX5luNZPSLxtosNg3Lq/f2okh7KOoH9OdCs+vTIf1/XLc6BwrINtVQJ4pOM84Lde8vn/Tu777hpqf35wSuTwRAGqu6MnRTEcDFs09WPVE3msUkK3PsQKyPQXktjDYCOXe193za36Oc4MnkEALfJxzE4tPrWbaN+5GGO+IwzL9jQ7IcaNzrIBsRwEZF8V4WHCO51P+Xf8r4bk1P099IIFW+DbnJvb9DLdddu3aBRWe32y/7bc+x7TD9VC82kza08V1fT83u+bnaRQ20HjxRltl37ib3e38kLOPX0dwnkWjOc/IceNzTLMVTQGV19Wi/7V33ZWZWsw8kECtFY1QnsloxoPh36U28zrFj2IZwaLXYmfluPE5prnisn1Pw+B9aHc3rIAs89TeSjRArR0P+X3jZg243fiK5kF3O++G/Ck5RjFnW9GrsQty3Pgc00zx+rtZ8Pn8M+QPjDnQsALy7WAtbKDh8gY/3JjBdk+Ff19dvh6qn8C6yMWCm/VXctz4HNNMJ0sUU9sKtnGsYQXk9oLzfTGDX+wAKjc75PcNPDbgdtf2bOONlJv7MAdwlHWk4Ib9jRw3Psc0T5lXuWXeDpxvWAG5u+CcH7o0gDrbWnAT2zLANuNvzVPL2Z3r/tlvFRQw01U0t9yfctz4HNMs8ZX0vYLrM3aRWFhiW5caVkAeKDjvKy4PoM7yXh0N2jdu6knUX90b/6qCG+WmEZ1r0dJhz+S48TmmWS6F4qePO0pu62rDCsjjBedt0BlQa3nTrnw3wPbiq8yp16VTK7t8lLOPp2G0/XxuhclYBm6Sc0wz7ClRPF6axva+aVgBWdQne7dLBKirYfeNi6+j7oZXB2b8krOPqyM+57MFN+3Nctz4HFN/y0Ln6XVRH8CF09hm/6vwMoO21nULuTfG0AZXC85/icsEqKuiPoHTnXZl6ob4JInl3T9bXrCPd3O2tzSJP4b8m/iuguPZI8eNzzH1930ofvq4c5rb/DtMf9WjL7o/u2IMbXA359zvuESAOvuk4Aa+fBrb+rDn3/2n58+PFuxjdcb24qvknwb8IskT18fNW5HlEzlufI6pt/dLFI+XB9hu/yTkRYPD5nV/Ebo3hjaIXTry3gx84TIB6uzHgpv4vJLb6e3L1N+nLq//3f2cbU69aq7i9WfehOJX5LgVOaae1obiJUWn++p6yrMwvbcJU78QnR9DO6wM1a0MBVCpOSVu5BtLbCdOETP1RC/2aVrc83evFezjYsY2D2dsb1jyps94JMetyDH1E5/+3w7Vrf88nbXtF4R/+2DuGENb5HWleRwMOgNqbEeJG/mHBdvY3vdb//Zp7mNvyjY3D+GLpMhrIf819lI5bnyOqZ8zJa7HmawG1f+LzN2cn52adPzvMRVreVNrnXOpAHV2usTNPE6svSjj33/Y97MnUn6mqP9d/zqv63qeClys+PzPh/YPpJn0HFMfW0tci4O+up7yNGWbB1J+7lDP338+pvbI60bzlssFqLNfStzQY9zu3vxndWNbyr+9nrGPKwXb7vV69wsk/nkclTuv4vNfH2a2bJoc1z/H1MOinrxXOQNC2qjmWFTG7hKzu9fbiVBugFeV4mfsWUYb/OpyAeqsqN/adOJmTiFQtETZtu6NPd7gp6bgiP1/Vo2oHX4K2UunyXE7csz4XS1xjQ1j8NrX07yuvxpTe2zIOaaDLhegznYOqbC4HbJff0bPB9jmthG2Q17/vXVy3IocM16HS1wPwxpI9f40rsH4BHDlmNokawnDOGOBwTNArX0+hMLil4LCIno6zW2O47fv3zKO5aQctybHjMfKktfHviHtb/k0rsOjY2yXrHvOEZcMUHe/huz+N2VuvvF1U5n+a2dKbi8+xdo7prbYGaY/f6EcNyvHjF58knazxHUx7DlAL5bY5zgHb63NOKa7wdNHoObmhfx1kfNuwHHE7oFp7CvOtVY0kOP3MP7XxT+H4SzzJ8f1zTGjdTyM7tV1//V4K9R3panPwnDnvgQYmbwJbDeFzoCHeJONA0liP6E44CF2To+vHucMsL+4vfdCZ0WUp91txiLlco1umusy2uN7OW5Njpkc80NnCqup6zsO9IpzK66twXE9SflM3pAyoAmyXjnGV4yT/ArlXEa7vCnHwBAcS/lMxoJyhaYBmiCrA/c3E94ucQLjtLnqfpBjYIYWhfSnj+9qGqAJFoTsV5sfaJ7MaX12yDEwA2lvOK5rFqApducUFxs0T+aNPo6QnCfHwADSJg6P/TIXahqgycXR1KS6+sZ1xBVc0l4Bn5FjYJrmhVeXWIwDzdZqGqBJbmcUF16lvCx2an+U0k5b5BiYhkuhPdODARNqcch+tfmh5nlFnO6mf5m+h2H489bJMbTTuymfw0OaBWiaPTnFxUbNU7rNfgqdeQ/lGMiyOYkXfZ/B9zUL0EQXgr5xgzic0maX5RjIsCZ0Vtmpy9rbADPyR9A3blDvpLTbSTkG+iwPnRVwvLYGWmFV0DdupvaGer+SkmMYr2Whs4Rn72jrHZoFaLLDwdyAwxD7NfW/mnpPjkHxmMT9ns9cfAq5XrMATXcjo7CIvyHrGzc98Ulf/1Q5H8gxTKw14eXX1nH500WaBWi6uLTdi4zi4mvNM5A4OfDFvrY8JccwceJ0X71vJY5rEqAt8l5tvqN5ZmRP35dHHJ09R45hIuwP/84Ve69bTAK0xi85xcUSzTNji7uFY2zPx0mslGNovdgt5Fb3M/ZF6LyVAGiNN3IKi+81z1DFATbb5RgmRlza1AA1oJWu5xQX+zWPHAMA9NqUU1jc0jxyDADQ7+PQGSmcFms1jxwDAAAAAAAAAAAAAAAAAAAAAAAAAAAAAAAAAAAAAAAAAAAAAAAAAAAAAAAAAAAAAAAAAAAAAAAAAAAAAAAAAAAAAAAAAAAAAAAAAAAAAAAAAAAAAAAAAAAAAAAAAAAAAAAAAAAAAAAAAAAAAAAAAAAAAAAAAAAAAAAAAAAAAAAAAAAAAAAAAAAAAAAAAAAAAAAAAAAAAAAAAAAAAAAAAAAAAAAAAAAAAAAAAAAAAAAAAAAAAAAAjM7qJD5I4usk/kjiaRLPk3iWxOMkfkziQhJ7k5inuQAAJtfb3eLwn2lELCy/SGKp5gMAmBwLkvhqmoVjfzxJ4rCmBABovyVJ3J5h8dgbZzUpAEB7LUrizhCLx6k4o2kBANrpRgXF41Qc0LwAAO3yXkrR90v3z99MYk7Pz85NYmMSR7s/U6aA/DuJhZoZAKAdFofOdDxTxd7DJHZM499vDuX6TZ7Q1AAA7XC6p8j7M4nlA2wjzv/4TUEB+SiJWZobAKDZYuH3rFvgxf9dN4NtxVfbRa+0N2lyAIBmO9JT3H0whO3FVWte5BSQ72tyAIBm+6Fb2N0Kw3u9fCGngLyoyQEAmmt+T2G3c4jb3ZJTQH6t2QEAmmtXt6j7dcjbjU8yXyggAQDa57NQ3STftzIKyEuaHQCqE18v7tAMQ7dAu/7P/tB5IljF1DrXMgrITzU7AFQjvlp8kMTzJFY0+DzWh84o3/jU6fsk/kriafe84pQxT0Jn7eUrSZwKnX54cyo+pqvdQiYWOEtdapW5klFA7tY0ADBccam3r3u+bOPaxAsadg6xKDuexP0w2JrJz7vFR1XzBb4fXl5eb6/LrhLXM/KraAeAIYojVx+Gl/uKzW7Q8cdX7qe6BeA/Q4ofw8wmts6yNby8dF+cdmauS3Cofk7J56+aBQCG52TfF+2Zhh1/fFo46BPHooijeY9VcMzr+gr235JY5lIcmmcpuTyqWQBg5uIr6xt9X7KnG3YOB0P+yiPDithncdhPCWPBeK9nH7Gg3OCyHMp1ndY1YZGmAYCZiYNj7vZ9yZ5q2Dm8O4LCsTe+DcN/rb+kr4iMT86M0p6ZXSm5+1yzAMDMvBlefn0a41zDzmHHiIvHKpfCi0Xkn337MbhmcOfCq08fDZ4BgBnYHF4ewBHjSsPOYWXKOUzFH6HTpzNOybM4vDzHYJyiZ03oPKGKT6TuDlhEHqzgnFYn8ahvP3tcrtM2K+WXo+OaBQAGFwebPOn7co2jVZs2AjhthO3voTOSfJA2+WmaBWScT3JhBecV+z/29+fc7rKdlv4n03eDEe4AMLD42rr/qV18UrO4YedxOKT3b5s1hO0+nUYReWpE5xePab3Lt7Qf+tpvkyYBgMEsD6++1otPujY27DxeC6++5j0xxO2/FTpPF8sUkLGwm1fReV7u21dcFWiJy7hU/po8KAwAaiOuJPNHSgHUxH5hH/adw+UK9rE5lJ8W6FCFOesfVBNf2892Oee62dNeP2kvABjctZTC52YDzyO+ou6dLDz2bavqCeCxkgXk1xWe7/aU/X3mcs70Tmh21wwAqI0PQvrKKmsaeC79gyPernBfcbT2vRIF5OOKz/lqyj7fdlm/Yln4t39v7FrwhiYBgMGsDemvYpv6FOtKzzlcHcH+joZyTyHnVHgMK1NyGF9tz3d5/098Mt07it4k7AAwgy/V31OKnTiFz8IGnk/sy/Y8/PsEdfUI9rkolOsLubni4zibss+zLvH/Od3TLgc0BwAMLqsP38mGns/OUO1KMFl+LlFAbqv4GFZl7Ndr2hD29bTHUc0BAIOL/cGepRQc8QleUwcW9D5lWj3C/Z6vQQEZfRvaMRBqmOKk61PzdlppBgBm6GJGoXOpwec0NTn0tyPe7zslCsitIziOfRn73jeh13jvso9nfOQBYGbWjLnQqcqFJO6E0Y9A3l2igHx9BMcRB+o8T9l3bJNZE3aNLw3/zpH5pY88AMzc5Ywi58kEFhrDsLOgeHwxwna9mnEM70xQPmIXjLvd877m8gSAmVuRU+hc1jyVFJC3RngshzKO4Y8JyUWcPeC37jnfCFaZAYChOJVT6JjeZDC7CgrIUY4Iz/sFYWfL8xDnvZwaEf9jqG4FIgCYKPFpzKOcAmOFJhrI/oICcs+Ij+dBxnH80OIczA3/DqL6NXTWCQcAhiDvSdkjzTOwEznt+rxb3IzSVznHs6qlvxhNTWEU+z4uGvL2Y9eOzS5zACbVlZzC4mvNM6MCI6tdxzEt0kc5x3Oyhe0/NXAojrpeOuRtH2px4Q0AhXqX+UuLTzTRwG7ltOumMRxP3qCeuy1r+0vd83pYQZEXp16Kk5D/1yUOwKTaEerVT68t5uW06bhWgVlakOu2LG84tf7330msH/K241ypU31JD7nMAZhUnxcUFRs10UDy+pWOc9Tzi5zjasOSflOzCTwd4rUbJ2KPT4w/Df8u8xm3P9dlDsCk+rWggJyjiQZyIaM9fx7zcd3JyfUvDW/zY6F45Z9hxVmXOACTKhaHeU+knmmigcR+pY9DPV8TXw35K+M09anakREWjzHecpkDMKm2FHxJ3tdEAzmQ0Z7na3BsFwtyvr1F7V1V/O4SB2CSHSr4orRe8GB+SmnLOBp4YQ2O7ZOCnB9rWFsXrfZTRRx1iQMwyYqeRn2liaZtQ6j3k72ip3VNmvdzW8ifgqqKiK/5F7nMAZhk1wq+LC9oomn7MdR7wMXu0J5uC9+F0T99vOoSB2DS3Sv4svxCE01L2kTdcc7HOo1k3x6Kn7DNkkoAIMuzgmLitCYq7bXQWc2lfx3x5TU7zq2h+CnbSukEANLMKlFIWGmjvFPh1Sd5m2t4nJtL5H2rdAIAaV4rUUgc0EylbGhQ8b2kRN53SSkAkGZBiUJiv2Yq1Y79fUnrvCTgvBJ53yetAECajQrIoehf2eVczY+3TAF5UFoBgDRFq9AoIIt9HJo3b2aZrgv6vgIAqcoMplBAZuufDqcpq/bMKZH3E9ILAKRZo4Ac2PokHve007dJzG7Isc8NnkACAAMq0xfOKOxXxXkdH/S00X+7RVmb8q4PJACQanbwJGq64hrId3ra56duQda2XxyMwgYAMr0oKCTOaKL/idP1/NrTNvG/Fzb0PMwDCQAM7GFBIXFWE/2/+NTux552uR06TyObqMz0TVaiAQAyXS8oJC5oov8ftfxdT5vEScOXNPh83g7WwgYAZuBiQSHx1YS3T1wv/FpPe/yZxLKGn9P2gpy/6J43AECqIwXFxDcT3j6Xe9oivu5f1YJz2l2Q84c+FgBAnm0FxcSfE9w253ra4a8k1rbkvA4U5PyKjwUAkKdoWbtnE9oup3raIE4Y/uaI9hv7VsbJ26t8hXy8IOenfSwAgCK3CgqKORPWHsd6zv1p6IxaHpWvuvtdX+E+ivq97vaRAACKnC0oKDZPUFu813Pez0NnxPKoTPVN/K3i/VwtyPcSHwkAoMiugoJiz4S0w8G+894xwn2vCJ1+lnG/Ryre192cXN/xcQAAyojrOD/PKSo+mcAieu8I9927PGLMw4IK9xX7VuatPvSFjwMAUFbehOJtH5W7ra+oemeE+14bXl5b+3LF+1sZ8p82v+2jAACUlTe1y6MWn3fs3/m051yPVry/Wd0iLnYLuBpefRq4peL953VXeBxMIA4ATEOczifvNfbSFp7zW92i6Z+axN0RnPPJnP2f8zEAAKbrfJicgTTx1fFfNSoeY3w8gvPO66rwlo8AADBd63OKiwstOs/4CvlhzYrHGMsrPu/4evpZxr5/dfkDAIP6KaPAeNCS84uv4v+sYfH43QjOfUPO/g+69AGAQe3IKTLWNfzceqfLqVuMootA1hKG94PBMwDADP2WUWicbPA5Lcw5r3HHXyMq4LLO/4hLHgCYqZ0h+0lVE8Xi7OeaFo8xPhtBG6wN2SO/PX0EAIYiq+Da3sBzmVPj4jHG6yNog88y9r3LpQ4ADMu6jILje03TOPOTeJKSyxuaBgAYtnMZReSbmqZRjqXkMBaUKzQNADBsceBJ2nyJP2iaxlgU0p8+vqtpAICqZE3rs0PTNELaU+TrmgUAGEcREkfvztM0tZY2cfi90HmyDABQqddC+hyCZzRNbc3rFvm9+XoaOtP5AACMRBxw8SiliNyiaWrpUmjHFEwAQMNtSuJ5X1ESB9ks1jS18m5K8XhIswAA47InpTj5KYnZmqYWNifxoi8/72sWAGDcDqcUkZc1y9itCZ11tXvzclSzAAB18U5KEXlSs4zN8iQeBK+tAYCa2xu8Lq2DZUn8GV4ebW2eTgCgtmKfu/7Xpu9plpEWj/d72j4+hVyvWQCAuluVxO2+IvIDzVK5NeHl19ZxiclFmgUAaIo4cfXFviLylGapTJxSqffJ73FNAgA01Z6+wiaOzp6jWYZqf/h3Ps573WISAKDRFncLx1jgPE5ipSYZmllJ3Oq27RfBeuQAQMvEATaWzxu+uHzkBs0AAAAAAAAAAAAAAAAAAAAAAAAAAAAAAAAAAAAAAAAAAAAAAAAAAAAAAAAM05Yk/pmQuCLdAAAKSAUkAIACUgEJAKCAVEACACggFZAAAApIBSQAAApIBSQAAE3wjxBCCDGiABSQQgghhAISFJBCCCGEAhJQQAohhFBAAgpIIYQQCkhAASmEEEIBCQAAAAAAAAAAAAAAAAAAAAAAQG1sCZMzT9YV6QYAUEAqIAEAFJAKSAAABaQCEgBAAamABABQQCogAQBQQCogAQAAAAAAAAAAAAAAAAAAAAAAAAAAAAAAAAAAAAAAAAAAAAAAAAAAAAAAAAAAAAAAAAAAAAAAAAAAAAAAAAAAAAAAAAAAAAAAAAAAAAAAAAAAoFbmJ7FDM0CjLfA5Bhi92UlsT+LTJK4kcTeJJ0k8S+J5Ek+TeJDE1STOJLEziTktOO9d3fOK57hC/qCU9UkcSeJSEt8n8Vf3GnvevebitXeney2eGtH1Fq/tf5K4lsRSKQKo1pokznVv+v9MM+KXxcUk1jbwvBcm8XXPudzoPsGQP0gXi7LjSdwf4Fqbut5iQbmpouN7v2dffyexV8oAqvkyuDzgF0FaXOgWZU2wJYmHPccen6LMlr/G5I/Ril08TnULwGFdbz8msa6CY92axOO+63quFAIMx87ub+j/DDnik4n1NT/3k33HfEb+GpU/RmtTGPyJY1G8SOJYBce8ru8XxN+SWCaVADPzYUVfBlMRf/t/q4bnHZ+u3eg71tPy15j8MXoHu0XePxVH7LM47KeEsWC817OPWFBukFKAwRwfwZdBjNihfnmNzjsOjrnbd4yn5K8x+WP03h3RtTYV34bhdyNZ0ldExn7CRmkDDOkLIT5huN79+/jkqXekZPzv1UnsCZ3BFk+m8YXwc03O+83w8uusGOfkrzH5Y/R2jLh4nIqLFZxLLCL/7NuPwTUAJW3IKDziU7jpTHfxWuj0WSo74nfPmM97c3i5Q32MK/LXmPwxeitTPjNT8Ufo9CGOfXAXJzGr75eVOCNAnBbr8/DqE/+ycbCCc4q/RD1ybQNMz7zw8mucqadLq2ewzdhJ/UGJL4NfxnjesfP/k5Tznit/jcgf4/FzynXwe+jMXDDIZ/CnMP3uE1XMBrAhvNqfc7t0A2T7PLz6+nbWELa7JpR7JbpyDOf8ZspTlIfdpybyV//8MR6HU/L/+RCut7jdp9MoIk+N6PziMZl1ACCjSOi9YZ4Y8vbfL/FlsG/E57w8vNrnMT552Ch/jcgf4xG7Nzyq8HqL/XP/KllAxsJuXkXn2T93anwSv0T6AV52JVQ732Hs91Q0H+EoB6zElWT+SDmG4/LXiPwxPv3TQ12uYB+bQ/lpgQ5VeI/oH1QTX9vPdgkAdKzquUF+V+F+LhZ8EVwa4TlfS9n/TflrTP4Yj/iKuney8DgApqongMdKFpBfV3i+21P295nLAKDjdPfGGH/brnKJuv0FXwSXR3S+H4T0kcpr5K8R+WN8+qftebvCfcWn3vdCuQntq3Q1ZZ9vuxQATxT+7c+0teJ9bQ/jf4K1NqS/GvtM/hqRP8art6vE1RHs72go9xRyToXHsDLlnhF/WZvvcgAm2VRR8NUI9rWl4Evg0xEUW7+n7DeOMF4of7XPH+MV+/49D/8+sV89gn0uCuX6Qm6u+DjOpuzzrEsCmGSx/1Kc0HcUowuLCpBdFe8/q0/VSflrRP4Yr52h2pVgsvxcooDcVvExrMrY7xsuC4Dq5b0CjU82FlS472UhfVWVuN/FUlP7/DF+p3vyvXqE+z1fgwIy+ja0Z+AdQKPkDcKo+hVs1ghi/faakT/G74durr8d8X7fKVFAbh3BcewL5j8FGIsvcr4A1la43zVj/uKRP9rgQhJ3wuhHIO8uUUC+PoLjiAN1nqfsO7bJLJcHQHVuh/FMQH05Y79P3PgbkT8m286C4vHFCD/HVzOO4R1pAqjG+owbb1wNZl6F+10RzFvY5PxBUQF5a4THcijncwBABS6l3HQfdgu8Kp3K+eI5IC21zx/sKiggRzkiPO8X0p1SBTBc6zOKj3UV7zfOW/co54av+Kl3/iAqWgFpz4iP50HGcfwgVQDDE19v9vedi697Vo75ycUjqal9/iA6EfKnj5o74uP5Kud4VkkXwHBcD69OmzOqPnNXcm70X0tN7fMH0eVQr+UzP8o5npPSBTAz8alA74jFuHbs7hHuv3fZtbT4RIpqnT+Ycivnc7xpDMeTN6jnrnQBDC6u+tK//Nj9JD4Io3t6tSPUq9+U/MH0zcv5DI9rFZilBfcWyxsCDODdJB7n3Fz/6hYicyo+js8LbvIbparW+YMorx/zOEc9v8g5ruPSBlBeXCf5t1C8YkTvq54qV7T4tWD/CqB65w+iCxnX389jPq47OZ+NX6QNIF/sZ3ioRLGWF+cqKObmFDwheCZ1tc4fTF2fWU/Dx/2a+GrIXxlnrvQBvCrOC/hZ6LzO/GcI8WMSi4Z4fFsK9ndf/mqdP4gOZFxv52twbBcLPhPbpQ/gX/Fp1R9DKjr6Iz4FWzDE48zb1zX5q3X+IPoppE9gv7AGx/ZJwefhmPQB/CvOuRZfKT0JndfAwy5Cro7o6cBX8lfr/MGGUO8newcKPgvmmQUoEPu/xdUXtoXOkmOxeLs7gyJk/xCO6VrBPi5IW63zBz+mXFtna3R8u4NuMgCViP3sTof8KWHSIq4zO9MO6PcK9vGF9NQ6f0y2tIm6b4Z6DdbaXvA5iANpZkklwODmh87yXi+mUYQcneE+i17PnpaWWuePyfVaePUJeFy3fnnNjnNric+B9eIBhuD1kD93Wm/cmsF+ZpXY/iHpqG3+mGynwqtP8jbX8Dg3l/gcbJVOgOGIoyfLzjn4+gyeYBRt+4BU1DZ/ZZ0L1Ywmr0tM4tyaGxr0y96SEjnc5ZYBMDyLQ6efXFWvQRcEAz2anD8F5GQWkPFz2993uc5LAs4rkcN9bhcAw1U00fdMptrZqIBsdP4UkJNZQPav7HKu5sdbpoA86FYBMHxFU+38XmFxo4Csb/4UkJNXQH4cmjdPa5muMvpaA1RgQ8HNd9D1qst0bldA1jd/CsjJKiD7p8NpyipRc0rk8ITbBEA1iiasHmQetTUKyEbnTwE5OQVknGu0d57Rb5OY3ZBjnxs8gQQYm/MVfImW6ZtkFHZ986eAnIwCMs7r2DsY67+hWRPQ6wMJMEb7KvgSne3JQKPzR/stCi/PKfpTtyBrEqOwAcaoaDWHQV+BFq2ackbT1zp/tFecrqd3LtH43wsbeh7mgQQYk6WhmkEYDwtu7Gc1fa3zRzvFp3Y/9lwjt0PnaWQTlZkuzEo0ABV+oVQxDcz1ghv7BU1f6/zRPrE7w3c910ecNHxJg8/n7WAtbICxyZtL7fIMtnsxjHeSa/mbWf5ol9iVoXfe0D+TWNbwc9pecI95EXThAKhM3ivQmSyFd6Tg5v6Npq91/miXyz3XRexesqoF57S74B7zUNoBqrMt5wb8ZkXbnXoCQn3zR3v0Trf0VxJrW3JeBwruMVekHqA6+zNuvvdnuN2iZcYM8Kh3/miHUz3XxOMR/lKxpHttVvkK+XjBPea09ANU58uMm+/JIWz7VjBHYZPzR7Md67kenobOqOVR+aq73/UV7qOon/VulwBAdR6E9M7ny4ew7bMFN/jNmr/W+aO53uu5Hp6HzojlUZnqm/hbxfu5WnB/WeIyAKjGlowb77khbX9XwQ1+jxTUOn8008G+62HHCPe9InT6Wcb9Hql4X3nrwN9xGQBU5/uUG+/jIf7mHtfVfZ5zk/9ECmqdP5qn/5e2vSPcd+/yiPFzv6DCfcW+lXmrXX3hUgCoRtYSeP8Z8n7yJhQ3SrL++aM5tvUVVe+McN9rw8tra1c9B+nKkP92422XAzBJYif3+FQu9h2MIxiXVrSf+GTgXspN93oF+8qbauOR/NU+fzRD7E/8NIxuDtBZ3SIudkO5Gl59Gril4v3ndY95HEwgDkyI2Ul8HdIHQ8SndGuGvL+0p4KxP9HCCs4tTueT9xp7qfzVOn/U31vdoumfmsTdEZzzyZz96wMMTIyPQ/GSXJ+G4Ux7kzb1RZzUe0WF53c+tHsgTdvzR33FV8d/1ah4/Kf7eahaXteYt1wWwKQomi9xKuLPbRpwH/PDy2vhTsUfofopX9bnnNMF+at9/qin+Ar5Yc2Kx39GcD3G19PPMvb9q8sCmCTTfYJwLUxvgt74lO9+ynbia9cFIzrHnzLO5YH8NSJ/1Evs+vFnDYvH70Zw7hty9n/QpQFMkisD3qxvJvFB6Iw47H09Gv87jtI9EV4eGdn7ynPviM9xR855rJO/2ueP+liUcV3UIUbRJSVrCcP4S5bBM8BE2Tqim3t83fVR6AxsGYffQjuX3ZuU/DF+C3M+R+OOv0ZUwGWd/xGXBzCJigZizCTihNNxOp3ZYz7HnTlPDuSv/vljvGJx9nNNi8cYn42gDdaG7JHfnj4CEys+ybo5hBt5nNIj9o87lMTimp1j1hfgdvlrRP4Ynzk1Lh5jvD6CNvgsY9+7XB4AIaxO4nDoTNnyTehMuP0kdEYeTkX8/3EAShyQEVd9ONG9ia6s+bmtC9lP2eSv/vmDcZnf/dz03ztuaBqAyXAuo4h8U9MAGY6l3DNiQWkOVIAJEQcCpM1f94OmAVIsCulPH9/VNACTJWtanx2aBuiT9tbC2u8AvhReGk05T9MAXWkTh98L1n4HmFhxPsO0Od3OaBqg+8vk3b77w9PQmc4HgAkWO8A/Sikit2gamHiXQjun/AJgCDYl8Ty8uuqKORBhcr2bUjwe0iwA9NqT8mXxU7D6CkyizUm86LsfvK9ZAEhzOKWIvKxZYKKsCZ11tXvvA0c1CwB53kkpIk9qFpgIy0NnhSavrQGYtr3B6yuYNMuS+DO8PNravLAATEvsA9X/Gus9zQKtLR7v93zW41PI9ZoFgEGsSuJ2XxH5gWaBVlkTXn5tHZc0XaRZAJiJOJHwxb4i8pRmgVaIU3j1vmk4rkkAGKY9fV80cXT2HM0CjbU//Dv/671uMQkAQ7e4WzjGL5zHSazUJNBIs5K41f0sfxE6bxoAoFJxgI3lzKDZ4nKlGzQDAAAAAAAAAAAAAAAAAAAAAAAAAAAAAAAAAAAAAAAAAAAAAAAAAAAAAAAAAAAAAAAAAAAAAAAAAAAAAAAAAAAAAAAAAAAAAAAAAAAAAAAAAAAAAAAAAAAAAAAAAAAAAAAAAAAAAAAAAAAAAAAAAAAAAAAAAAAAAAAAAAAAAAAAAAAAAAAAAAAAAAAAAAAAAAAAAAAAAAAAAAAAAAAAAAAAAAAAAAAAAAAAAAAAAAAAAAAAAAAAAAAAAAAAAAAAAAAAAAAAAAAAAAAAAAAAAAAAAADAsN1I4p++AACAVEdSikcFJAAAqVYn8VQBCQBAGbOS+DWjeFRAAgDwipM5xaMCEgCAl7xVUDwqIAEA+J95SdxVQAIAUNb5EsWjAhIAgP+3s2TxqIAEACAsSuKRAhIAgLKu9xWIRcUkAAAT7HBfcXg+paBUQAIA8P9WhpdXm7kTOiOxFZAAALwirjbzc09R+CJ05oAMCkgAANIc6ysKT/T8nQISAICXvNFXEP4SOk8kFZAAALzitST+6CkGnySxqu9nFJAAAPzP2b5i8HDKzyggAQD4f9v6CsFvMn5OAQkAwP+vNvOwpwiM/71YAQkAQJarfUXgzpyfVUACAEy4g+HV1WaCAhIAgDQrknjcU/zdDZ3VZhSQAACk+rGv+HurxL9RQAIATKgPQ/ZqMwpIAABesi501reeKvpuhpdXm1FAAgDwP3OSuN1T8D0Nr642o4AEAOB/Pusr+P4zzX+vgAQAmCBb+oq9bwfYhgISAGBCLEjiQU+h9yhkrzajgAQAIHwVyq82o4AEAJhw+/qKvAsz2JYCEgCg5ZYl8XeY3mozCkgAgAn2fZj+ajMKSACACfV+GGy1GQUkAMAEej2J5z2F3a+h/GozCkgAgAkTV5v5raeoexamt9qMAhIAYMKcCjNbbUYBCQAwQTaFma82o4AEAJgQcbWZez3F3F9hsNVmFJAAABPiUl8xt6uCfSggAQBaYndfIXexov0oIAEAWmBJ6Lyu7l1tZr4CEgCALDf6irgNFe5LAQkA0HBH+gq4TyrenwISAKDhigq6usY2qQMAUEAqIAEAFJAKSAAABaQCEgBAAamABABAAQkAwEQUrAAAoIAEAEABCQCAAhIAAAUkAAAKSAAAFJAKSAAAFJAAACggAQBQQAIAoIAEAEABCQCAAlIBCQCAAhIAAAUkAAAKSAAAFJAAAAAAAAAAAAAAAAAAAAAAAAAAAAAAAAAAAAAAAAAAAAAAAAAAAAAAAAAAAAAAAAAAAAAAAAAAAAAAAAAAAAAAAAAAAAAAAAAAAAAAAAAAAAAAAAAAAAAAlduSxD8TElekGwBAAamABABQQCogAQAUkApIAAAFpAISAEABqYAEAEABqYAEAKAJ/hFCTHQAgAJSCKGABEABKYRQQAKggBRCKCABUEAKIRSQACgghRAKSAAAAAAAAAAAAAAAAAAAAAAAAGAibQmTMy/bFekGAFBAKiABABSQCkgAAAWkAhIAQAGpgAQAUEAqIAEAUEAqIAEAAAAAAAAAAAAAAAAAAAAAAAAAAAAAAAAAAAAAAAAAAAAAAAAAAAAAAAAAAAAAAAAAAAAAAAAAAAAAAAAAAAAAAAAAAAAAAAAAAAAAAAAAAKBW5iexY0LOdUESJ5I4O6J97XB5AUB7zU5iexKfJnElibtJPEniWRLPk3iaxIMkriZxJomdScxpwXnv6p5XPMcVLS+Sj3Vz+k8Sj0ewz6vdfV1LYqmPGAC0x5okznULxX+mGbHoupjE2gae98Ikvu45lxuh88SsbeYl8XESf/flbhQF5Ps9+4v73+vjBgDNFp8IXR6gaMyKC92irAm2JPGw59gvhc4T2DZ5LYmPkvgrI1+PR3QcW7v76r1O5vr4AUDzxNfPfw+xeJyK+0msr/m5n+w75jMty20szuKTv0cFuXo8wmNa11ew/5bEMh9DAGiODysoHPsLk7dqeN7x6eiNvmM93aK8xv6oR0OnP2fZPI1SLBjv9ew/FpQbfBwBoP6OV1w8TkV8bbq8RucdB8fc7TvGUy3JaXz1/t40CsdxFZDRkr4iMva7NUobAGrs3YxC4kUS17t/H58c9o6sjv+9Ook9oTNY5sk0CpSfa3Leb4aXX5/GONeCfM5K4j+h021g0CfF4xCLyD/7jsXgGgCooQ0ZhWN8Cjed6VXiwIw4FUzZEdt7xnzem8PLAzhiXGlB4Xg4/PskL+bxv92iOObzx5oXkKH7S8mjml0rAECPeeHl14ZTTwdXz2CbcVBEmVemv4zxvDeFV5+YxvNu+gjgWz1teySJRSk/c77mBeTULzUv+o5pu48rANTD5+HV17ezhrDdNaHcK+2VYzjnN8OrTx7ja+zFLcjnsW7b51ncgAIyOtx3THGy+vU+sgAwXmv6vqBPDHn775coVPaN+JyXh1f7PMYnXRsnLPe3GlBARv1zkcYn20t8dAFgfK6Eauc7jINsiuaTHOWAlbiSzB8px3B8AnN/tSEFZMxZ/6Ca2NVgto8vAIzeqp4v5O8q3M/FgkLl0gjP+VrK/m/65aHWBWS0PeX4PvMRBoDRO939Io5Pd6pcYnB/QaFyeUTn+0FIH2m+ZkLz36QCMkp7Yvq2jzEAjE4cJDM1TcrWive1PYz/CeTa8OqI3kl/itW0AnJlSg7jLz/zfZwBYDSmirqvRrCvLQWFyqcjKJZ/T9lvHCG+cIKvgaYVkNHZlOM86+MMAKMR537cFUYzmrWogNxV8f6PZez35IRfA00sIFdlHOsbPtIA0C55r7Cfh84o26osC+mr4sT9Lp7wvDSxgIy+DQZCAUDr5Q2iqfoVetYI8EvS0tgCcl+ox3yiAECFvsgpUtZWuN81OfvdKi2NLSDj3KLPU473ThjOCkoAQA3cDuOZQPxyxn6fKDQaXUBGWZOgvyOtANB86zO+6ONqMPMq3O+KMP55JxWQ1TmUc10BAA13KeVL/mG3wKvSqZzC6IC0NL6AzPsFYafUAkBzrc8oHtdVvN+4RvKjnAJjhdQ0voCMHmQc9w9SCwDNFF9P9/d9jK8XV45g37tyiqJHUtOaAvKrnGNfJb0A0DzXw6vT5swb0b7zCqOvpaY1BeRHOcd+UnoBoDnmhpdHyMa1inePcP/x9fXznMLiEylqTQG5M+fY70ovADRDXPXl574v8vtJfBBG9/RxR0FRtEeaWlNALi04fssbAkDNvdstOLK+zP/qFpJzKj6OzwuKio1S1ZoCMnqRc/zHpRgA6imuc/1bQSHS/2rx7QqP59eC/c+RslYVkHdyjv8XKQaA+oj9DA+VKNby4lwFxVzcXt4TqWdS17oC8mrO8cdrYa40A8B4xXkdPwud19H/DCF+TGLREI9vS8H+7kth6wrIiwXnsF2aAWA84tPGP4ZUNPZHfIq5YIjHmbeva1LZugLyk4JzOCbNADAel7rFxJPQeQ087CLy6pCOs+hp1FdS2boC8kDBOZj3EwBqJPY3jKt9bEtif7d4uzuDInL/EI7pWsE+Lkhb6wrI3UG3BQBovNhP8nTIn9InLeK6xjMd8HCvYB9fSE/rCsjtBecQB9LMkmoAaIb5obOc3ItpFJFHZ7jPotfrp6WldQXk1hLX1UqpBoBmeT3kz9XXG7dmsJ9ZJbZ/SDpaV0BuLpH3rVINAM2zMJSfM/L1AffxWoltH5CK1hWQS0rkfZdUA0AzLQ6dfo5VvcZeEEYzUEcBWS/zSuR9n1QDQHMVTfQ9k6l2NiogFZAZcVCqAaDZiqba+b3C4lQB2b4CskzXBX1fAaDhNhR82Q+6XnWZwRQKyPYVkHNK5P2EVANA8xVNOD7IvH1rFJATWUDODZ5AAsBEOF/whT9ngG2W6QtnFHb7Ckh9IAFgQuyroICcHTyJUkAahQ0ArVW0esigS88VrXpzRtO3roAsM32TeSABoAWWhuEPookeFhQSZzV96wrIMtM3WYkGAFog77Xj7zPY7vWCQuKCpm9dAfl2sBY2AEyEvLn7Ls9guxdDNZOUKyDra3vBOcRuDbOkGgCaL+8V9tEZbPdIQTHxjaZvXQG5u+AcHkozALTDtpwv/Dcr2m6MPzV96wrIAwXncEWaAaAd9md82d+f4XaLlrV7pulbV0AeLziH09IMAO3wZcaX/ckhbPtWGP4ckwrI+irq97pbmgGgHR6E9MEOy4ew7bMFBcVmzd+qAvJqwTkskWYAaL4tGV/054a0/V0FBcUeKWhVAZm3rvodKQaAdvg+o1AZ1pOiuUk8zykqPpGC1hSQcXqevNWHvpBiAGi+rCUM/zPk/eRNKG5UbnsKyJUFx/+2FANANeJScPGpXOw7GEdHL61oP3HN4nspX/LXK9hX3tQuj6T8f641vIDcVXDsJhAHgCGbncTXIX0wS3wytWbI+0t7Khj7ry2s4NzidD55r7GXSv//u93wAvJkzrGfk14AGL6PQ/EScJ+G4Ux7kzbVSpzUe0WF53c+GEhTVGS/CM1eBjCvq8JbUgwAw1c0X+JUxJ/bNOA+5of016R/hOFM2ZNnfc45XZD+cKhk/us67VEsbJ9lHPOv0gsA1firZAExFde6RVlZ8Snf/ZTtxNfmC0Z0jj9lnMuDCc/9vNCZ4qZM3r+r6TlsyDnmgz7eAFCNohG4WXEziQ9CZ4Rr7+vt+N9xlPWJjOIkvrLeO+Jz3JFzHusmNO+Lk/hhmjk/E+r3KjtrCcP7weAZAKjM1gELyOnGwyQ+Cp0+d+PwW6hu2cSmiE98t3cLwScD5jEOeDqW8otDqFlej/hoA0C1igbSzCTihOFxOp3ZYz7HnSH7SVVbxde78TV97KbwrKL8PutuP+5n1OtNr80pcj19BIARiE8ibw6hoIhTvsT+jXFwxuKanePPGce8vaU53RJG83R5KvaP+Pw+yziOXT7OADBaq5M4HDpT7nwTOhNux9edz3oi/v/4xCkOqLkcOv0d45f2ypqf27qQ/ZSUZpkf0l/D39A0AMCwncsoIt/UNI1yLCWHsaBcoWkAgGGLK948TCk+ftA0jbEopD99fFfTAABVyZrWZ4emaYS0p8jXNQsAMI4iJI7enadpai1t4vB7oZq11AEAXhLno0ybQ/CMpqmted0ivzdfT0NnOh8AgJGIAy4epRSRWzRNLV0KkzMFEwBQY5uSeB5eXTVnsaaplXdTisdDmgUAGJc9KcXJT2H8q+fQsTmJF335eV+zAADjdjiliLysWcZuTegsldibl6OaBQCoi3dSisiTmmVslofOikdeWwMAtbY3eF1aB8uS+DO8PNraPJ0AQG3FPnf9r03f0ywjLR7v97R9fAq5XrMAAHW3KonbfUXkB5qlcmvCy6+t4xKTizQLANAUceLqi31F5CnNUpk4pVLvk9/jmgQAaKo9fYVNHJ09R7MM1f7w73yc97rFJABAoy3uFo6xwHmcxEpNMjSzkrjVbdsvgvXIAYCWiQNsLJ83fHH5yA2aAQAAAAAAAAAAAAAAAAAAAAAAAAAA4P/au//Irc7/D+CXJEkiSTITkySZyMzMzMgk/TExmWQmPmYmM2NmMh8Zk8lMPkwy+Uhkksl8yWQyE8nMZCJJkolkkrdE3+vaud/73O/zPveP837f577vc87jwcunj96dc1/XVe7nrnOu6wIAAAAAAAAAAAAAAAAAAAAAAAAAAAAAAAAAAAAAAAAAAAAAAAAAAAAAAAAAAAAAAAAAAAAAAAAAAAAAAAAAAAAAAAAAAAAAAAAAAAAAAAAAAAAAAAAAAAAAAAAAAAAAAAAAAAAAAAAAAAAAAAAAAAAAAAAAAAAAAAAAAAAAAAAAAAAAAAAAAAAAAAAAAAAAAAAAAAAAAAAAAAAAAAAAAAAAAAAAAAAAAAAAAAAAAAAAAAAAAAAAAAAAAAAAAKB6P8Z6misAACh0sCA8CpAAABTaHOuRAAkAwDCWxPq1R3gUIAEAmOfzPuFRgAQAYI6XBoRHARIAgH+sjHVTgAQAYFgnhgiPAiQAAH97Y8jwKEACABDWxronQAIAMKzzuYA4KEwCANBi7+bC4YmCQClAAgDwt41h7mkzN0K2EluABABgnnTazOWuUPgkZHtABgESAIAin+VC4eGu3xMgAQCY44VcILwSshlJARIAgHlWxLreFQYfxtqU+xkBEgCAf3yTC4PvFvyMAAkAwN925YLgDz1+ToAEAODv02b+7AqB6dfrBEgAAHo5lwuBb/T5WQESAKDl3gnzT5sJAiQAAEWei/VXV/i7GbLTZgRIAAAK/ZwLfy8N8WcESACAlvok9D5tRoAEAGCObSE733o29F0Nc0+bESABAPjHslh/dAW+R2H+aTMCJAAA//gqF/jeL/nnBUgAgBbZkQt7/7eAawiQAAAtsTrW3a6gdy/0Pm1GgAQAIJwJw582I0ACALTcvlzI+3YR1xIgAQAa7tlYD0K502YESACAFrsYyp82I0ACALTUR2Fhp80IkAAALbQ11uOuYPdrGP60GQESAKBl0mkzv3WFuplQ7rQZARIAoGW+DIs7bUaABABokVfD4k+bESABAFoinTZzqyvM3Q8LO21GgAQAaIlTuTC3p4J7CJAAAA3xZi7InazoPgIkAEADrA/Z4+ru02ZWCZAAAPTyYy7EvVzhvQRIAICaO5gLcF9UfD8BEgCg5gYFummtXYYOAECAFCABAARIARIAQIAUIAEABEgBEgAAARIAgFYEVgAAECABABAgAQAQIAEAECABABAgAQAQIAVIAAAESAAABEgAAARIAAAESAAABEgAAARIARIAAAESAAABEgAAARIAAAESAAAAAAAAAAAAAAAAAAAAAAAAAAAAAAAAAAAAAAAAAAAAAAAAAAAAAAAAAAAAAAAAAAAAAAAAAAAAAAAAAAAAAAAAAAAAAAAAAAAAAAAAAAAAAAAAAAAAgBrbEetpS+qs4QYAECAFSAAAAVKABAAQIAVIAAABUoAEABAgBUgAAARIARIAgDp4qkZWAAACpBIgAQAESAESAECAFCABAARIARIAQIAUIAEAAAAAAAAAAAAAAAAAAAAAAACgJnaE9uwneNZwAwAIkAIkAIAAKUACAAiQAiQAgAApQAIACJACJAAAAqQACQAAAAAAAAAAAAAAAAAAAAAAAAAAAAAAAAAAAAAAAAAAAAAAAAAAAAAAAAAAAAAAAAAAAAAAAAAAAAAAAAAAAAAAAAAAAAAAAAAAAAAAAAAAAAAA1N3SWLtjHYl1NtbNWA9jzcR6HOtRrLuxzsU6FuuNWMt0GwBA+2yJdbwTFJ+WrBQsT8Z6XjcCADTfM7FOLyA09qpvY63RrQAAzZQePz8YYXicrduxtuteAIBm+aSC4Nhdf8V6STcDADTDvysOj7N1P9YG3Q0AUG/v9Qh7T2Kd7/x+mjnsXlmdfr051t6QLZZ5WCJEXtblAAD19XKP4PhlyBbTDGtFrM/C8Cu29+p6AID6WRnrVpg/O7h5EdfcFrI9IQcFyCu6HwCgfr7Ohbq05+OSEVw37R85zCPtjYYAAKA+tuTC3OERX/+jIQLkPsMAAFAfZ7uC3LEKrp8W2QzaT/K4YQAAqIdNXSHuQoX3OTkgQJ4yFAAA9XC0E+DuhGqPGNw/IECeNhQAANMvLZK51wlwOyu+1+5gBhIAoPZmQ92ZMdxrx4AAecRwAABMv7T3455Y66cgQO4xHAAAdOv3CPtxrNW6CACAbv0W0ZzRPQAA5P2nT4B8XvcAAJD3R7CBOAAAQ9reIzxeD9lCHgAAmONUQXj8M9ZzugYAgLztPcLjNl0DAEBeejydf/cxPbbeqGsAAChyPsw/rtA7jwAAzLM81rmu4Hgn1pu6BQCAIs/GuhzmzjzejvVxMPsIAEDOe7H+Cr03DL/fCZLLdBUAQLulc65/6xMc83Uz1uu6DQCgXZbGOhDr1xLBsegUGrORAAANl/Z1/Cpkj6OfjqB+jrVWtwIANE+abbw+otCYrzSLuVoXAwA0S9rDMS2QeRhrpoIQeU4XAwA0X3p/cVOsXbH2xzoZsgUyCw2R+3UpAEA7pfckj4b+W/oU1d2QbUIOAEBLrYr1eawnJULkh7oNAICtsW4MGSCv6S4AAJI1Yfg9I7fqLgAAknUhe8/RY2wAAIa2Y4gAeUY3AQDQ7fsBAfJ3XQQAQLeXBwTIGV0EAEDeoA3Hl+giAAC6nRgQIJfpIgAAuu0TIAEAKGNn8AgbAIASngkW0QAAUMLKYBsfAABKWNEnQJ7WPQAA5PV7hO0oQwAA5tnVJ0C+qHsAAMjb3yM83tY1AAAU+W+PAPm5rgEAoMjdgvD4JNYGXQMAQN6OUDz7eFzXAABQ5GJBePwr1npdAwBAXq8jDN/XNQAA9fFKrC9ifROy1dHPVHSf1bFuFYTH84YAAKAelsb6LhQvZjkba8uI73e+4F43Y60xFAAA9XAo9N7MezZIHom1bAT3Ollw/TuxnjMMAAD1cW1AgJyt9HOvLvAeq2J9X3DN68GWPQAAtXN/yAA5WykIbi9x/b0hO1kmf5302Hy17gcAqJ+zJQPkbF2N9XGs18Pcx9vp12mV9eFYN0LxI+u3dDsAQH3tXGCALFt/xvo01gpdDgBQf4MW0iym0obhb4dstTcAAA2SZiKvjiAwptNk0vuNB2Kt060AAM23Oda7Idty54dY92I9jDXTVen/3w3ZgprTIXvfcU+sjboP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KByq2MdjvWNrgAAoJ9VsT6L9TDW01h/6ZLSlsbaHetIrLOxbnb6cybW41iPYt2NdS7WsVhvxFqmHQBA3ayMdSjWg05wfCpAlrYl1vFOwHpaslIgOxnree0AAKbdilifxrrfIxAIkIM9E+v0AsJWr/o21hrtAACmzfJYH8W6NyAECJD9pce2D0YYumbrdqzt2gEATIP0jtqHIXt3bZgAIED29kkFgSvf9y9pBwAwKWlBxAclgqMA2d+/Kw5ds5VeLdigHQDAOC2J9X7IHiUudPaIud7r0VdPYp3v/H6acetekZx+vTnW3pAtMnlYYgwuawcAMK7g+G6sW12h4FLIVtd+GetnAXJBXu4RuFKfPlPiOmnxUtouadiVznu1AwCo2rXOF/aVWAdjrS34mRMCZCkruwJ596za5kVcc1sY7rWCK9oBAFQtzQptGfAz6wTIUr7O9U2azV0yguumcRrmUfBG7QAApsE1AXLocNTdL4dHfP2Phghe+7QDAJgG5wTIoZzt6pNjFVw/LU4ZtA/jce0AAKYtGAmQxTZ19ceFCu9zcsBYnNIOAECArIejnb64E6o9mm//gLE4rR0AgAA5/dLiktnjHndWfK/dobqZu6a0AwAQIKfebBg6M4Z77RgwFke0AwAQIKdf2jNxT6z1UxC89mgHACBA0q3fo9/HsVZrBwAgQNKt3+KTM9oBANPtu9CeF/4FyOnxnz7j8Lx2ANA2L4TsxIsfQrbJ8EzIHmU96ASYQ2HwsXvjdL/rC+8bAZIx+SM0Y+PtprQDgAlJL9NfDYOPNput9LNvh9Gcy7tQW3Of6W0BkjHY3qP/r4dsAYx2ANB46YviVIngmK8bsd6a0GfPn+W7S4BkDIr+vfwZ6zntAKAN1sX6dRHhsbsuhfE/2r7Sdf8nITvbV4CkStt7hK5t2gFAG6wNvd9/WmilEJc2Hl4xhs+/MXfvyy0YMwFyslYW/Ju53vm7qB0AtMKPIw6P3XUzZPvLVenL3D0PC5ACZMXOh/nH/K3UDgDa4t8VhsfuOh2yx+SjtibWw9y9tguQAmRFlsc619XPd2K9qR0AtElaufykTwi5ELLNhdPjrCVdgW1vJ8A8KRki0zY7/xpxG47m7vF7S8ZOgBy/Z0P2ekR3P9+O9XGo16xdU9oBwIRc6hE+Uggb5gX6DSHbI67sbOTFMJrVnS8UXPsDAVKArMB7nT7t9x9HKYAt0w4AmqzXubdp0/DlJa+VVlz/XDJEpsfOBxfx+dPCn1u5a6YNztsygyJAju/fyW+h3Du/r2sHAE11peBL46dFzjwcDPPfRxxUv4TyW/702nLoUIvGT4CsztJYB8LitrU6HiY/i9eUdgAwJV4Mxfu+jWKRS3qsfWEBX1QnOn92kDQrcrvgz98N7Xp/S4AcvbT46qsw90jMxVSalV+rHQA0RdF7i/tGfI93FvAFlhblfB+y02xmw2xavLO5c71Lff7sOy0bQwFydNIs3fVQze4DafZvtXYAUHcpkD0I8x8jVyGFwNOh+i2CLrZwHAXI0TnV6a/0+sVMBX8/z2kHAHX3SsEXwysV33NnyF7KryI8plnOZwVIAXLE0nt/m0J2pnrayurkIv8O79cOAOrskzCe2ce8tLI7nRBTdu/IfvU41mstHUcBcjLS+4VHQ/+tcIrqbii/u4F2ADA1vst9IRwY8/3TiutLIwqPb7R4HAXIyVoV6/OS/0H0oXYAUFc3cyFsUrMJ6TSbGwsMj2kW5JWWj6MAOR22lvh7fE07AKijJbmZhjNT8HneDvOPVeu3SjttT2I1qAA5TdLxnsPutbhVOwCom5Vhere+SY+2Pw3ZNj4POmExzZDe64SldEShvegEyGmVdhy4G+r/+Lcp7QBghDZ2gsdsbdAlAiQjs2OI4HVGOwAAAZJu3w8Yl9+1AwCmy4fhf7OrTX/EJkBOp5cHjMuMdgDQdNtCtnfj+ZC9l5i+NB53fp0CzKGQvbs4LbqPcTsuQDIhgzbqXqIdADRR2pz75zD8tjpXQ7aaepJfKOtzn+kDAZIJOTFgbJZpBwBNsnyIL41+lfaRe2tCn/1fuc+yW4BkQvY1JHg1pR0AVCjtAfdLGM0Rg+mkmXE/2r6Q+wxrBEgmZGdoxqPfprQDgIqk48yuhNGdUT276feRWCvG8PnXh7kbpN9owZgJkNPrmdCMxSdNaQcAFRm0ZcdiKr2IX/Xj5M9y9/xagBQgJ2hlaMb2N01pBwAV+KDC8Nhdp0N2ysWopRnOP3P3ek2AFCAnaMWAfwfaAUCtPRfrUZ8viZ9iHYi1Kfzvfaf0buHeToB5UjJE3g/ZYpdRys8+3m7J2AmQ06vfo98PtQOAuuv16PqPkG0kPEg6CvF4KD8bebETXhcrLdSZyV37kAApQE7Yrj7j8qJ2AFBnL/UJdysXEOTK7BuZ6mGsg4v4/Ks7Qbf7mmmT87UCpAA5Yft7jMlt7QCg7i6E4g3BVy7imgc7wbBMkPwllN/yp9eWQ0dbNH4C5PT6b48x+Vw7AKizzaF4RnAUj5U39Aing+pE588O8mqsWwV//kFo/t6PAmQ93A3F21pt0A4A6uyLgi+G90d8j3dCtmim7N6R6b3MdJrN7IrtJZ0vrPQ47ac+f/ajlo2hADmddvQYj+PaAUDd5WfwrlV0nxQCT4fqtwi62sIxFCCn08UeY7FeOwCosy0FXwx7Kr5nOhLtZkXhMT163yRA1iJApm1hjnX+Ayatnr8X65swmlcnpkGvo//e1w4A6u693JfC9THdd3msw6H83pGDaldLx3HQ6UHTFiDTtlD3+3zWHRXd95WQvbKRgur+ToitwupQ/G7uee0AoAlOhcluCJxmQC+NKDy+1eJx/KNGAXJ9GPw+bPq8o5yJXBrru1D8nu3ZUH7l/yDnQ/Exnmu0A4Am+DX3JbRuQp8jnWZzY4HBMR1d+FqLx3BFGDyTm35/yZR83mNDjuvJEd7z0BD9cyTWshHc62TB9e+MKBA3pR0A1Fz3yS0/TfizpIDzdqzLYfhV2ukR3tqWj+GBIftrWkL2nSE/76MR3vPakPdMP/fqAu+xKhS/SpBeC9mgHQA0xfIwvVvfpEdxn3a+yB50wmI6WSYttEiP6tKjditAs43eh525vTAln/lxGH52edmI7ll2C6n09257ieunGfTbBddJj5tXj7DvmtIOAGps9uzo2XpBl9RKet3gp5KBIj0+nvSj7GFD0Cgfu58NC98S6uNYr+fCbPp1Wp18uEeAT7OsVbyT25R2AABjlGaBdneCYNljIrsXQXxWECbG5dsw/hnTnaH6/Udn38dNM+crKuq7prQDAKhQ2u4mHSGXZu1mKgoLM53rp/u8OYY2bQzZ+42DZh+3jfi+h0J1gStttJ3e3106hv5rSjsAgIrsCOOZcZqt/WNqV5pJ6zWDmsLlngrve3UE/ZS2GUrvBaYFTJPYuaAp7QAAKCVtB5NW0afHpTOd/01nK28cw703x3o3ZFvV/BCyxVkPw9x3gtP/T7OyaSFKOoLzcCfYbpyiPmxKO4CG+n9biPhSqRUlPwAAA+J0RVh0TWF0aE1MADxtYXRoIHhtbG5zPSJodHRwOi8vd3d3LnczLm9yZy8xOTk4L01hdGgvTWF0aE1MIj48bXN0eWxlIG1hdGhzaXplPSIxNnB4Ij48bXN1Yj48bWk+TDwvbWk+PG1pPnE8L21pPjwvbXN1Yj48bW8+PTwvbW8+PG1mcmFjPjxtc3VwPjxtaT4mI3gzQkI7PC9taT48bW4+MjwvbW4+PC9tc3VwPjxtcm93PjxtaT4mI3gzQkM7PC9taT48bWZlbmNlZD48bXJvdz48bWk+JiN4M0JDOzwvbWk+PG1vPi08L21vPjxtaT4mI3gzQkI7PC9taT48L21yb3c+PC9tZmVuY2VkPjwvbXJvdz48L21mcmFjPjxtc3BhY2UgbGluZWJyZWFrPSJuZXdsaW5lIi8+PG1vPiYjeEEwOzwvbW8+PG1vPiYjeEEwOzwvbW8+PG1vPiYjeEEwOzwvbW8+PG1vPiYjeEEwOzwvbW8+PG1vPj08L21vPjxtZnJhYz48bXN1cD48bWZlbmNlZD48bW4+MjwvbW4+PC9tZmVuY2VkPjxtbj4yPC9tbj48L21zdXA+PG1yb3c+PG1uPjM8L21uPjxtZmVuY2VkPjxtcm93Pjxtbj4zPC9tbj48bW8+LTwvbW8+PG1uPjI8L21uPjwvbXJvdz48L21mZW5jZWQ+PC9tcm93PjwvbWZyYWM+PG1zcGFjZSBsaW5lYnJlYWs9Im5ld2xpbmUiLz48bW8+JiN4QTA7PC9tbz48bW8+JiN4QTA7PC9tbz48bW8+JiN4QTA7PC9tbz48bW8+JiN4QTA7PC9tbz48bW8+PTwvbW8+PG1mcmFjPjxtbj40PC9tbj48bXJvdz48bW4+MzwvbW4+PG1mZW5jZWQ+PG1uPjE8L21uPjwvbWZlbmNlZD48L21yb3c+PC9tZnJhYz48bXNwYWNlIGxpbmVicmVhaz0ibmV3bGluZSIvPjxtbz4mI3hBMDs8L21vPjxtbz4mI3hBMDs8L21vPjxtbz4mI3hBMDs8L21vPjxtbz4mI3hBMDs8L21vPjxtbz49PC9tbz48bWZyYWM+PG1uPjQ8L21uPjxtbj4zPC9tbj48L21mcmFjPjxtc3BhY2UgbGluZWJyZWFrPSJuZXdsaW5lIi8+PG1vPiYjeEEwOzwvbW8+PG1vPiYjeEEwOzwvbW8+PG1vPiYjeEEwOzwvbW8+PG1vPiYjeEEwOzwvbW8+PG1vPiYjeDIyNDg7PC9tbz48bW4+MTwvbW4+PG1vPi48L21vPjxtbj4zMzwvbW4+PC9tc3R5bGU+PC9tYXRoPtNei84AAAAASUVORK5CYII=\&quot;,\&quot;slideId\&quot;:268,\&quot;accessibleText\&quot;:\&quot;L subíndice q igual fracción numerador lambda al cuadrado entre denominador mu abrir paréntesis mu menos lambda cerrar paréntesis fin fracción\\nespacio espacio espacio espacio igual fracción numerador abrir paréntesis 2 cerrar paréntesis al cuadrado entre denominador 3 abrir paréntesis 3 menos 2 cerrar paréntesis fin fracción\\nespacio espacio espacio espacio igual fracción numerador 4 entre denominador 3 abrir paréntesis 1 cerrar paréntesis fin fracción\\nespacio espacio espacio espacio igual fracción 4 entre 3\\nespacio espacio espacio espacio casi igual a 1.33\&quot;,\&quot;imageHeight\&quot;:224},{\&quot;mathml\&quot;:\&quot;&lt;math xmlns=\\\&quot;http://www.w3.org/1998/Math/MathML\\\&quot; style=\\\&quot;font-family:stix;font-size:16px;\\\&quot;&gt;&lt;msub&gt;&lt;mi&gt;W&lt;/mi&gt;&lt;mi&gt;S&lt;/mi&gt;&lt;/msub&gt;&lt;mo&gt;=&lt;/mo&gt;&lt;mfrac&gt;&lt;mn&gt;1&lt;/mn&gt;&lt;mrow&gt;&lt;mi&gt;&amp;#x3BC;&lt;/mi&gt;&lt;mo&gt;-&lt;/mo&gt;&lt;mi&gt;&amp;#x3BB;&lt;/mi&gt;&lt;/mrow&gt;&lt;/mfrac&gt;&lt;mspace linebreak=\\\&quot;newline\\\&quot;/&gt;&lt;mo&gt;&amp;#xA0;&lt;/mo&gt;&lt;mo&gt;&amp;#xA0;&lt;/mo&gt;&lt;mo&gt;&amp;#xA0;&lt;/mo&gt;&lt;mo&gt;&amp;#xA0;&lt;/mo&gt;&lt;mo&gt;&amp;#xA0;&lt;/mo&gt;&lt;mo&gt;=&lt;/mo&gt;&lt;mfrac&gt;&lt;mn&gt;1&lt;/mn&gt;&lt;mrow&gt;&lt;mn&gt;3&lt;/mn&gt;&lt;mo&gt;-&lt;/mo&gt;&lt;mn&gt;2&lt;/mn&gt;&lt;/mrow&gt;&lt;/mfrac&gt;&lt;mspace linebreak=\\\&quot;newline\\\&quot;/&gt;&lt;mo&gt;&amp;#xA0;&lt;/mo&gt;&lt;mo&gt;&amp;#xA0;&lt;/mo&gt;&lt;mo&gt;&amp;#xA0;&lt;/mo&gt;&lt;mo&gt;&amp;#xA0;&lt;/mo&gt;&lt;mo&gt;=&lt;/mo&gt;&lt;mfrac&gt;&lt;mn&gt;1&lt;/mn&gt;&lt;mn&gt;1&lt;/mn&gt;&lt;/mfrac&gt;&lt;mspace linebreak=\\\&quot;newline\\\&quot;/&gt;&lt;mo&gt;&amp;#xA0;&lt;/mo&gt;&lt;mo&gt;&amp;#xA0;&lt;/mo&gt;&lt;mo&gt;&amp;#xA0;&lt;/mo&gt;&lt;mo&gt;&amp;#xA0;&lt;/mo&gt;&lt;mo&gt;=&lt;/mo&gt;&lt;mn&gt;1&lt;/mn&gt;&lt;mspace linebreak=\\\&quot;newline\\\&quot;/&gt;&lt;/math&gt;\&quot;,\&quot;base64Image\&quot;:\&quot;iVBORw0KGgoAAAANSUhEUgAAAfQAAAQcCAYAAABj+WnCAAAACXBIWXMAAA7EAAAOxAGVKw4bAAAABGJhU0UAAAJgv6CRRAAAJ2pJREFUeNrt3QHkVff/P/C3j3wkH5FJZmZMZiYZM1+TmUiSTCKZycyYzCQZM5NMxkwyk5FkMhOZJJmRmUxmZCaTjCSZTGSSfMyH/u/3797Pf7fbvfe8773n3s859z4evHz37XM/593nfU7n+TnnvM/7HQIAdbQq1qFYx3QFANTPylgHY92P9TDWPV0CAPUxF+tArH+aQf5QoANAfayI9XGsu21BLtABoAaWx/og1p0uQS7QAaDCZmPtj3W7IMgFOgBU0LJY+/oIcoEOABUyE+v9WLf6DHKBDgAVCfI9sW42g3kh1s+xjsc6HOuSQAeA6rvaDOTLsfbGWt3hMycEOgBUW5oc5oWCz6wR6AAwWVfyAh0AauysQAeA+jsj0AFAoAMAAh0AEOgAgEAHAIEOAAh0AECgAwACHQAEOgAg0AEAgQ4ACHQAEOgAgEAHAAQ6ACDQAUCgAwACHQAQ6ACAQAcAgQ4ACHQAQKADAAIdAAS6QAcAgQ4ACHQAQKADgEAX6AAg0AEAgQ4ACHQAEOgCHQAEOgAg0AEAgQ4AAl2gA4BABwAEOgAg0AFAoAt0ABDoAIBABwAEOgAg0AFgIpwT6ABQf9cEOgDU24pYCwWBnr4+o6sAoLreKQjzxdqoqwCgmuZiXc8M9Au6CwCqZ02si5lhvlhHg1vvALDkVsXa1gzm+32G+WLdiHUw1uZYs7oUAEZvQ6zbse7Gmh8wwItqvrn91M5OXQ4A5ds0ohDvVrt1OQAAAAAAAAAAAAAAAAAAALAorbM7qkkOjndpc9STLfQ7ucL5Ef+8ADByX8f6MdaDkkItrdubVg86GxrLAnbyQqxvYn0X6+dQzpSIqd0/Y50JjekW+7E/1ulYP8X6d8D20y9G7zmcAKiC52J9MWCgpQB/PdayAdpNqwelhQauDNBuCuEdA7bb7e+yPdYfme1fb94RWObwAaBqPugzVPeU1G4/awOn+nyEfbA81q8F7Z9qfg4AKutqZqheLLndt0P+EoKjtrVH++cdIgDUwYeZwXqw5HZXZrZ7agx9sKJL23+FxrrGAFB5r4SlW67vZka7J8bQB091aduawwDURhoctrBEgX4uo90zY+iDHR3aveTQAKBuckad7x9Buycz2v1zDD//Vx3afdFhAUDdnApLM5nKxxnt3h/DHYo7S3BXAABKdyQjWE+PoN1dIe/5/cwIf/bdHdp73iEBQB3tDuN/bS3ZkhnoT47wZ2+fWOYbhwMAdbUt5E15WrZVmYG+eUQ/d/sdgjQ48FmHAwB19VzIm0N9FLe+c0bYbx/Rz32trZ2jDgUA6mwm80p5dcntpilgcxZJeWsEP/NbbW2kv8dTDgUA6i5nedWyb30fyPxF4osR/ALTPpf8YYcAAJPg54xg3VHy1fndzEA/WfLPuic8/mrcEw4BACbB6YxgLXMd8Jx30EfxXnha/rR9ytlDdj8Ak+J4GN/kMiv6uDpPdbnEn3Nf27b/CY2FYgBgIrwbxrfyWT9X52W+MpfWNL/dtu2P7XoAJsn2jGC9UNLV+d99BvpCST/jR23bvd0MeQCYGK9mBOvdEtr5oG2b1zNDfcWQ7XYahLffbgdg0iwfw5XybNvV+a3QGF2eE+gbh2y7/RW5W82/DwBMnPmMYB1mAFn71XkaoJa7HvvrQ7Sbpphtf8/+XbsbgEmVc/t70xBX560D0m63XCHnTGrz5hA/16fh8TXWZ+xuACbV2TC6edXbXxdrfX59IaPdgwO2uybWg7Zt7barAZhkJ8No5lVPk7n81bKN9By9dXR5zqQ2Jwb8mQ63beeK3TyUTaG/NxTqXGfsbqCuct4P/6qEq/MP276eM6nNdwO0+3R4fPGX7XazQBfowKTbFcqfXCZdnd9q+f47ofEKWas9Ge3+OMDP81UY3YxzAl2gA1TW1oyT3Pk+t7m37fsPdPjMzlD+O/DPhsdHz2+2iwW6QAemwZMZJ7m/+9heGkneuhBKt3nTt2S0+2+fP8vXbd9/0e4V6AIdmBY574T3E6zvtX3vJ10+lzu5TO5EMM91+N5X7F6BLtCBaZLzTnjO/OftV+f3Q/dJaXInl3kp82c4Fcqfgx6BDlArP2Sc6F7L2E77QLeiNcdzfpHYltHuug7f96LdSsU9VEpNfI3dqTD85DLpivtGy+fTxC5PFHzPjxnt7sr4+591lYVAV0oJ9BC+yPhLFc209k7b5z/NaDdncpm9Bdt4ucP3PC8rEOhKqWkM9N0Zf6kvCq7Or7ddna/JaDdncpnjfV7ln5QTCHSl1LQG+vaMv9Q3Pb7/rbbPHs5s972MdntNavNKeHyp12flBAJdKTWtgf5ixl/qXI+r82vh0Vfcnsxsd9cQ7SaX2j57VEYg0JVS0xzosxl/qVuZt+u/6KPdLUO0uzE8/q78UzICgGk3XxCs812+79oQobomI9C7tftr2+c+twsBIITfMsK1fda2N8Jwt7xnMm9ZLGv7vm1tX08T2DxhFwJA493tomB9ue17roZHB6Q9M0C7OZPLrG37niuhvwlsAGBqnMgI1m09rs6PDdjuxYx2t7R8vn2Vtm6LvwDAVNqbEaytk8v8Ecp5Xey7jHZ3tHz+WtvXPrbrAOA/Oa+QfdblKvnrIdrNmVzm7eZn2993vx3yFo0BgKmR8wrZ4ixsV9quzoeZavX9jHa/Co/PRpdqv902FlZbA6iRlRknu7QISvuscqfGcGcgzVLXvpJbej99md0m0AU6wOOK1idPz69/D+UuhJJzZ+B8eHSd9VTv2l0CXaADdPZXnye/0yW0+eQAJ90/Q+MWPAJdoAN0cL7Pk9+6EtqcCf2fdN+0qwS6QAfo7ps+TnznSmz3Xh/tXrGbBLpAB+jt0z5OfC+W2O7PfbS73W4S6AIdoLfdmSe98yW3+11mu5ftIgAoti0zWF8qud0Tme1utosAoNhzGaF6YQTt5kw7e9HuAYA8OSPOXxlBu7uWqF0AmFj3luAquWhymR/sFgDoz6UewbphRG0+VRDo66eg39NI8s9DY3rdv2PNh8bMfel/74bGo44jsV4t2M76UN6kPwDUWLcR5z+PsM1et/q/m+C+not1IPQ/Q18a7d9pgGCaj39xat59DmWA6dZtOdONI263263+5ye0n9MbBbc7/LypH75ofn2u5fNpIZo0M196tfD75mfvNK/E0z5LK+HdCt4IAKDp3Q4h88sY2u10q//khPbxRz3uRjyRuY00sc+fXbazEKxEBzD1toelef/7TIdQenYC+7fbK3qDLEO7qkuo/+EwBuDVsDSzs7VPLnN0Avv2xS5hnm69zw24zfWh8/rxAEy55W3h8PqY2t3f0ua/oTHyfdL80iXQDwy53fa7G9aKB+D/zDeD4bcxttk6ucxnE9inr4Tuo9ZfHnLb7Y9J/ucQBiC51gz1ca5strnZ5j8hf2BYnRzpEegzQ257Njx6d2PGIQwAo3GxR6CX4WZzW5d0NQCMzv0RB/rZ5raO62oAGJ2FHoG+poTtf9vc1hu6GgCWJtDLCOHF1/7W6WoAGJ1/egR6Gc+90632B7oZAEbrXOi94MqOIbf/Qmis2AYAjNCHBYGeFlp5WjcBQLWlme8WQvGyqMt1FQBU25FQvNb5Od0EANWWFmC5mRHqX+sqAKi2NM/6vxmhfkRXAUC1vZER6KkO6ioAqLb9maH+sa4CgGo7mBnqB3QVAFTbJ67UAWAy5LzOlmqvrgKAajuTGerbdRUAVNdsrIsZgZ4WYHlJdwFT6q1YPzbPhfOxfoq1RbdQNati/ZER6mlymid0FzBF0vTZl4PBw9TIk7H+ygj1U7oKmKLzYs4sm2/rKqomLYV6N+Pg3ayrgAk3U3Bl3lrpvLlKl1E1GzMO3t91EzDhcufrcOudSvso4+DdoJuACfV0aAx86yfQb+g2qupSwcH7hS4CJtTRlnPdQqxDsVaHxm34dDHT7Va8N4EoxbZYz5S4vfUFgf6TLgcmUAruxZUp78V6rcNn0pLUVzucF9/XfQzriebBtLvk7f7QI9Dv6XZgArU+ctzY43ObOpwXT+o+hrW1eTDtKnm7b/YI9H91OzCBrjTPcZ9mfPZ623nxB93HsHY3D6Y3St7uWoEOTJHnw3+TaM1mfP5YePz1NRjK8ebBtK/k7c4Et9yB6bG/eX57L/Pz7XcxH+hChnUujO75TbdAv6jbgQnzQ/Mqezbz81uCO5eUbHF2tz/GeIX+lW4HJkx6bPlaH59/QqBTptm2A6rMV9deCKZ/BehmWdt5cV6XMIxX2g6oT0rc9rtdwvyWbgf4P56hU5pd4fHBamUtcdptnfR9uh3gsUA3WJihfNohcL8pYbuvBguzAAh0xuZ0l+B9b4htpmkN/wydlwhcq8sBOgb6Hd3BMK6G7gPX9g8Y5j+Gzu+dv6q7Af6/9jeBruoShjmYFkLvRVTO9XFV/UqXK/PbsV7W3QCPWN52rjyvSxjU2pC3Tu9CM9jTO5bPN38RWPyFYF1ojGbvNgDu61irdDXAY1a2nS/P6hIGtb15EP3SvLqeadZzsd6OdSrW35mh3z45QhpYt14XA3T1ctu587QuYVAptK81f0vs5dlYO0NjdrczofEeeXpfcr5ZabBbmvIwLTSwIzRuIwHQW/vUr9/oEoBypek7N3WpF3UPJXmjLdCP6RJgWqQxHFu71JaS2lgVej9SOm43UIJ0J/Na27H1kW4BpsXpHkH7a0lt7CoI9B12AyU42uHYelO3ANPiXo+gPVJSG9+E3m98eGuDYW3zyyIwzdYXXDlvK6md2z3a+M1uYEirQ/e3h7bqHmAavF9w5TxbQhvrCn5p+NxuYEjnexxfr+keYBp81+NE+EtJbewb010AptOeguNrhS4CpsH9MVw597p6ShMmLbMbGFCasOtBQaDP6CZg0r00hivnZc3Q7tbGT3YDA0pB/VvBMfxANwHTYG8Y/fPzLQUn3AN2AwP6LBRPmW3pVGAqnOlxIrxUUhuHC064lv9lEK+GvDUwLugqYNKl25W9nj2W9fz899D7dqjnm/QrzVlwMzPQz+guYNL9L4z++fkaJ1tG4NuC4+pWsDALMEX2h97Pz8sYeV403eteu4E+vVFwTN2I9UGwMAswRc6F0T8/P1Vw8l1nN9CHp0NjWelex1SaROarlv//oW4DJll6bj3f46T4WQltpMk8er2uttSjj4+HvGewda3ZCTxufyr4mY82P9e6bsBu/9yBSVY0QriM5+dFs3edEugCvQ8fheJb7XPNz7bOfrjTP3dgkn0cRv/8/ErBCfhtgS7QM73YPC57/bwbWz7/fTCtMDAlvu9xYvy5hO2/lhE4Twt0gZ5heaxrBT/rV23fc73la5v9cwcmVXp+3uvZ9qES2ih61nm9Av0g0OvhaMHPmd5Hn2v7ntb1CTb4Jw9MqqKr5y1Dbr/o/fZUXwt0gZ5ha8bP2el4bb09v9I/eWBSHQijXfnsx4yT8A6BLtALrI71d8HPeKLD961o+8xy/+SBSfVDGN3KZ7nza6+yGyhwPhTPBtfp6vvFts9ZmheYSEVLmQ77/HxxKcuLPdr43W6gQNErj70eDbXfpgeYSJsKTpLDjAh+u7mNNJNXr4FMR+wGelgbei8aVDQGY6dAB6bBJ6H38/NBVz5Lo4xvN7fzXuj9mpH3gukmHX+/FYT5X6H3QLe3BDowDXoNWPtxiO0urnmebqevC6OftIbJ9GkovtW+tWAbBwU6MOmWhd6zbR0ccLvrW7bxcocTapmD7phcOQMqc153PCHQgUm3peBkuWmAbaZbpItTvB5v/tmVEfzSwGRLt9BvFhyf6ZHOExnb+lagA5Ou1+3MQZ+fL16N322ebJ8LxUtbQlEId6rXM7d1VqADk67Xq2QXBtheur2+eAt/cYnKXou+PAiDD7pjcu3KCPNv+9je9wIdmGRlPz9Pt0hvhMcH013u0cZZu4E2aYGeuwVhnmaLe6KPbbbfus8ZhJkmoznZ/CUVoNKK5sTu91WyxduaaRGMZ5p/9kxBG+/12N5Tsf4M1q6eNkWL+KTa3uc2/wn9z0r4VfOzz9olQNV9VnDSfKaPbX3U8n3vt/z5/oI2nu+yvTTn+C8Dnryprw8ywvzUANttn5SmaLDnXPMX05t2CVAHlwpOnHOZ22l93tn+3L3XM/pbPbZ5LLglP23Sq44Lodxb7Yvm27azK/MX1BN2C1B1sxknz1cztpNee1ucBz4991zT8rUVBW2c7LLNPV22x+RKq59dC6Nbka99O0d7fHZV+O8Z/ut2DVB1r2ecPD8q2Ma2tiufbX228UaHbW4M1VpOlfE4mnE8nh5i++2/WN7o8dnFSWjSc3dvYACVdyTjBJrmx17d5fs/CsUrshU9o1/b9vkXW66MTtpFU2NLxrE46K32RZ0Wdnmrw+feafn6l3YNUAeXQ94a5deaJ9yZZm3t8L3nu7RxpmDbrdY1T9rpz9PI9jm7aCqsbtnvvWrXkO3cCJ3nQEiPd5Y1j7dDIW/AJkBlFD3b7qd+6xG+RdN2bm2eTNNJdfG1onuhMbMc0+FsxjF2poR2vuvzuD5t1wB1sL2kML8Wut+ST/4dYJtb7Z6psSfjeChrYOQHfRyDaVzIWrsHqIMvSwjzywVhnjzoc5tv2zVTY23m8fFmSe0908dxuN/uAeri9y4nst8zT3jpFmjOM+6jmdtLV/Jv2C1TI43F+C3juCh7DoKTGW0ajAnUxlzoPXd7r5NeGvX+Vh9trQrFg+/+CI3R7UyPT8L4brW3H49Xe7T5mV0D1MmO0HsZ02XNE1taZzo9S0yD1NKAonQ7fHaA9tL29oXGrHQPmttMvxicCt4zZ/zSAkJHWo7vNHDzeGjMUgdQK91ugw+69jkAsASudAn073UNANTDqtD9dvuHugcA6mFnj0DfoHsAoB6Oh+4TaXh+DgA10W15yvO6BgDqYU0YfJlUAKAidvUI9Fd1DwDUw9fB83MAqL0/g+fnAFBrzwXPzwGg9nqtO+39cwCoiR+7hHlaLMXzcwCogTTd60KXQP9O9wBAPfS63f6u7gGAerjcI9Cf1D0AUH0v9wjzn3QPANTD+R6Bvlv3AED1vdYjzK/qHgCohwOxTnap9boHAAAAAAAAAAAAAAAAAAAAAAAAAAAAAAAAAAAAAAAAAAAAAAAAAAAAAAAAAAAAAAAAAAAAAAAAAAAAAAAAAAAAAAAAAAAAAAAAAAAAAAAAAAAAAAAAAAAAAAAAAAAAAAAAAAAAAAAAAAAAAAAAAAAAAAAAAAAAAAAAAAAAAAAAAAAAAAAAAAAAAAAAAAAAAAAAAAAAAAAAAAAAAGAirYp1KNYxXQEA9bMy1sFY92M9jHVPlwBAfczFOhDrn2aQPxToAFAfK2J9HOtuW5ALdACogeWxPoh1p0uQC3QAqLDZWPtj3S4IcoEOABW0LNa+PoJcoANAhczEej/WrT6DXKADQEWCfE+sm81gXoj1c6zjsQ7HuiTQAaD6rjYD+XKsvbFWd/jMCYEOANWWJod5oeAzawQ6AEzWlbxAB4AaOyvQAaD+zgh0ABDoAIBABwAEOgAg0AFAoAMAAh0AEOgAgEAHAIEOAAh0AECgAwACHQAEOgAg0AEAgQ4ACHQAEOgAgEAHAAQ6ACDQAUCgAwACHQAQ6ACAQAcAgS7QAUCgAwACHQAQ6AAg0AU6AAh0AECgAwACHQAEukAHAIEOAAh0AECgA4BAF+gAINABAIEOAAh0ABDoAh0ABDoAINABAIEOAAh0AJgI5wQ6ANTfNYEOAPW2ItZCQaCnr8/oKgCorncKwnyxNuoqAKimuVjXMwP9gu4CgOpZE+tiZpgv1tHg1jsALLlVsbY1g/l+n2G+WDdiHYy1OdasLgWA0dsQ63asu7HmBwzwoppvbj+1s1OXA0D5No0oxLvVbl0OAAAAAAAAAAAAAAAAAAAAAAAAAAAAAAAAAAAAAAAAAAAAAAAAAAAAAAAAAAAAAAAAAAAAAAAAAAAAAAAAAAAAAAAA/GdTrIdTUmfsbgAEukAHAIEu0AFAoAt0ABDoAh0AgS7QAUCgC3QAoJ4eKqVqWQACXSmBDgh0pZRABwS6UkqgAwJdKSXQAYGulEAHAAAAAAAAAAAAAAAAAJggVlsDAIEu0AFAoAt0ABDoAh0ABDoACHSBDgACXaADAAAAAAAAAAAAAAAAAAAAAAAAAAAAAAAAAAAAAAAAAAAAAAAAAAAAAAAAAAAAAAAAAAAAAAAAAAAAAAAAAAAAjMiyWNtifR7rTKwbse7Hmo/1b6wHsW7HOhvraKztsWZ1GwN6KdbeWN/G+inW3eYx9m/zmEvH3vXmsXjY8QZQ7IVYx5sn0Yd9Vjr5noy1XjeS4alYn8S6NcCxtni8pYB/TVcCPHpyPTXgibVTfR3rCd1KByubV9n/lni8XYr1oq4Fpl26fflPiSfXxUpXXi/pXlq8NsQVeVEtxDqoi4Fp9dGITq6LdS/WK7qZ6O1m6D4ccZ2LtVx3A9PkkzGcXFOlAU7P6O6p9t6YjrXF+iE0BnYCTO0JNl1BnW9+PV1Zt44kTv/9fKxdoTH47X4fJ9hfdfnUen3MYb5YJ3U9MOk2dAnyNFDpqT62syI0nlnmjojfpeunztrQeOzS6Xj4M9anoTGGY02smbZfHtMbFztifRkar00OEupv2wXApJqLdbPD1fPzQ2wzjS6+nXFyvaz7p86vHY6DP2JtGmBbaUDdL6H/xz3etgAm0pdtJ7zjbVdGg0pXUzm34NfaBVNjT4f9/2UJx1va7oM+Qv2wXQFMmhfaTnSHSt7+Bxkn1zfthqmQHsfcGeHx9krz6jsn0FP4z9klwCQ503KSOzqC7afnnkXvsx+3G6ZC++uQp0bQxsaQ/xrcO3YJMCmeazm5XRhhOycLTqzf2hUTL91Sb5085sYIr5APZgb6d3YLMCmONE9sf4XRDhLaXXBiPWVXTLz219Q2j7CtdFfoZsib4AhgIq6YFp9nbhlxW9tcoU+91kc7Z8fQ3v7Mq3SrswG1txiyp8fQ1qaCk+rndsdES7OzLS66kp5vPz+GNleHvGfpG+0eoO7S88s0QceTFQj0HXbHRNselmamtl8zAn2r3QPQ/92AbutXr9JFE+1Iy/5+foztnhDoAOXqNSjutO6ZeBfDf4ujjNO7GYG+xe4ByPdVjxPqet0z8b6OdT2MdmR7JzszAn2d3QOQ71owoQzjt70gzNOguRndBJDnpdB9VS1Tb7KUgX5VFwHk+7bDifTvWM/qGkZsR7A2OsDIrs5TmL+oaxiDohkKd+kigGLpdnr7s/N0m91SqYzLodD7dcnlugig2Pnw+PSunpkzTqeC6YYBBpaues62nDjTwi87dQtL4GqPQH9N9wB093R4fLrNtGTmh67OGbO5HmH+m+4B6O690FiOsttJ9G4z2K1uxTj0GuG+XfcAPC7N034l5C1VmepGGP+MYUyfr7scf7/qGoD/pOUw34n1ex9B3mmWOFfrjOr47Ha36GXdA9B4r/yL0Lh9/rCEuhQa61ZDmd7qcryd0DXAtEtX43+WFOLtla7yLZ9KmX4JnSc0ekLXANMuvbObbmHejzU/glA/q4spyYYux9g2XQPQWXr+/VysraExxWaaF/vGEKG+W5dSgksdjq1jugWgf+k5+5HQ+xW2TnU7mIqT4XRaXe23YPAlwFBWxvo0NNaczg31/bqNAa0Ij98huhPrGV0DUI51sa5nBrr1qRnU4bZjKf0iuVG3AJQrjS7OfWd93Yj/LsfDaEbrV6Wm8fZyp4Fw7/hnBzAaa0LjOflS33YX6JMlvfJ4s60PPvHPDWC0NmUE0mmBLtD7cDY8PgMhAGNwriCQ/hDoAj3TgTH/MghAiw0FgTQv0AV6hm1tP/c5/7QAxq9oApoZgS7Qe0hzHbTOc/BDaCzIAsCYnVjCUBLo9ZbeK28dXPlzMCERwJJ501UmA0gr87XOaZAWYZnTLQBLZ0tYulvu1FN6Pa11LoP031ZPA1hiT4WlGxRH/aSr8NZFV641r9YBqMAJeqleW6Ne0uOXCy3HR5pE5kndAlANK3oE+indQ1N69NI6b8FfsZ7WLQDV0euWuxXXWHSq5bj4O9ZzugSgWrb2CPT/6R7Co68X3o21XpcAVM/uLmF+S9cQHl0K9d4Yf8l7snlsessCINM3XQL9U10z9Q62HA8PYr06xrZPN9t9yW4AyNNpGdWF0JgFjOm1r+V4+DfW5jG2vbPZ7hW7ASBPtyVULXs53d5uOx5eH2Pbz4bGc/rU7l67AiDPTx3CPD0n9W7x9NrRdjy8Mca2W6eTTXcFVtkdAMW6Tfn6vq6ZWumNh4WWY+HdMba9Pjw6N7w5EIBaS4OOPot1LDRG+D41onbSlc/NDmF+3i6YWhtDY+DbuOYgSKPX18baFets2y8SqTbZJUAdpfWjvwudB6edifVCye2d79BWWhfdAhvT6ZXw6JrmS1037BKgrg4UnOBSsH8eylnK9GSH7adpPJ+1G6ZSutV9N1RrHfkDdgtQV1czT3Tpc68N2MbK8Ohc3Iv1Z/CK2rRKt7z/rliYP3Q8AnXW7xVSCuZ+JtxIzylvddhOus1vJPF0SuMz/qpgmF+wa4A6OzPgye+3WB+GxqQfrbfj03+nUeyHwqMjh1tvsb+h26fW6i7HRRVql90D1NmWMZ0s0+3Vj0NjyVSmUxr4eKWiYZ7uVJm7Hai9ooFxw1SaQOat0BhNz/RKYflrRcM81Rd2ETBJV+q/lXBiTK8gpefj78Rao1tpmq1wmKdaZxcBk+b5WHtC4xWz72PdiXU/1nxLpf+fFlZJA+TSrFrpeXmatnOt7gMAAAAAAAAAAAAAAAAAAAAAAAAAAAAAAAAAAAAAAAAAAAAAAAAAAAAAAAAAAAAAAAAAAAAAAAAAAAAAAAAAAAAAAAAAAAAAAAAAAAAAAAAAAAAAAAAAAAAAAAAAAAAAAAAAAAAAAAAAAAAAAAAAAAAAAAAAAAAAAAAAAAAAAAAAAAAAAAAAAAAAAAAAAAAAAAAAAAAAAAAAAAAAAAAAAAAAAAAAAAAAAAAAAAAAAAAAAAAAAAAAAAAAAAAAAAAAAACAoa2KdSjWMV0BAPWzMtbBWPdjPYx1T5cAQH3MxToQ659mkD8U6ABQHytifRzrbluQC3QAqIHlsT6IdadLkAt0AKiw2Vj7Y90uCHKBDgAVtCzWvj6CXKADQIXMxHo/1q0+g1ygA0BFgnxPrJvNYF6I9XOs47EOx7ok0AGg+q42A/lyrL2xVnf4zAmBDgDVliaHeaHgM2sEOgBM1pW8QAeAGjsr0AGg/s4IdAAQ6ACAQAcABDoAINABQKADAAIdABDoAIBABwCBDgAIdABAoAMAAh0ABDoAINABAIEOAAh0ABDoAIBABwAEOgAg0AFAoAMAAh0AEOgAgEAHAIEu0AFAoAMAAh0AEOgAINAFOgAIdABAoAMAAh0ABLpABwCBDgAIdABAoAOAQBfoACDQAQCBDgAIdAAQ6AIdAAQ6ACDQAQCBDgAIdACYCOcEOgDU3zWBDgD1tiLWQkGgp6/P6CoAqK53CsJ8sTbqKgCoprlY1zMD/YLuAoDqWRPrYmaYL9bR4NY7ACy5VbG2NYP5fp9hvlg3Yh2MtTnWrC4FgNHbEOt2rLux5gcM8KKab24/tbNTlwNA+TaNKMS71W5dDgAAAAAAAAAAAAAAAAAAAAAAAAAAAAAAAAAAAAAAAAAAAAAAAAAAAAAAAAAAAAAAAAAAAAAAAAAAAAAAAAAAAAAAADCsTbEeTkmdsbsBEOgCHQAEukAHAIEu0AFAoAt0AAS6QAcAgS7QAYB6eqhKKwAQ6AIdAAS6QAdAoCuBDoBAVwIdAIEu0AEAAAAAAAAAAAAAAAAAgIFYbQ0ABLpABwCBLtABQKALdAAQ6AAg0AU6AAh0gQ4AAAAAAAAAAAAAAAAAAAAAAAAAAAAAAAAAAAAAAAAAAAAAAAAAAAAAAAAAAAAAAAAAAAAAAAAAAAAAAAAAUG+rYh2KdUxXAED9rIx1MNb9WA9j3dMlAFAfc7EOxPqnGeQPBToA1MeKWB/HutsW5AIdAGpgeawPYt3pEuQCHQAqbDbW/li3C4JcoANABS2Lta+PIBfoAFAhM7Hej3WrzyAX6ABQkSDfE+tmM5gXYv0c63isw7EuCXQAqL6rzUC+HGtvrNUdPnNCoANAtaXJYV4o+MwagQ4Ak3UlL9ABoMbOCnQAqL8zAh0ABDoAINABAIEOAAh0ABDoAIBABwAEOgAg0AFAoAMAAh0AEOgAgEAHAIEOAAh0AECgAwACHQAEOgAg0AEAgQ4ACHQAEOgAgEAHAAQ6ACDQAUCgC3QAEOgAgEAHAAQ6AAh0gQ4AAh0AEOgAgEAHAIEu0AFAoAMAAh0AEOgAINAFOgAIdABAoAMAAh0ABLpABwCBDgAIdABAoAMAAh0AJsI5gQ4A9XdNoANAva2ItVAQ6OnrM7oKAKrrnYIwX6yNugoAqmku1vXMQL+guwCgetbEupgZ5ot1NLj1DgBLblWsbc1gvt9nmC/WjVgHY22ONatLAWD0NsS6HeturPkBA7yo5pvbT+3s1OUAUL5NIwrxbrVblwMAAAAAAAAAAAAAAAAAAAAAAAAAAAAAAAAAAAAAAAAAAAAAAAAAAAAAAAAAAAAAAAAAAAAAAAAAAAAAAAAAAAAAAAAAAAAAAAAAAAAAAAAAAAAAAAAAAAAAAAAAAAAAAAAAAAAAAAAAAAAAAAAAAAAAAAAAAAAAAAAAAAAAAAAAAAAAAAAAAAAAAAAAAAAAAAAAAAAAAAAAAAAAAAAAAAAAAAAAAAAAAAAAAAAAAAAAAAAAAAAAAAAAAAAAAAAAAAAAAFBnq2IdinVMVwBA/ayMdTDW/VgPY93TJQBQH3OxDsT6pxnkDwU6ANTHilgfx7rbFuQCHQBqYHmsD2Ld6RLkAh0AKmw21v5YtwuCXKADQAUti7WvjyAX6ABQITOx3o91q88gF+gAUJEg3xPrZjOYF2L9HOt4rMOxLgl0AKi+q81Avhxrb6zVHT5zQqADQLWlyWFeKPjMGoEOAJN1JS/QAaDGzgp0AKi/MwIdAAQ6ACDQAQCBDgAIdAAQ6ACAQAcABDoAINABQKADAAIdABDoAIBABwCBDgAIdABAoANQUZsKwmSS6oxAB0CgC3SBDoBAF+gCHQCBLtABQKALdAAEukAX6AAIdIEu0AFg8gl0ABDoAIBABwAEOgAg0AFAoAMAAh0AEOgAgEAHAIEOAAh0AECgAwACHYARsNqaQAdAoAt0gQ6AQBfoAh0AgS7QAUCgC3QABLpAF+gACHSBLtABYKIIdAAQ6ACAQAcASnFOoANA/V0T6ABQbytiLRQEevr6jK4CgOp6J+S9crdRVwFANc3Fup4Z6Bd0FwBUz5pYF0N/E+McDW69A8CSWxVrWzOY74fBZru7EetgrM2xZnUpAIzehli3Y92NNR9GM53tfHP7qZ2duhwAyjfuefJ363KgH/8PfpYKadD1UpkAAAKhdEVYdE1hdGhNTAA8bWF0aCB4bWxucz0iaHR0cDovL3d3dy53My5vcmcvMTk5OC9NYXRoL01hdGhNTCI+PG1zdHlsZSBtYXRoc2l6ZT0iMTZweCI+PG1zdWI+PG1pPlc8L21pPjxtaT5TPC9taT48L21zdWI+PG1vPj08L21vPjxtZnJhYz48bW4+MTwvbW4+PG1yb3c+PG1pPiYjeDNCQzs8L21pPjxtbz4tPC9tbz48bWk+JiN4M0JCOzwvbWk+PC9tcm93PjwvbWZyYWM+PG1zcGFjZSBsaW5lYnJlYWs9Im5ld2xpbmUiLz48bW8+JiN4QTA7PC9tbz48bW8+JiN4QTA7PC9tbz48bW8+JiN4QTA7PC9tbz48bW8+JiN4QTA7PC9tbz48bW8+JiN4QTA7PC9tbz48bW8+PTwvbW8+PG1mcmFjPjxtbj4xPC9tbj48bXJvdz48bW4+MzwvbW4+PG1vPi08L21vPjxtbj4yPC9tbj48L21yb3c+PC9tZnJhYz48bXNwYWNlIGxpbmVicmVhaz0ibmV3bGluZSIvPjxtbz4mI3hBMDs8L21vPjxtbz4mI3hBMDs8L21vPjxtbz4mI3hBMDs8L21vPjxtbz4mI3hBMDs8L21vPjxtbz49PC9tbz48bWZyYWM+PG1uPjE8L21uPjxtbj4xPC9tbj48L21mcmFjPjxtc3BhY2UgbGluZWJyZWFrPSJuZXdsaW5lIi8+PG1vPiYjeEEwOzwvbW8+PG1vPiYjeEEwOzwvbW8+PG1vPiYjeEEwOzwvbW8+PG1vPiYjeEEwOzwvbW8+PG1vPj08L21vPjxtbj4xPC9tbj48bXNwYWNlIGxpbmVicmVhaz0ibmV3bGluZSIvPjwvbXN0eWxlPjwvbWF0aD7uwrgWAAAAAElFTkSuQmCC\&quot;,\&quot;slideId\&quot;:269,\&quot;accessibleText\&quot;:\&quot;W subíndice S igual fracción numerador 1 entre denominador mu menos lambda fin fracción\\nespacio espacio espacio espacio espacio igual fracción numerador 1 entre denominador 3 menos 2 fin fracción\\nespacio espacio espacio espacio igual fracción 1 entre 1\\nespacio espacio espacio espacio igual 1\\n\&quot;,\&quot;imageHeight\&quot;:168.32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327</TotalTime>
  <Words>1020</Words>
  <Application>Microsoft Office PowerPoint</Application>
  <PresentationFormat>Personalizado</PresentationFormat>
  <Paragraphs>67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Gill Sans MT</vt:lpstr>
      <vt:lpstr>Arial</vt:lpstr>
      <vt:lpstr>Aileron Bold</vt:lpstr>
      <vt:lpstr>Aileron</vt:lpstr>
      <vt:lpstr>Aileron Ultra-Bold</vt:lpstr>
      <vt:lpstr>Galería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FranciscoCampos_Proyecto2</dc:title>
  <dc:creator>Yuli</dc:creator>
  <cp:lastModifiedBy>ANTONIO</cp:lastModifiedBy>
  <cp:revision>22</cp:revision>
  <dcterms:created xsi:type="dcterms:W3CDTF">2006-08-16T00:00:00Z</dcterms:created>
  <dcterms:modified xsi:type="dcterms:W3CDTF">2025-08-09T20:01:15Z</dcterms:modified>
  <dc:identifier>DAGvO4w6PKk</dc:identifier>
</cp:coreProperties>
</file>