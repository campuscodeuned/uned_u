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itter Bold" charset="1" panose="02000000000000000000"/>
      <p:regular r:id="rId12"/>
    </p:embeddedFont>
    <p:embeddedFont>
      <p:font typeface="Bitter" charset="1" panose="02000000000000000000"/>
      <p:regular r:id="rId13"/>
    </p:embeddedFont>
    <p:embeddedFont>
      <p:font typeface="Inter Semi-Bold" charset="1" panose="0200050300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26.png" Type="http://schemas.openxmlformats.org/officeDocument/2006/relationships/image"/><Relationship Id="rId18" Target="../media/image27.svg" Type="http://schemas.openxmlformats.org/officeDocument/2006/relationships/image"/><Relationship Id="rId2" Target="../media/image2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31715" y="1806721"/>
            <a:ext cx="6673559" cy="6673559"/>
          </a:xfrm>
          <a:custGeom>
            <a:avLst/>
            <a:gdLst/>
            <a:ahLst/>
            <a:cxnLst/>
            <a:rect r="r" b="b" t="t" l="l"/>
            <a:pathLst>
              <a:path h="6673559" w="6673559">
                <a:moveTo>
                  <a:pt x="0" y="0"/>
                </a:moveTo>
                <a:lnTo>
                  <a:pt x="6673559" y="0"/>
                </a:lnTo>
                <a:lnTo>
                  <a:pt x="6673559" y="6673558"/>
                </a:lnTo>
                <a:lnTo>
                  <a:pt x="0" y="6673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84786" y="4318818"/>
            <a:ext cx="2489310" cy="4161461"/>
          </a:xfrm>
          <a:custGeom>
            <a:avLst/>
            <a:gdLst/>
            <a:ahLst/>
            <a:cxnLst/>
            <a:rect r="r" b="b" t="t" l="l"/>
            <a:pathLst>
              <a:path h="4161461" w="2489310">
                <a:moveTo>
                  <a:pt x="0" y="0"/>
                </a:moveTo>
                <a:lnTo>
                  <a:pt x="2489310" y="0"/>
                </a:lnTo>
                <a:lnTo>
                  <a:pt x="2489310" y="4161461"/>
                </a:lnTo>
                <a:lnTo>
                  <a:pt x="0" y="4161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480185"/>
            <a:ext cx="1464807" cy="1334306"/>
          </a:xfrm>
          <a:custGeom>
            <a:avLst/>
            <a:gdLst/>
            <a:ahLst/>
            <a:cxnLst/>
            <a:rect r="r" b="b" t="t" l="l"/>
            <a:pathLst>
              <a:path h="1334306" w="1464807">
                <a:moveTo>
                  <a:pt x="0" y="0"/>
                </a:moveTo>
                <a:lnTo>
                  <a:pt x="1464807" y="0"/>
                </a:lnTo>
                <a:lnTo>
                  <a:pt x="1464807" y="1334306"/>
                </a:lnTo>
                <a:lnTo>
                  <a:pt x="0" y="1334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794493" y="7725716"/>
            <a:ext cx="1464807" cy="1334306"/>
          </a:xfrm>
          <a:custGeom>
            <a:avLst/>
            <a:gdLst/>
            <a:ahLst/>
            <a:cxnLst/>
            <a:rect r="r" b="b" t="t" l="l"/>
            <a:pathLst>
              <a:path h="1334306" w="1464807">
                <a:moveTo>
                  <a:pt x="0" y="0"/>
                </a:moveTo>
                <a:lnTo>
                  <a:pt x="1464807" y="0"/>
                </a:lnTo>
                <a:lnTo>
                  <a:pt x="1464807" y="1334306"/>
                </a:lnTo>
                <a:lnTo>
                  <a:pt x="0" y="1334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402231" y="-2053675"/>
            <a:ext cx="3771538" cy="3949254"/>
          </a:xfrm>
          <a:custGeom>
            <a:avLst/>
            <a:gdLst/>
            <a:ahLst/>
            <a:cxnLst/>
            <a:rect r="r" b="b" t="t" l="l"/>
            <a:pathLst>
              <a:path h="3949254" w="3771538">
                <a:moveTo>
                  <a:pt x="0" y="0"/>
                </a:moveTo>
                <a:lnTo>
                  <a:pt x="3771538" y="0"/>
                </a:lnTo>
                <a:lnTo>
                  <a:pt x="3771538" y="3949254"/>
                </a:lnTo>
                <a:lnTo>
                  <a:pt x="0" y="3949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198668" y="9258300"/>
            <a:ext cx="2945332" cy="2594306"/>
          </a:xfrm>
          <a:custGeom>
            <a:avLst/>
            <a:gdLst/>
            <a:ahLst/>
            <a:cxnLst/>
            <a:rect r="r" b="b" t="t" l="l"/>
            <a:pathLst>
              <a:path h="2594306" w="2945332">
                <a:moveTo>
                  <a:pt x="0" y="0"/>
                </a:moveTo>
                <a:lnTo>
                  <a:pt x="2945332" y="0"/>
                </a:lnTo>
                <a:lnTo>
                  <a:pt x="2945332" y="2594306"/>
                </a:lnTo>
                <a:lnTo>
                  <a:pt x="0" y="25943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838450" y="1028700"/>
            <a:ext cx="3876675" cy="3876675"/>
          </a:xfrm>
          <a:custGeom>
            <a:avLst/>
            <a:gdLst/>
            <a:ahLst/>
            <a:cxnLst/>
            <a:rect r="r" b="b" t="t" l="l"/>
            <a:pathLst>
              <a:path h="3876675" w="3876675">
                <a:moveTo>
                  <a:pt x="0" y="0"/>
                </a:moveTo>
                <a:lnTo>
                  <a:pt x="3876675" y="0"/>
                </a:lnTo>
                <a:lnTo>
                  <a:pt x="3876675" y="3876675"/>
                </a:lnTo>
                <a:lnTo>
                  <a:pt x="0" y="38766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311094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633456" y="-2860358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804426" y="5515855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68286" y="2502030"/>
            <a:ext cx="7414506" cy="457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74"/>
              </a:lnSpc>
            </a:pPr>
            <a:r>
              <a:rPr lang="en-US" sz="5026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Energía renovable en hogares inteligentes: Paneles solares con tecnología blockchain para la distribución eficiente de energía entre vecinos.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4950" y="1000125"/>
            <a:ext cx="9260489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spc="-6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Presentado por Francisco Campos Sandi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3942" y="-802958"/>
            <a:ext cx="2945332" cy="2594306"/>
          </a:xfrm>
          <a:custGeom>
            <a:avLst/>
            <a:gdLst/>
            <a:ahLst/>
            <a:cxnLst/>
            <a:rect r="r" b="b" t="t" l="l"/>
            <a:pathLst>
              <a:path h="2594306" w="2945332">
                <a:moveTo>
                  <a:pt x="0" y="0"/>
                </a:moveTo>
                <a:lnTo>
                  <a:pt x="2945333" y="0"/>
                </a:lnTo>
                <a:lnTo>
                  <a:pt x="2945333" y="2594306"/>
                </a:lnTo>
                <a:lnTo>
                  <a:pt x="0" y="2594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22543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973300" y="8229600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028700" y="9007871"/>
            <a:ext cx="3888054" cy="3888054"/>
          </a:xfrm>
          <a:custGeom>
            <a:avLst/>
            <a:gdLst/>
            <a:ahLst/>
            <a:cxnLst/>
            <a:rect r="r" b="b" t="t" l="l"/>
            <a:pathLst>
              <a:path h="3888054" w="3888054">
                <a:moveTo>
                  <a:pt x="0" y="0"/>
                </a:moveTo>
                <a:lnTo>
                  <a:pt x="3888054" y="0"/>
                </a:lnTo>
                <a:lnTo>
                  <a:pt x="3888054" y="3888054"/>
                </a:lnTo>
                <a:lnTo>
                  <a:pt x="0" y="388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637224" y="2571750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2" y="0"/>
                </a:lnTo>
                <a:lnTo>
                  <a:pt x="4069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4950" y="2556742"/>
            <a:ext cx="7414506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Cliente 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9616" y="3904353"/>
            <a:ext cx="8335218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9"/>
              </a:lnSpc>
            </a:pPr>
            <a:r>
              <a:rPr lang="en-US" b="true" sz="1999" spc="5" u="non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Propietarios de viviendas en zonas urbanas y suburbanas interesados en reducir costos energéticos y minimizar su impacto ambiental mediante tecnologías limpias y colaborativas.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54555" y="-802958"/>
            <a:ext cx="2945332" cy="2594306"/>
          </a:xfrm>
          <a:custGeom>
            <a:avLst/>
            <a:gdLst/>
            <a:ahLst/>
            <a:cxnLst/>
            <a:rect r="r" b="b" t="t" l="l"/>
            <a:pathLst>
              <a:path h="2594306" w="2945332">
                <a:moveTo>
                  <a:pt x="0" y="0"/>
                </a:moveTo>
                <a:lnTo>
                  <a:pt x="2945333" y="0"/>
                </a:lnTo>
                <a:lnTo>
                  <a:pt x="2945333" y="2594306"/>
                </a:lnTo>
                <a:lnTo>
                  <a:pt x="0" y="2594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37991" y="-232345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8725" y="8492258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315273" y="8342973"/>
            <a:ext cx="3888054" cy="3888054"/>
          </a:xfrm>
          <a:custGeom>
            <a:avLst/>
            <a:gdLst/>
            <a:ahLst/>
            <a:cxnLst/>
            <a:rect r="r" b="b" t="t" l="l"/>
            <a:pathLst>
              <a:path h="3888054" w="3888054">
                <a:moveTo>
                  <a:pt x="0" y="0"/>
                </a:moveTo>
                <a:lnTo>
                  <a:pt x="3888054" y="0"/>
                </a:lnTo>
                <a:lnTo>
                  <a:pt x="3888054" y="3888054"/>
                </a:lnTo>
                <a:lnTo>
                  <a:pt x="0" y="388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047608" y="2712653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4950" y="2556742"/>
            <a:ext cx="8913381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Necesidad del cliente: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9616" y="3872798"/>
            <a:ext cx="8335218" cy="168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9"/>
              </a:lnSpc>
            </a:pPr>
            <a:r>
              <a:rPr lang="en-US" b="true" sz="1999" spc="5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</a:t>
            </a:r>
            <a:r>
              <a:rPr lang="en-US" b="true" sz="1999" spc="5" u="non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tos usuarios enfrentan altos costos eléctricos y la falta de acceso a sistemas confiables de energía renovable compartida, lo que limita su capacidad para gestionar su consumo y generar ahorros reales.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63886" y="4785419"/>
            <a:ext cx="7071749" cy="4472881"/>
          </a:xfrm>
          <a:custGeom>
            <a:avLst/>
            <a:gdLst/>
            <a:ahLst/>
            <a:cxnLst/>
            <a:rect r="r" b="b" t="t" l="l"/>
            <a:pathLst>
              <a:path h="4472881" w="7071749">
                <a:moveTo>
                  <a:pt x="0" y="0"/>
                </a:moveTo>
                <a:lnTo>
                  <a:pt x="7071749" y="0"/>
                </a:lnTo>
                <a:lnTo>
                  <a:pt x="7071749" y="4472881"/>
                </a:lnTo>
                <a:lnTo>
                  <a:pt x="0" y="4472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54172" y="1619526"/>
            <a:ext cx="11979656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Solución propuesta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2726" y="3289026"/>
            <a:ext cx="15387820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9"/>
              </a:lnSpc>
            </a:pPr>
            <a:r>
              <a:rPr lang="en-US" b="true" sz="1999" spc="5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Ins</a:t>
            </a:r>
            <a:r>
              <a:rPr lang="en-US" b="true" sz="1999" spc="5" u="non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talación de paneles solares conectados a una plataforma blockchain que monitorea la energía generada y facilita la distribución directa entre vecinos, asegurando transparencia, eficiencia y ahorro.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3942" y="-802958"/>
            <a:ext cx="2945332" cy="2594306"/>
          </a:xfrm>
          <a:custGeom>
            <a:avLst/>
            <a:gdLst/>
            <a:ahLst/>
            <a:cxnLst/>
            <a:rect r="r" b="b" t="t" l="l"/>
            <a:pathLst>
              <a:path h="2594306" w="2945332">
                <a:moveTo>
                  <a:pt x="0" y="0"/>
                </a:moveTo>
                <a:lnTo>
                  <a:pt x="2945333" y="0"/>
                </a:lnTo>
                <a:lnTo>
                  <a:pt x="2945333" y="2594306"/>
                </a:lnTo>
                <a:lnTo>
                  <a:pt x="0" y="2594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22543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973300" y="8229600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028700" y="9007871"/>
            <a:ext cx="3888054" cy="3888054"/>
          </a:xfrm>
          <a:custGeom>
            <a:avLst/>
            <a:gdLst/>
            <a:ahLst/>
            <a:cxnLst/>
            <a:rect r="r" b="b" t="t" l="l"/>
            <a:pathLst>
              <a:path h="3888054" w="3888054">
                <a:moveTo>
                  <a:pt x="0" y="0"/>
                </a:moveTo>
                <a:lnTo>
                  <a:pt x="3888054" y="0"/>
                </a:lnTo>
                <a:lnTo>
                  <a:pt x="3888054" y="3888054"/>
                </a:lnTo>
                <a:lnTo>
                  <a:pt x="0" y="388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02830" y="2777209"/>
            <a:ext cx="5295277" cy="4739273"/>
          </a:xfrm>
          <a:custGeom>
            <a:avLst/>
            <a:gdLst/>
            <a:ahLst/>
            <a:cxnLst/>
            <a:rect r="r" b="b" t="t" l="l"/>
            <a:pathLst>
              <a:path h="4739273" w="5295277">
                <a:moveTo>
                  <a:pt x="0" y="0"/>
                </a:moveTo>
                <a:lnTo>
                  <a:pt x="5295278" y="0"/>
                </a:lnTo>
                <a:lnTo>
                  <a:pt x="5295278" y="4739273"/>
                </a:lnTo>
                <a:lnTo>
                  <a:pt x="0" y="47392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46739" y="5143500"/>
            <a:ext cx="4171504" cy="3238604"/>
          </a:xfrm>
          <a:custGeom>
            <a:avLst/>
            <a:gdLst/>
            <a:ahLst/>
            <a:cxnLst/>
            <a:rect r="r" b="b" t="t" l="l"/>
            <a:pathLst>
              <a:path h="3238604" w="4171504">
                <a:moveTo>
                  <a:pt x="0" y="0"/>
                </a:moveTo>
                <a:lnTo>
                  <a:pt x="4171504" y="0"/>
                </a:lnTo>
                <a:lnTo>
                  <a:pt x="4171504" y="3238604"/>
                </a:lnTo>
                <a:lnTo>
                  <a:pt x="0" y="32386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33392" y="1095375"/>
            <a:ext cx="10096703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Cómo lo haremos posible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2543" y="2563255"/>
            <a:ext cx="9428003" cy="168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9"/>
              </a:lnSpc>
            </a:pPr>
            <a:r>
              <a:rPr lang="en-US" b="true" sz="1999" spc="5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Combinamos </a:t>
            </a:r>
            <a:r>
              <a:rPr lang="en-US" b="true" sz="1999" spc="5" u="non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tecnología fotovoltaica probada con sistemas de registro y control descentralizados blockchain, integrados en hogares inteligentes que permiten automatizar y optimizar el consumo y la compartición energética.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7638" t="-12948" r="-22464" b="-143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31715" y="1806721"/>
            <a:ext cx="6673559" cy="6673559"/>
          </a:xfrm>
          <a:custGeom>
            <a:avLst/>
            <a:gdLst/>
            <a:ahLst/>
            <a:cxnLst/>
            <a:rect r="r" b="b" t="t" l="l"/>
            <a:pathLst>
              <a:path h="6673559" w="6673559">
                <a:moveTo>
                  <a:pt x="0" y="0"/>
                </a:moveTo>
                <a:lnTo>
                  <a:pt x="6673559" y="0"/>
                </a:lnTo>
                <a:lnTo>
                  <a:pt x="6673559" y="6673558"/>
                </a:lnTo>
                <a:lnTo>
                  <a:pt x="0" y="66735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84786" y="4318818"/>
            <a:ext cx="2489310" cy="4161461"/>
          </a:xfrm>
          <a:custGeom>
            <a:avLst/>
            <a:gdLst/>
            <a:ahLst/>
            <a:cxnLst/>
            <a:rect r="r" b="b" t="t" l="l"/>
            <a:pathLst>
              <a:path h="4161461" w="2489310">
                <a:moveTo>
                  <a:pt x="0" y="0"/>
                </a:moveTo>
                <a:lnTo>
                  <a:pt x="2489310" y="0"/>
                </a:lnTo>
                <a:lnTo>
                  <a:pt x="2489310" y="4161461"/>
                </a:lnTo>
                <a:lnTo>
                  <a:pt x="0" y="41614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1480185"/>
            <a:ext cx="1464807" cy="1334306"/>
          </a:xfrm>
          <a:custGeom>
            <a:avLst/>
            <a:gdLst/>
            <a:ahLst/>
            <a:cxnLst/>
            <a:rect r="r" b="b" t="t" l="l"/>
            <a:pathLst>
              <a:path h="1334306" w="1464807">
                <a:moveTo>
                  <a:pt x="0" y="0"/>
                </a:moveTo>
                <a:lnTo>
                  <a:pt x="1464807" y="0"/>
                </a:lnTo>
                <a:lnTo>
                  <a:pt x="1464807" y="1334306"/>
                </a:lnTo>
                <a:lnTo>
                  <a:pt x="0" y="13343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794493" y="7725716"/>
            <a:ext cx="1464807" cy="1334306"/>
          </a:xfrm>
          <a:custGeom>
            <a:avLst/>
            <a:gdLst/>
            <a:ahLst/>
            <a:cxnLst/>
            <a:rect r="r" b="b" t="t" l="l"/>
            <a:pathLst>
              <a:path h="1334306" w="1464807">
                <a:moveTo>
                  <a:pt x="0" y="0"/>
                </a:moveTo>
                <a:lnTo>
                  <a:pt x="1464807" y="0"/>
                </a:lnTo>
                <a:lnTo>
                  <a:pt x="1464807" y="1334306"/>
                </a:lnTo>
                <a:lnTo>
                  <a:pt x="0" y="13343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402231" y="-2053675"/>
            <a:ext cx="3771538" cy="3949254"/>
          </a:xfrm>
          <a:custGeom>
            <a:avLst/>
            <a:gdLst/>
            <a:ahLst/>
            <a:cxnLst/>
            <a:rect r="r" b="b" t="t" l="l"/>
            <a:pathLst>
              <a:path h="3949254" w="3771538">
                <a:moveTo>
                  <a:pt x="0" y="0"/>
                </a:moveTo>
                <a:lnTo>
                  <a:pt x="3771538" y="0"/>
                </a:lnTo>
                <a:lnTo>
                  <a:pt x="3771538" y="3949254"/>
                </a:lnTo>
                <a:lnTo>
                  <a:pt x="0" y="3949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6198668" y="9258300"/>
            <a:ext cx="2945332" cy="2594306"/>
          </a:xfrm>
          <a:custGeom>
            <a:avLst/>
            <a:gdLst/>
            <a:ahLst/>
            <a:cxnLst/>
            <a:rect r="r" b="b" t="t" l="l"/>
            <a:pathLst>
              <a:path h="2594306" w="2945332">
                <a:moveTo>
                  <a:pt x="0" y="0"/>
                </a:moveTo>
                <a:lnTo>
                  <a:pt x="2945332" y="0"/>
                </a:lnTo>
                <a:lnTo>
                  <a:pt x="2945332" y="2594306"/>
                </a:lnTo>
                <a:lnTo>
                  <a:pt x="0" y="2594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38450" y="1028700"/>
            <a:ext cx="3876675" cy="3876675"/>
          </a:xfrm>
          <a:custGeom>
            <a:avLst/>
            <a:gdLst/>
            <a:ahLst/>
            <a:cxnLst/>
            <a:rect r="r" b="b" t="t" l="l"/>
            <a:pathLst>
              <a:path h="3876675" w="3876675">
                <a:moveTo>
                  <a:pt x="0" y="0"/>
                </a:moveTo>
                <a:lnTo>
                  <a:pt x="3876675" y="0"/>
                </a:lnTo>
                <a:lnTo>
                  <a:pt x="3876675" y="3876675"/>
                </a:lnTo>
                <a:lnTo>
                  <a:pt x="0" y="38766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311094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633456" y="-2860358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3167272" y="5160935"/>
            <a:ext cx="4517246" cy="4114800"/>
          </a:xfrm>
          <a:custGeom>
            <a:avLst/>
            <a:gdLst/>
            <a:ahLst/>
            <a:cxnLst/>
            <a:rect r="r" b="b" t="t" l="l"/>
            <a:pathLst>
              <a:path h="4114800" w="4517246">
                <a:moveTo>
                  <a:pt x="0" y="0"/>
                </a:moveTo>
                <a:lnTo>
                  <a:pt x="4517245" y="0"/>
                </a:lnTo>
                <a:lnTo>
                  <a:pt x="45172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4950" y="3540309"/>
            <a:ext cx="7138263" cy="355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22"/>
              </a:lnSpc>
            </a:pPr>
            <a:r>
              <a:rPr lang="en-US" sz="13286" spc="-491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DAG4p739z1s</dc:identifier>
  <dcterms:modified xsi:type="dcterms:W3CDTF">2011-08-01T06:04:30Z</dcterms:modified>
  <cp:revision>1</cp:revision>
  <dc:title>Presentación_FranciscoCampos_Energía renovable</dc:title>
</cp:coreProperties>
</file>